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1.xml" ContentType="application/vnd.openxmlformats-officedocument.presentationml.comments+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0"/>
  </p:notesMasterIdLst>
  <p:handoutMasterIdLst>
    <p:handoutMasterId r:id="rId41"/>
  </p:handoutMasterIdLst>
  <p:sldIdLst>
    <p:sldId id="883" r:id="rId2"/>
    <p:sldId id="884" r:id="rId3"/>
    <p:sldId id="945" r:id="rId4"/>
    <p:sldId id="946" r:id="rId5"/>
    <p:sldId id="948" r:id="rId6"/>
    <p:sldId id="817" r:id="rId7"/>
    <p:sldId id="944" r:id="rId8"/>
    <p:sldId id="848" r:id="rId9"/>
    <p:sldId id="902" r:id="rId10"/>
    <p:sldId id="901" r:id="rId11"/>
    <p:sldId id="903" r:id="rId12"/>
    <p:sldId id="904" r:id="rId13"/>
    <p:sldId id="931" r:id="rId14"/>
    <p:sldId id="910" r:id="rId15"/>
    <p:sldId id="905" r:id="rId16"/>
    <p:sldId id="906" r:id="rId17"/>
    <p:sldId id="907" r:id="rId18"/>
    <p:sldId id="908" r:id="rId19"/>
    <p:sldId id="909" r:id="rId20"/>
    <p:sldId id="912" r:id="rId21"/>
    <p:sldId id="913" r:id="rId22"/>
    <p:sldId id="914" r:id="rId23"/>
    <p:sldId id="915" r:id="rId24"/>
    <p:sldId id="916" r:id="rId25"/>
    <p:sldId id="917" r:id="rId26"/>
    <p:sldId id="949" r:id="rId27"/>
    <p:sldId id="918" r:id="rId28"/>
    <p:sldId id="919" r:id="rId29"/>
    <p:sldId id="950" r:id="rId30"/>
    <p:sldId id="920" r:id="rId31"/>
    <p:sldId id="951" r:id="rId32"/>
    <p:sldId id="952" r:id="rId33"/>
    <p:sldId id="953" r:id="rId34"/>
    <p:sldId id="922" r:id="rId35"/>
    <p:sldId id="937" r:id="rId36"/>
    <p:sldId id="939" r:id="rId37"/>
    <p:sldId id="924" r:id="rId38"/>
    <p:sldId id="925"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inkiSharma"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49" autoAdjust="0"/>
    <p:restoredTop sz="86397" autoAdjust="0"/>
  </p:normalViewPr>
  <p:slideViewPr>
    <p:cSldViewPr>
      <p:cViewPr varScale="1">
        <p:scale>
          <a:sx n="87" d="100"/>
          <a:sy n="87" d="100"/>
        </p:scale>
        <p:origin x="1205" y="58"/>
      </p:cViewPr>
      <p:guideLst>
        <p:guide orient="horz" pos="2160"/>
        <p:guide pos="2880"/>
      </p:guideLst>
    </p:cSldViewPr>
  </p:slideViewPr>
  <p:outlineViewPr>
    <p:cViewPr>
      <p:scale>
        <a:sx n="33" d="100"/>
        <a:sy n="33" d="100"/>
      </p:scale>
      <p:origin x="240" y="617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5-11-29T20:14:47.069" idx="1">
    <p:pos x="10" y="10"/>
    <p:text>please make simple looks quite abrupt</p:text>
  </p:cm>
</p:cmLst>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468B7B-1921-4188-893E-AB9EDCDB63E3}" type="doc">
      <dgm:prSet loTypeId="urn:microsoft.com/office/officeart/2005/8/layout/vList2" loCatId="list" qsTypeId="urn:microsoft.com/office/officeart/2005/8/quickstyle/simple3" qsCatId="simple" csTypeId="urn:microsoft.com/office/officeart/2005/8/colors/accent2_2" csCatId="accent2" phldr="1"/>
      <dgm:spPr/>
      <dgm:t>
        <a:bodyPr/>
        <a:lstStyle/>
        <a:p>
          <a:endParaRPr lang="en-US"/>
        </a:p>
      </dgm:t>
    </dgm:pt>
    <dgm:pt modelId="{CF11F8F0-D581-4E87-B826-6AE1139E8B3B}">
      <dgm:prSet custT="1"/>
      <dgm:spPr/>
      <dgm:t>
        <a:bodyPr/>
        <a:lstStyle/>
        <a:p>
          <a:pPr rtl="0"/>
          <a:r>
            <a:rPr lang="en-US" sz="1800" b="1" dirty="0" smtClean="0">
              <a:latin typeface="Arial" pitchFamily="34" charset="0"/>
              <a:cs typeface="Arial" pitchFamily="34" charset="0"/>
            </a:rPr>
            <a:t>GAIT/ Human GAIT</a:t>
          </a:r>
          <a:endParaRPr lang="en-US" sz="1800" dirty="0">
            <a:latin typeface="Arial" pitchFamily="34" charset="0"/>
            <a:cs typeface="Arial" pitchFamily="34" charset="0"/>
          </a:endParaRPr>
        </a:p>
      </dgm:t>
    </dgm:pt>
    <dgm:pt modelId="{F99CDB02-40D4-4B0B-A452-4997DBEC643D}" type="parTrans" cxnId="{2769487D-3511-446B-9E92-3D42BDE7053A}">
      <dgm:prSet/>
      <dgm:spPr/>
      <dgm:t>
        <a:bodyPr/>
        <a:lstStyle/>
        <a:p>
          <a:endParaRPr lang="en-US"/>
        </a:p>
      </dgm:t>
    </dgm:pt>
    <dgm:pt modelId="{90A5063E-DE0C-47D7-967A-90370DE7C31D}" type="sibTrans" cxnId="{2769487D-3511-446B-9E92-3D42BDE7053A}">
      <dgm:prSet/>
      <dgm:spPr/>
      <dgm:t>
        <a:bodyPr/>
        <a:lstStyle/>
        <a:p>
          <a:endParaRPr lang="en-US"/>
        </a:p>
      </dgm:t>
    </dgm:pt>
    <dgm:pt modelId="{CA644C80-7FF7-4B20-87BF-CAC1C6FF9959}">
      <dgm:prSet custT="1"/>
      <dgm:spPr/>
      <dgm:t>
        <a:bodyPr/>
        <a:lstStyle/>
        <a:p>
          <a:pPr rtl="0"/>
          <a:r>
            <a:rPr lang="en-US" sz="1800" b="1" dirty="0" smtClean="0">
              <a:latin typeface="Arial" pitchFamily="34" charset="0"/>
              <a:cs typeface="Arial" pitchFamily="34" charset="0"/>
            </a:rPr>
            <a:t>AIM</a:t>
          </a:r>
          <a:endParaRPr lang="en-US" sz="1800" dirty="0">
            <a:latin typeface="Arial" pitchFamily="34" charset="0"/>
            <a:cs typeface="Arial" pitchFamily="34" charset="0"/>
          </a:endParaRPr>
        </a:p>
      </dgm:t>
    </dgm:pt>
    <dgm:pt modelId="{B3BD4DDF-FA4E-4654-975F-E338292B4FE7}" type="parTrans" cxnId="{29F398A6-601E-4240-A7DE-E2900A75850E}">
      <dgm:prSet/>
      <dgm:spPr/>
      <dgm:t>
        <a:bodyPr/>
        <a:lstStyle/>
        <a:p>
          <a:endParaRPr lang="en-US"/>
        </a:p>
      </dgm:t>
    </dgm:pt>
    <dgm:pt modelId="{9A5C9BA3-9590-4EF1-AE74-2DB4759F006A}" type="sibTrans" cxnId="{29F398A6-601E-4240-A7DE-E2900A75850E}">
      <dgm:prSet/>
      <dgm:spPr/>
      <dgm:t>
        <a:bodyPr/>
        <a:lstStyle/>
        <a:p>
          <a:endParaRPr lang="en-US"/>
        </a:p>
      </dgm:t>
    </dgm:pt>
    <dgm:pt modelId="{324302BB-853C-4DCB-BB9D-7D4CFC6B5E28}">
      <dgm:prSet custT="1"/>
      <dgm:spPr/>
      <dgm:t>
        <a:bodyPr/>
        <a:lstStyle/>
        <a:p>
          <a:pPr rtl="0"/>
          <a:r>
            <a:rPr lang="en-US" sz="1800" b="1" dirty="0" smtClean="0">
              <a:latin typeface="Arial" pitchFamily="34" charset="0"/>
              <a:cs typeface="Arial" pitchFamily="34" charset="0"/>
            </a:rPr>
            <a:t>Proposed work and Methodology</a:t>
          </a:r>
          <a:endParaRPr lang="en-US" sz="1800" b="1" dirty="0">
            <a:latin typeface="Arial" pitchFamily="34" charset="0"/>
            <a:cs typeface="Arial" pitchFamily="34" charset="0"/>
          </a:endParaRPr>
        </a:p>
      </dgm:t>
    </dgm:pt>
    <dgm:pt modelId="{3975494C-AD03-4E9B-BFCD-FCA3CA5B0C23}" type="parTrans" cxnId="{7E5C5DA2-508D-4055-A63E-5690C36473DC}">
      <dgm:prSet/>
      <dgm:spPr/>
      <dgm:t>
        <a:bodyPr/>
        <a:lstStyle/>
        <a:p>
          <a:endParaRPr lang="en-US"/>
        </a:p>
      </dgm:t>
    </dgm:pt>
    <dgm:pt modelId="{BA6D1F3E-3CF4-469C-A29E-9210BF7BBF89}" type="sibTrans" cxnId="{7E5C5DA2-508D-4055-A63E-5690C36473DC}">
      <dgm:prSet/>
      <dgm:spPr/>
      <dgm:t>
        <a:bodyPr/>
        <a:lstStyle/>
        <a:p>
          <a:endParaRPr lang="en-US"/>
        </a:p>
      </dgm:t>
    </dgm:pt>
    <dgm:pt modelId="{C57D3FD3-A88A-4B2B-B103-122CEDEC2124}">
      <dgm:prSet custT="1"/>
      <dgm:spPr/>
      <dgm:t>
        <a:bodyPr/>
        <a:lstStyle/>
        <a:p>
          <a:pPr rtl="0"/>
          <a:r>
            <a:rPr lang="en-US" sz="1800" b="1" dirty="0" smtClean="0">
              <a:latin typeface="Arial" pitchFamily="34" charset="0"/>
              <a:cs typeface="Arial" pitchFamily="34" charset="0"/>
            </a:rPr>
            <a:t>Data Collection &amp; Demos</a:t>
          </a:r>
          <a:endParaRPr lang="en-US" sz="1800" b="1" dirty="0">
            <a:latin typeface="Arial" pitchFamily="34" charset="0"/>
            <a:cs typeface="Arial" pitchFamily="34" charset="0"/>
          </a:endParaRPr>
        </a:p>
      </dgm:t>
    </dgm:pt>
    <dgm:pt modelId="{3218A2D0-D020-4265-B04D-65ED9AC29BD5}" type="parTrans" cxnId="{78E919A7-F920-44C8-B840-9EB8BC054514}">
      <dgm:prSet/>
      <dgm:spPr/>
      <dgm:t>
        <a:bodyPr/>
        <a:lstStyle/>
        <a:p>
          <a:endParaRPr lang="en-US"/>
        </a:p>
      </dgm:t>
    </dgm:pt>
    <dgm:pt modelId="{06468EAE-7EFA-4825-B215-A016570C54D7}" type="sibTrans" cxnId="{78E919A7-F920-44C8-B840-9EB8BC054514}">
      <dgm:prSet/>
      <dgm:spPr/>
      <dgm:t>
        <a:bodyPr/>
        <a:lstStyle/>
        <a:p>
          <a:endParaRPr lang="en-US"/>
        </a:p>
      </dgm:t>
    </dgm:pt>
    <dgm:pt modelId="{7C8E68D7-F2AC-48C6-A423-7E69970A4327}">
      <dgm:prSet custT="1"/>
      <dgm:spPr/>
      <dgm:t>
        <a:bodyPr/>
        <a:lstStyle/>
        <a:p>
          <a:pPr rtl="0"/>
          <a:r>
            <a:rPr lang="en-US" sz="1800" b="1" dirty="0" smtClean="0">
              <a:latin typeface="Arial" pitchFamily="34" charset="0"/>
              <a:cs typeface="Arial" pitchFamily="34" charset="0"/>
            </a:rPr>
            <a:t>Conclusion</a:t>
          </a:r>
          <a:endParaRPr lang="en-US" sz="1800" b="1" dirty="0">
            <a:latin typeface="Arial" pitchFamily="34" charset="0"/>
            <a:cs typeface="Arial" pitchFamily="34" charset="0"/>
          </a:endParaRPr>
        </a:p>
      </dgm:t>
    </dgm:pt>
    <dgm:pt modelId="{6FFBE517-6EE4-4FE7-AC7D-6D248DDD7B69}" type="parTrans" cxnId="{A0C0B2AE-4FC1-4566-8770-552DC46B2276}">
      <dgm:prSet/>
      <dgm:spPr/>
      <dgm:t>
        <a:bodyPr/>
        <a:lstStyle/>
        <a:p>
          <a:endParaRPr lang="en-US"/>
        </a:p>
      </dgm:t>
    </dgm:pt>
    <dgm:pt modelId="{08764379-3F25-4032-8514-425E2D950377}" type="sibTrans" cxnId="{A0C0B2AE-4FC1-4566-8770-552DC46B2276}">
      <dgm:prSet/>
      <dgm:spPr/>
      <dgm:t>
        <a:bodyPr/>
        <a:lstStyle/>
        <a:p>
          <a:endParaRPr lang="en-US"/>
        </a:p>
      </dgm:t>
    </dgm:pt>
    <dgm:pt modelId="{E25C6E38-5F69-45A0-9D26-1472286B7568}">
      <dgm:prSet custT="1"/>
      <dgm:spPr/>
      <dgm:t>
        <a:bodyPr/>
        <a:lstStyle/>
        <a:p>
          <a:pPr rtl="0"/>
          <a:r>
            <a:rPr lang="en-US" sz="1800" b="1" dirty="0" smtClean="0">
              <a:latin typeface="Arial" pitchFamily="34" charset="0"/>
              <a:cs typeface="Arial" pitchFamily="34" charset="0"/>
            </a:rPr>
            <a:t>Result analysis </a:t>
          </a:r>
          <a:endParaRPr lang="en-US" sz="1800" b="1" dirty="0">
            <a:latin typeface="Arial" pitchFamily="34" charset="0"/>
            <a:cs typeface="Arial" pitchFamily="34" charset="0"/>
          </a:endParaRPr>
        </a:p>
      </dgm:t>
    </dgm:pt>
    <dgm:pt modelId="{3B1E5419-B4E0-4D76-8E75-86EB32534D11}" type="parTrans" cxnId="{87AEE6D5-D799-491E-AFD3-796139B7C7A8}">
      <dgm:prSet/>
      <dgm:spPr/>
      <dgm:t>
        <a:bodyPr/>
        <a:lstStyle/>
        <a:p>
          <a:endParaRPr lang="en-US"/>
        </a:p>
      </dgm:t>
    </dgm:pt>
    <dgm:pt modelId="{83928AC9-AB6F-47E5-A4B9-5ACDB804D82D}" type="sibTrans" cxnId="{87AEE6D5-D799-491E-AFD3-796139B7C7A8}">
      <dgm:prSet/>
      <dgm:spPr/>
      <dgm:t>
        <a:bodyPr/>
        <a:lstStyle/>
        <a:p>
          <a:endParaRPr lang="en-US"/>
        </a:p>
      </dgm:t>
    </dgm:pt>
    <dgm:pt modelId="{0D4741D4-5E8A-431B-8CD9-C5413D8D6D95}">
      <dgm:prSet custT="1"/>
      <dgm:spPr/>
      <dgm:t>
        <a:bodyPr/>
        <a:lstStyle/>
        <a:p>
          <a:pPr rtl="0"/>
          <a:r>
            <a:rPr lang="en-US" sz="1600" b="1" dirty="0" smtClean="0">
              <a:latin typeface="Arial" pitchFamily="34" charset="0"/>
              <a:cs typeface="Arial" pitchFamily="34" charset="0"/>
            </a:rPr>
            <a:t>Classification of gait data using KNN, SVM, ANN(Back Propagation), Classifier fusion</a:t>
          </a:r>
          <a:endParaRPr lang="en-US" sz="1600" b="1" dirty="0">
            <a:latin typeface="Arial" pitchFamily="34" charset="0"/>
            <a:cs typeface="Arial" pitchFamily="34" charset="0"/>
          </a:endParaRPr>
        </a:p>
      </dgm:t>
    </dgm:pt>
    <dgm:pt modelId="{6F1D7530-94AD-40C6-8FC4-9783105394F5}" type="parTrans" cxnId="{D42EA374-7491-4BCA-ACF8-704B1807A45B}">
      <dgm:prSet/>
      <dgm:spPr/>
      <dgm:t>
        <a:bodyPr/>
        <a:lstStyle/>
        <a:p>
          <a:endParaRPr lang="en-US"/>
        </a:p>
      </dgm:t>
    </dgm:pt>
    <dgm:pt modelId="{D0A507A2-7D20-45CF-8E1D-CDCE495A6459}" type="sibTrans" cxnId="{D42EA374-7491-4BCA-ACF8-704B1807A45B}">
      <dgm:prSet/>
      <dgm:spPr/>
      <dgm:t>
        <a:bodyPr/>
        <a:lstStyle/>
        <a:p>
          <a:endParaRPr lang="en-US"/>
        </a:p>
      </dgm:t>
    </dgm:pt>
    <dgm:pt modelId="{0A20204B-ACA3-4F99-A786-A4743B3D8273}">
      <dgm:prSet custT="1"/>
      <dgm:spPr/>
      <dgm:t>
        <a:bodyPr/>
        <a:lstStyle/>
        <a:p>
          <a:pPr rtl="0"/>
          <a:r>
            <a:rPr lang="en-US" sz="1800" b="1" dirty="0" smtClean="0">
              <a:latin typeface="Arial" pitchFamily="34" charset="0"/>
              <a:cs typeface="Arial" pitchFamily="34" charset="0"/>
            </a:rPr>
            <a:t>Problem Statement</a:t>
          </a:r>
          <a:endParaRPr lang="en-US" sz="1800" b="1" dirty="0">
            <a:latin typeface="Arial" pitchFamily="34" charset="0"/>
            <a:cs typeface="Arial" pitchFamily="34" charset="0"/>
          </a:endParaRPr>
        </a:p>
      </dgm:t>
    </dgm:pt>
    <dgm:pt modelId="{23329794-CA3D-4F72-A54E-3831B2A2ABEF}" type="parTrans" cxnId="{9406FC4B-5CA8-41C1-BDB9-3911C49BAB6F}">
      <dgm:prSet/>
      <dgm:spPr/>
      <dgm:t>
        <a:bodyPr/>
        <a:lstStyle/>
        <a:p>
          <a:endParaRPr lang="en-US"/>
        </a:p>
      </dgm:t>
    </dgm:pt>
    <dgm:pt modelId="{A650C011-EA09-4BC1-8AF3-765A38A62D42}" type="sibTrans" cxnId="{9406FC4B-5CA8-41C1-BDB9-3911C49BAB6F}">
      <dgm:prSet/>
      <dgm:spPr/>
      <dgm:t>
        <a:bodyPr/>
        <a:lstStyle/>
        <a:p>
          <a:endParaRPr lang="en-US"/>
        </a:p>
      </dgm:t>
    </dgm:pt>
    <dgm:pt modelId="{9C06DC36-F13E-43A7-B81D-EE2DD97B90E0}">
      <dgm:prSet custT="1"/>
      <dgm:spPr/>
      <dgm:t>
        <a:bodyPr/>
        <a:lstStyle/>
        <a:p>
          <a:pPr rtl="0"/>
          <a:r>
            <a:rPr lang="en-US" sz="1800" b="1" dirty="0" smtClean="0">
              <a:latin typeface="Arial" pitchFamily="34" charset="0"/>
              <a:cs typeface="Arial" pitchFamily="34" charset="0"/>
            </a:rPr>
            <a:t>Proposed Solution</a:t>
          </a:r>
          <a:endParaRPr lang="en-US" sz="1800" dirty="0">
            <a:latin typeface="Arial" pitchFamily="34" charset="0"/>
            <a:cs typeface="Arial" pitchFamily="34" charset="0"/>
          </a:endParaRPr>
        </a:p>
      </dgm:t>
    </dgm:pt>
    <dgm:pt modelId="{FBE16D1C-3015-42A2-8729-4B56C2E9F3D2}" type="parTrans" cxnId="{1C3F9CB3-02B1-4641-B5B1-21FC7254DC89}">
      <dgm:prSet/>
      <dgm:spPr/>
      <dgm:t>
        <a:bodyPr/>
        <a:lstStyle/>
        <a:p>
          <a:endParaRPr lang="en-US"/>
        </a:p>
      </dgm:t>
    </dgm:pt>
    <dgm:pt modelId="{DCBD336E-C72C-4E4B-B501-7DDC34461F41}" type="sibTrans" cxnId="{1C3F9CB3-02B1-4641-B5B1-21FC7254DC89}">
      <dgm:prSet/>
      <dgm:spPr/>
      <dgm:t>
        <a:bodyPr/>
        <a:lstStyle/>
        <a:p>
          <a:endParaRPr lang="en-US"/>
        </a:p>
      </dgm:t>
    </dgm:pt>
    <dgm:pt modelId="{81DADC67-78C8-4E9B-AAA7-0D0D25848D7B}" type="pres">
      <dgm:prSet presAssocID="{E5468B7B-1921-4188-893E-AB9EDCDB63E3}" presName="linear" presStyleCnt="0">
        <dgm:presLayoutVars>
          <dgm:animLvl val="lvl"/>
          <dgm:resizeHandles val="exact"/>
        </dgm:presLayoutVars>
      </dgm:prSet>
      <dgm:spPr/>
      <dgm:t>
        <a:bodyPr/>
        <a:lstStyle/>
        <a:p>
          <a:endParaRPr lang="en-US"/>
        </a:p>
      </dgm:t>
    </dgm:pt>
    <dgm:pt modelId="{44250668-2EC9-4AC5-8D16-9BEFCE4A9902}" type="pres">
      <dgm:prSet presAssocID="{CF11F8F0-D581-4E87-B826-6AE1139E8B3B}" presName="parentText" presStyleLbl="node1" presStyleIdx="0" presStyleCnt="9">
        <dgm:presLayoutVars>
          <dgm:chMax val="0"/>
          <dgm:bulletEnabled val="1"/>
        </dgm:presLayoutVars>
      </dgm:prSet>
      <dgm:spPr/>
      <dgm:t>
        <a:bodyPr/>
        <a:lstStyle/>
        <a:p>
          <a:endParaRPr lang="en-US"/>
        </a:p>
      </dgm:t>
    </dgm:pt>
    <dgm:pt modelId="{989308E9-7D77-4790-B3B7-241C40ACFC3C}" type="pres">
      <dgm:prSet presAssocID="{90A5063E-DE0C-47D7-967A-90370DE7C31D}" presName="spacer" presStyleCnt="0"/>
      <dgm:spPr/>
      <dgm:t>
        <a:bodyPr/>
        <a:lstStyle/>
        <a:p>
          <a:endParaRPr lang="en-US"/>
        </a:p>
      </dgm:t>
    </dgm:pt>
    <dgm:pt modelId="{9F78C2A5-E2C8-4896-B9B9-B3B29366520B}" type="pres">
      <dgm:prSet presAssocID="{0A20204B-ACA3-4F99-A786-A4743B3D8273}" presName="parentText" presStyleLbl="node1" presStyleIdx="1" presStyleCnt="9">
        <dgm:presLayoutVars>
          <dgm:chMax val="0"/>
          <dgm:bulletEnabled val="1"/>
        </dgm:presLayoutVars>
      </dgm:prSet>
      <dgm:spPr/>
      <dgm:t>
        <a:bodyPr/>
        <a:lstStyle/>
        <a:p>
          <a:endParaRPr lang="en-US"/>
        </a:p>
      </dgm:t>
    </dgm:pt>
    <dgm:pt modelId="{BB0AD7B7-2A08-447D-91A2-89EAF4200E44}" type="pres">
      <dgm:prSet presAssocID="{A650C011-EA09-4BC1-8AF3-765A38A62D42}" presName="spacer" presStyleCnt="0"/>
      <dgm:spPr/>
      <dgm:t>
        <a:bodyPr/>
        <a:lstStyle/>
        <a:p>
          <a:endParaRPr lang="en-US"/>
        </a:p>
      </dgm:t>
    </dgm:pt>
    <dgm:pt modelId="{7A2AD361-FE1C-4B21-B16B-2342A9710088}" type="pres">
      <dgm:prSet presAssocID="{9C06DC36-F13E-43A7-B81D-EE2DD97B90E0}" presName="parentText" presStyleLbl="node1" presStyleIdx="2" presStyleCnt="9" custLinFactNeighborX="-19820" custLinFactNeighborY="289">
        <dgm:presLayoutVars>
          <dgm:chMax val="0"/>
          <dgm:bulletEnabled val="1"/>
        </dgm:presLayoutVars>
      </dgm:prSet>
      <dgm:spPr/>
      <dgm:t>
        <a:bodyPr/>
        <a:lstStyle/>
        <a:p>
          <a:endParaRPr lang="en-US"/>
        </a:p>
      </dgm:t>
    </dgm:pt>
    <dgm:pt modelId="{98A70910-6114-4352-9FDD-9B1A03C720F4}" type="pres">
      <dgm:prSet presAssocID="{DCBD336E-C72C-4E4B-B501-7DDC34461F41}" presName="spacer" presStyleCnt="0"/>
      <dgm:spPr/>
      <dgm:t>
        <a:bodyPr/>
        <a:lstStyle/>
        <a:p>
          <a:endParaRPr lang="en-US"/>
        </a:p>
      </dgm:t>
    </dgm:pt>
    <dgm:pt modelId="{474D8491-AB8C-4FCE-98DB-204CF5F49B62}" type="pres">
      <dgm:prSet presAssocID="{CA644C80-7FF7-4B20-87BF-CAC1C6FF9959}" presName="parentText" presStyleLbl="node1" presStyleIdx="3" presStyleCnt="9">
        <dgm:presLayoutVars>
          <dgm:chMax val="0"/>
          <dgm:bulletEnabled val="1"/>
        </dgm:presLayoutVars>
      </dgm:prSet>
      <dgm:spPr/>
      <dgm:t>
        <a:bodyPr/>
        <a:lstStyle/>
        <a:p>
          <a:endParaRPr lang="en-US"/>
        </a:p>
      </dgm:t>
    </dgm:pt>
    <dgm:pt modelId="{E7EAA6F8-9141-4708-8A61-7493A521449C}" type="pres">
      <dgm:prSet presAssocID="{9A5C9BA3-9590-4EF1-AE74-2DB4759F006A}" presName="spacer" presStyleCnt="0"/>
      <dgm:spPr/>
      <dgm:t>
        <a:bodyPr/>
        <a:lstStyle/>
        <a:p>
          <a:endParaRPr lang="en-US"/>
        </a:p>
      </dgm:t>
    </dgm:pt>
    <dgm:pt modelId="{B4C9C996-4AD6-4F30-8D4A-3983F023938C}" type="pres">
      <dgm:prSet presAssocID="{324302BB-853C-4DCB-BB9D-7D4CFC6B5E28}" presName="parentText" presStyleLbl="node1" presStyleIdx="4" presStyleCnt="9">
        <dgm:presLayoutVars>
          <dgm:chMax val="0"/>
          <dgm:bulletEnabled val="1"/>
        </dgm:presLayoutVars>
      </dgm:prSet>
      <dgm:spPr/>
      <dgm:t>
        <a:bodyPr/>
        <a:lstStyle/>
        <a:p>
          <a:endParaRPr lang="en-US"/>
        </a:p>
      </dgm:t>
    </dgm:pt>
    <dgm:pt modelId="{E0AF6791-EA71-4164-AFE5-7E3BCE9A0796}" type="pres">
      <dgm:prSet presAssocID="{BA6D1F3E-3CF4-469C-A29E-9210BF7BBF89}" presName="spacer" presStyleCnt="0"/>
      <dgm:spPr/>
      <dgm:t>
        <a:bodyPr/>
        <a:lstStyle/>
        <a:p>
          <a:endParaRPr lang="en-US"/>
        </a:p>
      </dgm:t>
    </dgm:pt>
    <dgm:pt modelId="{736D4D8A-2E6F-4C73-9348-11B14E6C9782}" type="pres">
      <dgm:prSet presAssocID="{C57D3FD3-A88A-4B2B-B103-122CEDEC2124}" presName="parentText" presStyleLbl="node1" presStyleIdx="5" presStyleCnt="9">
        <dgm:presLayoutVars>
          <dgm:chMax val="0"/>
          <dgm:bulletEnabled val="1"/>
        </dgm:presLayoutVars>
      </dgm:prSet>
      <dgm:spPr/>
      <dgm:t>
        <a:bodyPr/>
        <a:lstStyle/>
        <a:p>
          <a:endParaRPr lang="en-US"/>
        </a:p>
      </dgm:t>
    </dgm:pt>
    <dgm:pt modelId="{9EC4A88D-4AD4-42D8-A364-D6F3CDE7E02F}" type="pres">
      <dgm:prSet presAssocID="{06468EAE-7EFA-4825-B215-A016570C54D7}" presName="spacer" presStyleCnt="0"/>
      <dgm:spPr/>
      <dgm:t>
        <a:bodyPr/>
        <a:lstStyle/>
        <a:p>
          <a:endParaRPr lang="en-US"/>
        </a:p>
      </dgm:t>
    </dgm:pt>
    <dgm:pt modelId="{62C20B38-F832-412D-9092-6B5448890D7E}" type="pres">
      <dgm:prSet presAssocID="{0D4741D4-5E8A-431B-8CD9-C5413D8D6D95}" presName="parentText" presStyleLbl="node1" presStyleIdx="6" presStyleCnt="9">
        <dgm:presLayoutVars>
          <dgm:chMax val="0"/>
          <dgm:bulletEnabled val="1"/>
        </dgm:presLayoutVars>
      </dgm:prSet>
      <dgm:spPr/>
      <dgm:t>
        <a:bodyPr/>
        <a:lstStyle/>
        <a:p>
          <a:endParaRPr lang="en-US"/>
        </a:p>
      </dgm:t>
    </dgm:pt>
    <dgm:pt modelId="{43B538BC-A940-4EE5-9216-B0475E415692}" type="pres">
      <dgm:prSet presAssocID="{D0A507A2-7D20-45CF-8E1D-CDCE495A6459}" presName="spacer" presStyleCnt="0"/>
      <dgm:spPr/>
      <dgm:t>
        <a:bodyPr/>
        <a:lstStyle/>
        <a:p>
          <a:endParaRPr lang="en-US"/>
        </a:p>
      </dgm:t>
    </dgm:pt>
    <dgm:pt modelId="{262FFCBE-4A82-43DC-97A0-575BCD6C155D}" type="pres">
      <dgm:prSet presAssocID="{E25C6E38-5F69-45A0-9D26-1472286B7568}" presName="parentText" presStyleLbl="node1" presStyleIdx="7" presStyleCnt="9">
        <dgm:presLayoutVars>
          <dgm:chMax val="0"/>
          <dgm:bulletEnabled val="1"/>
        </dgm:presLayoutVars>
      </dgm:prSet>
      <dgm:spPr/>
      <dgm:t>
        <a:bodyPr/>
        <a:lstStyle/>
        <a:p>
          <a:endParaRPr lang="en-US"/>
        </a:p>
      </dgm:t>
    </dgm:pt>
    <dgm:pt modelId="{D9E4C6AE-C1B8-4EDD-ADED-5BF8BA5E01F3}" type="pres">
      <dgm:prSet presAssocID="{83928AC9-AB6F-47E5-A4B9-5ACDB804D82D}" presName="spacer" presStyleCnt="0"/>
      <dgm:spPr/>
      <dgm:t>
        <a:bodyPr/>
        <a:lstStyle/>
        <a:p>
          <a:endParaRPr lang="en-US"/>
        </a:p>
      </dgm:t>
    </dgm:pt>
    <dgm:pt modelId="{B4C4AB09-8FBD-4B60-97E0-CDEF6CF31B61}" type="pres">
      <dgm:prSet presAssocID="{7C8E68D7-F2AC-48C6-A423-7E69970A4327}" presName="parentText" presStyleLbl="node1" presStyleIdx="8" presStyleCnt="9">
        <dgm:presLayoutVars>
          <dgm:chMax val="0"/>
          <dgm:bulletEnabled val="1"/>
        </dgm:presLayoutVars>
      </dgm:prSet>
      <dgm:spPr/>
      <dgm:t>
        <a:bodyPr/>
        <a:lstStyle/>
        <a:p>
          <a:endParaRPr lang="en-US"/>
        </a:p>
      </dgm:t>
    </dgm:pt>
  </dgm:ptLst>
  <dgm:cxnLst>
    <dgm:cxn modelId="{87AEE6D5-D799-491E-AFD3-796139B7C7A8}" srcId="{E5468B7B-1921-4188-893E-AB9EDCDB63E3}" destId="{E25C6E38-5F69-45A0-9D26-1472286B7568}" srcOrd="7" destOrd="0" parTransId="{3B1E5419-B4E0-4D76-8E75-86EB32534D11}" sibTransId="{83928AC9-AB6F-47E5-A4B9-5ACDB804D82D}"/>
    <dgm:cxn modelId="{1C3F9CB3-02B1-4641-B5B1-21FC7254DC89}" srcId="{E5468B7B-1921-4188-893E-AB9EDCDB63E3}" destId="{9C06DC36-F13E-43A7-B81D-EE2DD97B90E0}" srcOrd="2" destOrd="0" parTransId="{FBE16D1C-3015-42A2-8729-4B56C2E9F3D2}" sibTransId="{DCBD336E-C72C-4E4B-B501-7DDC34461F41}"/>
    <dgm:cxn modelId="{1825FDF3-818A-45C7-8D23-57493C378CC3}" type="presOf" srcId="{CF11F8F0-D581-4E87-B826-6AE1139E8B3B}" destId="{44250668-2EC9-4AC5-8D16-9BEFCE4A9902}" srcOrd="0" destOrd="0" presId="urn:microsoft.com/office/officeart/2005/8/layout/vList2"/>
    <dgm:cxn modelId="{9406FC4B-5CA8-41C1-BDB9-3911C49BAB6F}" srcId="{E5468B7B-1921-4188-893E-AB9EDCDB63E3}" destId="{0A20204B-ACA3-4F99-A786-A4743B3D8273}" srcOrd="1" destOrd="0" parTransId="{23329794-CA3D-4F72-A54E-3831B2A2ABEF}" sibTransId="{A650C011-EA09-4BC1-8AF3-765A38A62D42}"/>
    <dgm:cxn modelId="{2769487D-3511-446B-9E92-3D42BDE7053A}" srcId="{E5468B7B-1921-4188-893E-AB9EDCDB63E3}" destId="{CF11F8F0-D581-4E87-B826-6AE1139E8B3B}" srcOrd="0" destOrd="0" parTransId="{F99CDB02-40D4-4B0B-A452-4997DBEC643D}" sibTransId="{90A5063E-DE0C-47D7-967A-90370DE7C31D}"/>
    <dgm:cxn modelId="{2C3EEDCE-7B5E-4AFC-BA09-4A50F666AD9D}" type="presOf" srcId="{E5468B7B-1921-4188-893E-AB9EDCDB63E3}" destId="{81DADC67-78C8-4E9B-AAA7-0D0D25848D7B}" srcOrd="0" destOrd="0" presId="urn:microsoft.com/office/officeart/2005/8/layout/vList2"/>
    <dgm:cxn modelId="{898DF76C-9546-4E5D-82D1-2311BB12C76D}" type="presOf" srcId="{C57D3FD3-A88A-4B2B-B103-122CEDEC2124}" destId="{736D4D8A-2E6F-4C73-9348-11B14E6C9782}" srcOrd="0" destOrd="0" presId="urn:microsoft.com/office/officeart/2005/8/layout/vList2"/>
    <dgm:cxn modelId="{4CB9DDBA-56CD-4159-8EF0-5A1483F782F7}" type="presOf" srcId="{CA644C80-7FF7-4B20-87BF-CAC1C6FF9959}" destId="{474D8491-AB8C-4FCE-98DB-204CF5F49B62}" srcOrd="0" destOrd="0" presId="urn:microsoft.com/office/officeart/2005/8/layout/vList2"/>
    <dgm:cxn modelId="{2B566BBC-569C-4C87-9E93-B92E001ED364}" type="presOf" srcId="{0D4741D4-5E8A-431B-8CD9-C5413D8D6D95}" destId="{62C20B38-F832-412D-9092-6B5448890D7E}" srcOrd="0" destOrd="0" presId="urn:microsoft.com/office/officeart/2005/8/layout/vList2"/>
    <dgm:cxn modelId="{78E919A7-F920-44C8-B840-9EB8BC054514}" srcId="{E5468B7B-1921-4188-893E-AB9EDCDB63E3}" destId="{C57D3FD3-A88A-4B2B-B103-122CEDEC2124}" srcOrd="5" destOrd="0" parTransId="{3218A2D0-D020-4265-B04D-65ED9AC29BD5}" sibTransId="{06468EAE-7EFA-4825-B215-A016570C54D7}"/>
    <dgm:cxn modelId="{B54661BD-300A-4095-BFBE-6203EF6645F3}" type="presOf" srcId="{9C06DC36-F13E-43A7-B81D-EE2DD97B90E0}" destId="{7A2AD361-FE1C-4B21-B16B-2342A9710088}" srcOrd="0" destOrd="0" presId="urn:microsoft.com/office/officeart/2005/8/layout/vList2"/>
    <dgm:cxn modelId="{CAF2FB94-5E32-4666-85C0-BF8D98A2D99B}" type="presOf" srcId="{324302BB-853C-4DCB-BB9D-7D4CFC6B5E28}" destId="{B4C9C996-4AD6-4F30-8D4A-3983F023938C}" srcOrd="0" destOrd="0" presId="urn:microsoft.com/office/officeart/2005/8/layout/vList2"/>
    <dgm:cxn modelId="{58BE50AF-6CED-4E8F-9812-F52F72591807}" type="presOf" srcId="{7C8E68D7-F2AC-48C6-A423-7E69970A4327}" destId="{B4C4AB09-8FBD-4B60-97E0-CDEF6CF31B61}" srcOrd="0" destOrd="0" presId="urn:microsoft.com/office/officeart/2005/8/layout/vList2"/>
    <dgm:cxn modelId="{A0C0B2AE-4FC1-4566-8770-552DC46B2276}" srcId="{E5468B7B-1921-4188-893E-AB9EDCDB63E3}" destId="{7C8E68D7-F2AC-48C6-A423-7E69970A4327}" srcOrd="8" destOrd="0" parTransId="{6FFBE517-6EE4-4FE7-AC7D-6D248DDD7B69}" sibTransId="{08764379-3F25-4032-8514-425E2D950377}"/>
    <dgm:cxn modelId="{29F398A6-601E-4240-A7DE-E2900A75850E}" srcId="{E5468B7B-1921-4188-893E-AB9EDCDB63E3}" destId="{CA644C80-7FF7-4B20-87BF-CAC1C6FF9959}" srcOrd="3" destOrd="0" parTransId="{B3BD4DDF-FA4E-4654-975F-E338292B4FE7}" sibTransId="{9A5C9BA3-9590-4EF1-AE74-2DB4759F006A}"/>
    <dgm:cxn modelId="{22362573-9A38-44E1-9D84-299ED7B7E8C8}" type="presOf" srcId="{0A20204B-ACA3-4F99-A786-A4743B3D8273}" destId="{9F78C2A5-E2C8-4896-B9B9-B3B29366520B}" srcOrd="0" destOrd="0" presId="urn:microsoft.com/office/officeart/2005/8/layout/vList2"/>
    <dgm:cxn modelId="{7E5C5DA2-508D-4055-A63E-5690C36473DC}" srcId="{E5468B7B-1921-4188-893E-AB9EDCDB63E3}" destId="{324302BB-853C-4DCB-BB9D-7D4CFC6B5E28}" srcOrd="4" destOrd="0" parTransId="{3975494C-AD03-4E9B-BFCD-FCA3CA5B0C23}" sibTransId="{BA6D1F3E-3CF4-469C-A29E-9210BF7BBF89}"/>
    <dgm:cxn modelId="{1FAAB60F-FE0E-49F2-B566-BE7EF0E4A958}" type="presOf" srcId="{E25C6E38-5F69-45A0-9D26-1472286B7568}" destId="{262FFCBE-4A82-43DC-97A0-575BCD6C155D}" srcOrd="0" destOrd="0" presId="urn:microsoft.com/office/officeart/2005/8/layout/vList2"/>
    <dgm:cxn modelId="{D42EA374-7491-4BCA-ACF8-704B1807A45B}" srcId="{E5468B7B-1921-4188-893E-AB9EDCDB63E3}" destId="{0D4741D4-5E8A-431B-8CD9-C5413D8D6D95}" srcOrd="6" destOrd="0" parTransId="{6F1D7530-94AD-40C6-8FC4-9783105394F5}" sibTransId="{D0A507A2-7D20-45CF-8E1D-CDCE495A6459}"/>
    <dgm:cxn modelId="{BD71E064-953E-4556-AA2A-BEA036B8F31D}" type="presParOf" srcId="{81DADC67-78C8-4E9B-AAA7-0D0D25848D7B}" destId="{44250668-2EC9-4AC5-8D16-9BEFCE4A9902}" srcOrd="0" destOrd="0" presId="urn:microsoft.com/office/officeart/2005/8/layout/vList2"/>
    <dgm:cxn modelId="{E08E2E81-B195-47A9-A177-A0DE3E1C9A09}" type="presParOf" srcId="{81DADC67-78C8-4E9B-AAA7-0D0D25848D7B}" destId="{989308E9-7D77-4790-B3B7-241C40ACFC3C}" srcOrd="1" destOrd="0" presId="urn:microsoft.com/office/officeart/2005/8/layout/vList2"/>
    <dgm:cxn modelId="{74A3061C-A1E1-495D-9E70-96564E850C86}" type="presParOf" srcId="{81DADC67-78C8-4E9B-AAA7-0D0D25848D7B}" destId="{9F78C2A5-E2C8-4896-B9B9-B3B29366520B}" srcOrd="2" destOrd="0" presId="urn:microsoft.com/office/officeart/2005/8/layout/vList2"/>
    <dgm:cxn modelId="{9231A794-EF90-4B45-B9A4-A3077E8453F4}" type="presParOf" srcId="{81DADC67-78C8-4E9B-AAA7-0D0D25848D7B}" destId="{BB0AD7B7-2A08-447D-91A2-89EAF4200E44}" srcOrd="3" destOrd="0" presId="urn:microsoft.com/office/officeart/2005/8/layout/vList2"/>
    <dgm:cxn modelId="{72766C45-F93C-49D9-8ABB-3956442A627B}" type="presParOf" srcId="{81DADC67-78C8-4E9B-AAA7-0D0D25848D7B}" destId="{7A2AD361-FE1C-4B21-B16B-2342A9710088}" srcOrd="4" destOrd="0" presId="urn:microsoft.com/office/officeart/2005/8/layout/vList2"/>
    <dgm:cxn modelId="{76C10B96-A059-49E2-B144-609A9F3234B9}" type="presParOf" srcId="{81DADC67-78C8-4E9B-AAA7-0D0D25848D7B}" destId="{98A70910-6114-4352-9FDD-9B1A03C720F4}" srcOrd="5" destOrd="0" presId="urn:microsoft.com/office/officeart/2005/8/layout/vList2"/>
    <dgm:cxn modelId="{EB475334-68FE-40AC-9009-7634F3098C93}" type="presParOf" srcId="{81DADC67-78C8-4E9B-AAA7-0D0D25848D7B}" destId="{474D8491-AB8C-4FCE-98DB-204CF5F49B62}" srcOrd="6" destOrd="0" presId="urn:microsoft.com/office/officeart/2005/8/layout/vList2"/>
    <dgm:cxn modelId="{302C4162-8147-47E6-B10D-43916DA97650}" type="presParOf" srcId="{81DADC67-78C8-4E9B-AAA7-0D0D25848D7B}" destId="{E7EAA6F8-9141-4708-8A61-7493A521449C}" srcOrd="7" destOrd="0" presId="urn:microsoft.com/office/officeart/2005/8/layout/vList2"/>
    <dgm:cxn modelId="{22E83221-06A6-485A-AB2C-3A1F21959C33}" type="presParOf" srcId="{81DADC67-78C8-4E9B-AAA7-0D0D25848D7B}" destId="{B4C9C996-4AD6-4F30-8D4A-3983F023938C}" srcOrd="8" destOrd="0" presId="urn:microsoft.com/office/officeart/2005/8/layout/vList2"/>
    <dgm:cxn modelId="{2622284E-34B2-4557-939C-03B3C1370346}" type="presParOf" srcId="{81DADC67-78C8-4E9B-AAA7-0D0D25848D7B}" destId="{E0AF6791-EA71-4164-AFE5-7E3BCE9A0796}" srcOrd="9" destOrd="0" presId="urn:microsoft.com/office/officeart/2005/8/layout/vList2"/>
    <dgm:cxn modelId="{2E46B84D-8DE9-4720-8CE0-8B91DAAF5A46}" type="presParOf" srcId="{81DADC67-78C8-4E9B-AAA7-0D0D25848D7B}" destId="{736D4D8A-2E6F-4C73-9348-11B14E6C9782}" srcOrd="10" destOrd="0" presId="urn:microsoft.com/office/officeart/2005/8/layout/vList2"/>
    <dgm:cxn modelId="{A79CA92B-157C-416A-A5B7-FE786FC9BE9B}" type="presParOf" srcId="{81DADC67-78C8-4E9B-AAA7-0D0D25848D7B}" destId="{9EC4A88D-4AD4-42D8-A364-D6F3CDE7E02F}" srcOrd="11" destOrd="0" presId="urn:microsoft.com/office/officeart/2005/8/layout/vList2"/>
    <dgm:cxn modelId="{BA40BDBB-D036-43F1-B536-D5CB53D407EF}" type="presParOf" srcId="{81DADC67-78C8-4E9B-AAA7-0D0D25848D7B}" destId="{62C20B38-F832-412D-9092-6B5448890D7E}" srcOrd="12" destOrd="0" presId="urn:microsoft.com/office/officeart/2005/8/layout/vList2"/>
    <dgm:cxn modelId="{35BCCFBB-331A-4532-8A18-92C35E64B13C}" type="presParOf" srcId="{81DADC67-78C8-4E9B-AAA7-0D0D25848D7B}" destId="{43B538BC-A940-4EE5-9216-B0475E415692}" srcOrd="13" destOrd="0" presId="urn:microsoft.com/office/officeart/2005/8/layout/vList2"/>
    <dgm:cxn modelId="{8DCAE2D5-D324-4D46-B9E4-1A6AF3E472A0}" type="presParOf" srcId="{81DADC67-78C8-4E9B-AAA7-0D0D25848D7B}" destId="{262FFCBE-4A82-43DC-97A0-575BCD6C155D}" srcOrd="14" destOrd="0" presId="urn:microsoft.com/office/officeart/2005/8/layout/vList2"/>
    <dgm:cxn modelId="{B52C9727-86A1-432E-B285-5858A9CFF547}" type="presParOf" srcId="{81DADC67-78C8-4E9B-AAA7-0D0D25848D7B}" destId="{D9E4C6AE-C1B8-4EDD-ADED-5BF8BA5E01F3}" srcOrd="15" destOrd="0" presId="urn:microsoft.com/office/officeart/2005/8/layout/vList2"/>
    <dgm:cxn modelId="{7CEA951C-3E41-4798-8407-0F9BF0F545D8}" type="presParOf" srcId="{81DADC67-78C8-4E9B-AAA7-0D0D25848D7B}" destId="{B4C4AB09-8FBD-4B60-97E0-CDEF6CF31B61}" srcOrd="1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44CA8D-FFFB-4C6A-85E2-C003C2A3138B}" type="doc">
      <dgm:prSet loTypeId="urn:microsoft.com/office/officeart/2005/8/layout/hProcess9" loCatId="process" qsTypeId="urn:microsoft.com/office/officeart/2005/8/quickstyle/simple1" qsCatId="simple" csTypeId="urn:microsoft.com/office/officeart/2005/8/colors/accent1_1" csCatId="accent1" phldr="1"/>
      <dgm:spPr/>
      <dgm:t>
        <a:bodyPr/>
        <a:lstStyle/>
        <a:p>
          <a:endParaRPr lang="en-US"/>
        </a:p>
      </dgm:t>
    </dgm:pt>
    <dgm:pt modelId="{1109A302-F4B8-4E6D-8CF4-720BDD0C9702}">
      <dgm:prSet custT="1"/>
      <dgm:spPr/>
      <dgm:t>
        <a:bodyPr/>
        <a:lstStyle/>
        <a:p>
          <a:pPr rtl="0"/>
          <a:r>
            <a:rPr lang="en-US" sz="3200" dirty="0" smtClean="0">
              <a:solidFill>
                <a:srgbClr val="C00000"/>
              </a:solidFill>
            </a:rPr>
            <a:t>Conclusions</a:t>
          </a:r>
          <a:endParaRPr lang="en-US" sz="3200" dirty="0">
            <a:solidFill>
              <a:srgbClr val="C00000"/>
            </a:solidFill>
          </a:endParaRPr>
        </a:p>
      </dgm:t>
    </dgm:pt>
    <dgm:pt modelId="{BF6A26E5-9832-4D57-AF0A-6428E2AF6358}" type="parTrans" cxnId="{77A7C90E-0630-4C17-B6AD-2212807385FB}">
      <dgm:prSet/>
      <dgm:spPr/>
      <dgm:t>
        <a:bodyPr/>
        <a:lstStyle/>
        <a:p>
          <a:endParaRPr lang="en-US"/>
        </a:p>
      </dgm:t>
    </dgm:pt>
    <dgm:pt modelId="{17BF56FF-8053-4605-8AA8-0370E889894F}" type="sibTrans" cxnId="{77A7C90E-0630-4C17-B6AD-2212807385FB}">
      <dgm:prSet/>
      <dgm:spPr/>
      <dgm:t>
        <a:bodyPr/>
        <a:lstStyle/>
        <a:p>
          <a:endParaRPr lang="en-US"/>
        </a:p>
      </dgm:t>
    </dgm:pt>
    <dgm:pt modelId="{119B9A17-0192-4855-90C8-D27ADD68A1CD}" type="pres">
      <dgm:prSet presAssocID="{5844CA8D-FFFB-4C6A-85E2-C003C2A3138B}" presName="CompostProcess" presStyleCnt="0">
        <dgm:presLayoutVars>
          <dgm:dir/>
          <dgm:resizeHandles val="exact"/>
        </dgm:presLayoutVars>
      </dgm:prSet>
      <dgm:spPr/>
      <dgm:t>
        <a:bodyPr/>
        <a:lstStyle/>
        <a:p>
          <a:endParaRPr lang="en-US"/>
        </a:p>
      </dgm:t>
    </dgm:pt>
    <dgm:pt modelId="{C10BDD84-F034-4CB9-B72D-B880081CE0E8}" type="pres">
      <dgm:prSet presAssocID="{5844CA8D-FFFB-4C6A-85E2-C003C2A3138B}" presName="arrow" presStyleLbl="bgShp" presStyleIdx="0" presStyleCnt="1"/>
      <dgm:spPr/>
    </dgm:pt>
    <dgm:pt modelId="{E93553EF-1135-4D0B-903B-A9F062F9D1CC}" type="pres">
      <dgm:prSet presAssocID="{5844CA8D-FFFB-4C6A-85E2-C003C2A3138B}" presName="linearProcess" presStyleCnt="0"/>
      <dgm:spPr/>
    </dgm:pt>
    <dgm:pt modelId="{4EF1397C-ACCC-44C4-91B4-D8F76B9F9B38}" type="pres">
      <dgm:prSet presAssocID="{1109A302-F4B8-4E6D-8CF4-720BDD0C9702}" presName="textNode" presStyleLbl="node1" presStyleIdx="0" presStyleCnt="1">
        <dgm:presLayoutVars>
          <dgm:bulletEnabled val="1"/>
        </dgm:presLayoutVars>
      </dgm:prSet>
      <dgm:spPr/>
      <dgm:t>
        <a:bodyPr/>
        <a:lstStyle/>
        <a:p>
          <a:endParaRPr lang="en-US"/>
        </a:p>
      </dgm:t>
    </dgm:pt>
  </dgm:ptLst>
  <dgm:cxnLst>
    <dgm:cxn modelId="{EEAE8645-1DF3-47AF-9D12-6F224E983944}" type="presOf" srcId="{5844CA8D-FFFB-4C6A-85E2-C003C2A3138B}" destId="{119B9A17-0192-4855-90C8-D27ADD68A1CD}" srcOrd="0" destOrd="0" presId="urn:microsoft.com/office/officeart/2005/8/layout/hProcess9"/>
    <dgm:cxn modelId="{448FFE6D-2F42-4DD5-9D16-DBF8F6292161}" type="presOf" srcId="{1109A302-F4B8-4E6D-8CF4-720BDD0C9702}" destId="{4EF1397C-ACCC-44C4-91B4-D8F76B9F9B38}" srcOrd="0" destOrd="0" presId="urn:microsoft.com/office/officeart/2005/8/layout/hProcess9"/>
    <dgm:cxn modelId="{77A7C90E-0630-4C17-B6AD-2212807385FB}" srcId="{5844CA8D-FFFB-4C6A-85E2-C003C2A3138B}" destId="{1109A302-F4B8-4E6D-8CF4-720BDD0C9702}" srcOrd="0" destOrd="0" parTransId="{BF6A26E5-9832-4D57-AF0A-6428E2AF6358}" sibTransId="{17BF56FF-8053-4605-8AA8-0370E889894F}"/>
    <dgm:cxn modelId="{0A80A253-33B7-4800-BAFB-F37696ADBCB3}" type="presParOf" srcId="{119B9A17-0192-4855-90C8-D27ADD68A1CD}" destId="{C10BDD84-F034-4CB9-B72D-B880081CE0E8}" srcOrd="0" destOrd="0" presId="urn:microsoft.com/office/officeart/2005/8/layout/hProcess9"/>
    <dgm:cxn modelId="{33103290-FBDE-4AEF-9467-221CCD2E3DED}" type="presParOf" srcId="{119B9A17-0192-4855-90C8-D27ADD68A1CD}" destId="{E93553EF-1135-4D0B-903B-A9F062F9D1CC}" srcOrd="1" destOrd="0" presId="urn:microsoft.com/office/officeart/2005/8/layout/hProcess9"/>
    <dgm:cxn modelId="{37AEFF2D-9BB7-4F05-B4E6-F7A98B9409EC}" type="presParOf" srcId="{E93553EF-1135-4D0B-903B-A9F062F9D1CC}" destId="{4EF1397C-ACCC-44C4-91B4-D8F76B9F9B38}"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250668-2EC9-4AC5-8D16-9BEFCE4A9902}">
      <dsp:nvSpPr>
        <dsp:cNvPr id="0" name=""/>
        <dsp:cNvSpPr/>
      </dsp:nvSpPr>
      <dsp:spPr>
        <a:xfrm>
          <a:off x="0" y="423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GAIT/ Human GAIT</a:t>
          </a:r>
          <a:endParaRPr lang="en-US" sz="1800" kern="1200" dirty="0">
            <a:latin typeface="Arial" pitchFamily="34" charset="0"/>
            <a:cs typeface="Arial" pitchFamily="34" charset="0"/>
          </a:endParaRPr>
        </a:p>
      </dsp:txBody>
      <dsp:txXfrm>
        <a:off x="26501" y="68860"/>
        <a:ext cx="8405198" cy="489878"/>
      </dsp:txXfrm>
    </dsp:sp>
    <dsp:sp modelId="{9F78C2A5-E2C8-4896-B9B9-B3B29366520B}">
      <dsp:nvSpPr>
        <dsp:cNvPr id="0" name=""/>
        <dsp:cNvSpPr/>
      </dsp:nvSpPr>
      <dsp:spPr>
        <a:xfrm>
          <a:off x="0" y="6687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Problem Statement</a:t>
          </a:r>
          <a:endParaRPr lang="en-US" sz="1800" b="1" kern="1200" dirty="0">
            <a:latin typeface="Arial" pitchFamily="34" charset="0"/>
            <a:cs typeface="Arial" pitchFamily="34" charset="0"/>
          </a:endParaRPr>
        </a:p>
      </dsp:txBody>
      <dsp:txXfrm>
        <a:off x="26501" y="695260"/>
        <a:ext cx="8405198" cy="489878"/>
      </dsp:txXfrm>
    </dsp:sp>
    <dsp:sp modelId="{7A2AD361-FE1C-4B21-B16B-2342A9710088}">
      <dsp:nvSpPr>
        <dsp:cNvPr id="0" name=""/>
        <dsp:cNvSpPr/>
      </dsp:nvSpPr>
      <dsp:spPr>
        <a:xfrm>
          <a:off x="0" y="1295401"/>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Proposed Solution</a:t>
          </a:r>
          <a:endParaRPr lang="en-US" sz="1800" kern="1200" dirty="0">
            <a:latin typeface="Arial" pitchFamily="34" charset="0"/>
            <a:cs typeface="Arial" pitchFamily="34" charset="0"/>
          </a:endParaRPr>
        </a:p>
      </dsp:txBody>
      <dsp:txXfrm>
        <a:off x="26501" y="1321902"/>
        <a:ext cx="8405198" cy="489878"/>
      </dsp:txXfrm>
    </dsp:sp>
    <dsp:sp modelId="{474D8491-AB8C-4FCE-98DB-204CF5F49B62}">
      <dsp:nvSpPr>
        <dsp:cNvPr id="0" name=""/>
        <dsp:cNvSpPr/>
      </dsp:nvSpPr>
      <dsp:spPr>
        <a:xfrm>
          <a:off x="0" y="19215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AIM</a:t>
          </a:r>
          <a:endParaRPr lang="en-US" sz="1800" kern="1200" dirty="0">
            <a:latin typeface="Arial" pitchFamily="34" charset="0"/>
            <a:cs typeface="Arial" pitchFamily="34" charset="0"/>
          </a:endParaRPr>
        </a:p>
      </dsp:txBody>
      <dsp:txXfrm>
        <a:off x="26501" y="1948060"/>
        <a:ext cx="8405198" cy="489878"/>
      </dsp:txXfrm>
    </dsp:sp>
    <dsp:sp modelId="{B4C9C996-4AD6-4F30-8D4A-3983F023938C}">
      <dsp:nvSpPr>
        <dsp:cNvPr id="0" name=""/>
        <dsp:cNvSpPr/>
      </dsp:nvSpPr>
      <dsp:spPr>
        <a:xfrm>
          <a:off x="0" y="25479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Proposed work and Methodology</a:t>
          </a:r>
          <a:endParaRPr lang="en-US" sz="1800" b="1" kern="1200" dirty="0">
            <a:latin typeface="Arial" pitchFamily="34" charset="0"/>
            <a:cs typeface="Arial" pitchFamily="34" charset="0"/>
          </a:endParaRPr>
        </a:p>
      </dsp:txBody>
      <dsp:txXfrm>
        <a:off x="26501" y="2574460"/>
        <a:ext cx="8405198" cy="489878"/>
      </dsp:txXfrm>
    </dsp:sp>
    <dsp:sp modelId="{736D4D8A-2E6F-4C73-9348-11B14E6C9782}">
      <dsp:nvSpPr>
        <dsp:cNvPr id="0" name=""/>
        <dsp:cNvSpPr/>
      </dsp:nvSpPr>
      <dsp:spPr>
        <a:xfrm>
          <a:off x="0" y="31743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Data Collection &amp; Demos</a:t>
          </a:r>
          <a:endParaRPr lang="en-US" sz="1800" b="1" kern="1200" dirty="0">
            <a:latin typeface="Arial" pitchFamily="34" charset="0"/>
            <a:cs typeface="Arial" pitchFamily="34" charset="0"/>
          </a:endParaRPr>
        </a:p>
      </dsp:txBody>
      <dsp:txXfrm>
        <a:off x="26501" y="3200860"/>
        <a:ext cx="8405198" cy="489878"/>
      </dsp:txXfrm>
    </dsp:sp>
    <dsp:sp modelId="{62C20B38-F832-412D-9092-6B5448890D7E}">
      <dsp:nvSpPr>
        <dsp:cNvPr id="0" name=""/>
        <dsp:cNvSpPr/>
      </dsp:nvSpPr>
      <dsp:spPr>
        <a:xfrm>
          <a:off x="0" y="3800759"/>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dirty="0" smtClean="0">
              <a:latin typeface="Arial" pitchFamily="34" charset="0"/>
              <a:cs typeface="Arial" pitchFamily="34" charset="0"/>
            </a:rPr>
            <a:t>Classification of gait data using KNN, SVM, ANN(Back Propagation), Classifier fusion</a:t>
          </a:r>
          <a:endParaRPr lang="en-US" sz="1600" b="1" kern="1200" dirty="0">
            <a:latin typeface="Arial" pitchFamily="34" charset="0"/>
            <a:cs typeface="Arial" pitchFamily="34" charset="0"/>
          </a:endParaRPr>
        </a:p>
      </dsp:txBody>
      <dsp:txXfrm>
        <a:off x="26501" y="3827260"/>
        <a:ext cx="8405198" cy="489878"/>
      </dsp:txXfrm>
    </dsp:sp>
    <dsp:sp modelId="{262FFCBE-4A82-43DC-97A0-575BCD6C155D}">
      <dsp:nvSpPr>
        <dsp:cNvPr id="0" name=""/>
        <dsp:cNvSpPr/>
      </dsp:nvSpPr>
      <dsp:spPr>
        <a:xfrm>
          <a:off x="0" y="4427160"/>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Result analysis </a:t>
          </a:r>
          <a:endParaRPr lang="en-US" sz="1800" b="1" kern="1200" dirty="0">
            <a:latin typeface="Arial" pitchFamily="34" charset="0"/>
            <a:cs typeface="Arial" pitchFamily="34" charset="0"/>
          </a:endParaRPr>
        </a:p>
      </dsp:txBody>
      <dsp:txXfrm>
        <a:off x="26501" y="4453661"/>
        <a:ext cx="8405198" cy="489878"/>
      </dsp:txXfrm>
    </dsp:sp>
    <dsp:sp modelId="{B4C4AB09-8FBD-4B60-97E0-CDEF6CF31B61}">
      <dsp:nvSpPr>
        <dsp:cNvPr id="0" name=""/>
        <dsp:cNvSpPr/>
      </dsp:nvSpPr>
      <dsp:spPr>
        <a:xfrm>
          <a:off x="0" y="5053560"/>
          <a:ext cx="8458200" cy="542880"/>
        </a:xfrm>
        <a:prstGeom prst="roundRect">
          <a:avLst/>
        </a:prstGeom>
        <a:gradFill rotWithShape="0">
          <a:gsLst>
            <a:gs pos="20000">
              <a:schemeClr val="accent2">
                <a:hueOff val="0"/>
                <a:satOff val="0"/>
                <a:lumOff val="0"/>
                <a:alphaOff val="0"/>
                <a:tint val="9000"/>
              </a:schemeClr>
            </a:gs>
            <a:gs pos="100000">
              <a:schemeClr val="accent2">
                <a:hueOff val="0"/>
                <a:satOff val="0"/>
                <a:lumOff val="0"/>
                <a:alphaOff val="0"/>
                <a:tint val="70000"/>
                <a:satMod val="100000"/>
              </a:schemeClr>
            </a:gs>
          </a:gsLst>
          <a:path path="circle">
            <a:fillToRect l="-15000" t="-15000" r="115000" b="115000"/>
          </a:path>
        </a:gradFill>
        <a:ln>
          <a:noFill/>
        </a:ln>
        <a:effectLst>
          <a:outerShdw blurRad="130000" dist="101600" dir="2700000" algn="tl"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latin typeface="Arial" pitchFamily="34" charset="0"/>
              <a:cs typeface="Arial" pitchFamily="34" charset="0"/>
            </a:rPr>
            <a:t>Conclusion</a:t>
          </a:r>
          <a:endParaRPr lang="en-US" sz="1800" b="1" kern="1200" dirty="0">
            <a:latin typeface="Arial" pitchFamily="34" charset="0"/>
            <a:cs typeface="Arial" pitchFamily="34" charset="0"/>
          </a:endParaRPr>
        </a:p>
      </dsp:txBody>
      <dsp:txXfrm>
        <a:off x="26501" y="5080061"/>
        <a:ext cx="8405198" cy="4898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0BDD84-F034-4CB9-B72D-B880081CE0E8}">
      <dsp:nvSpPr>
        <dsp:cNvPr id="0" name=""/>
        <dsp:cNvSpPr/>
      </dsp:nvSpPr>
      <dsp:spPr>
        <a:xfrm>
          <a:off x="685799" y="0"/>
          <a:ext cx="7772400" cy="9906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F1397C-ACCC-44C4-91B4-D8F76B9F9B38}">
      <dsp:nvSpPr>
        <dsp:cNvPr id="0" name=""/>
        <dsp:cNvSpPr/>
      </dsp:nvSpPr>
      <dsp:spPr>
        <a:xfrm>
          <a:off x="3200399" y="297179"/>
          <a:ext cx="2743200" cy="39624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rtl="0">
            <a:lnSpc>
              <a:spcPct val="90000"/>
            </a:lnSpc>
            <a:spcBef>
              <a:spcPct val="0"/>
            </a:spcBef>
            <a:spcAft>
              <a:spcPct val="35000"/>
            </a:spcAft>
          </a:pPr>
          <a:r>
            <a:rPr lang="en-US" sz="3200" kern="1200" dirty="0" smtClean="0">
              <a:solidFill>
                <a:srgbClr val="C00000"/>
              </a:solidFill>
            </a:rPr>
            <a:t>Conclusions</a:t>
          </a:r>
          <a:endParaRPr lang="en-US" sz="3200" kern="1200" dirty="0">
            <a:solidFill>
              <a:srgbClr val="C00000"/>
            </a:solidFill>
          </a:endParaRPr>
        </a:p>
      </dsp:txBody>
      <dsp:txXfrm>
        <a:off x="3219742" y="316522"/>
        <a:ext cx="2704514" cy="35755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347C835-0F5D-4F9F-980B-4D41F3475D74}" type="datetimeFigureOut">
              <a:rPr lang="en-IN" smtClean="0"/>
              <a:pPr/>
              <a:t>11-05-2026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FB49CEB-2823-4AB5-9C32-0637FE8CD34C}" type="slidenum">
              <a:rPr lang="en-IN" smtClean="0"/>
              <a:pPr/>
              <a:t>‹#›</a:t>
            </a:fld>
            <a:endParaRPr lang="en-IN"/>
          </a:p>
        </p:txBody>
      </p:sp>
    </p:spTree>
    <p:extLst>
      <p:ext uri="{BB962C8B-B14F-4D97-AF65-F5344CB8AC3E}">
        <p14:creationId xmlns:p14="http://schemas.microsoft.com/office/powerpoint/2010/main" val="2507911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05530C-C1F7-4031-AD8D-5D6609D27499}" type="datetimeFigureOut">
              <a:rPr lang="en-IN" smtClean="0"/>
              <a:pPr/>
              <a:t>11-05-2026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A7B091-E864-4D72-A684-9328F2AA3EC4}" type="slidenum">
              <a:rPr lang="en-IN" smtClean="0"/>
              <a:pPr/>
              <a:t>‹#›</a:t>
            </a:fld>
            <a:endParaRPr lang="en-IN"/>
          </a:p>
        </p:txBody>
      </p:sp>
    </p:spTree>
    <p:extLst>
      <p:ext uri="{BB962C8B-B14F-4D97-AF65-F5344CB8AC3E}">
        <p14:creationId xmlns:p14="http://schemas.microsoft.com/office/powerpoint/2010/main" val="32871855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4FE21025-D49C-4CBF-B5DA-D4C4911FFDDF}" type="slidenum">
              <a:rPr lang="he-IL" smtClean="0">
                <a:latin typeface="Arial" charset="0"/>
                <a:cs typeface="Arial" charset="0"/>
              </a:rPr>
              <a:pPr/>
              <a:t>2</a:t>
            </a:fld>
            <a:endParaRPr lang="en-US" smtClean="0">
              <a:latin typeface="Arial" charset="0"/>
              <a:cs typeface="Arial"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he-IL" smtClean="0">
              <a:latin typeface="Arial" charset="0"/>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664233-6103-4F2D-92AA-FFAB75C87514}" type="slidenum">
              <a:rPr lang="en-US"/>
              <a:pPr/>
              <a:t>11</a:t>
            </a:fld>
            <a:endParaRPr lang="en-US"/>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093BE5F4-CD5B-4651-80C5-AB65073FABBC}" type="datetime1">
              <a:rPr lang="en-US" smtClean="0"/>
              <a:pPr/>
              <a:t>5/11/2026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r>
              <a:rPr lang="en-US" smtClean="0"/>
              <a:t>Push recovery capable Anthropomorphic Bipedal model</a:t>
            </a:r>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A9B8384-26D2-44B7-B750-847CEE8EDC79}" type="datetime1">
              <a:rPr lang="en-US" smtClean="0"/>
              <a:pPr/>
              <a:t>5/11/2026</a:t>
            </a:fld>
            <a:endParaRPr lang="en-US"/>
          </a:p>
        </p:txBody>
      </p:sp>
      <p:sp>
        <p:nvSpPr>
          <p:cNvPr id="5" name="Footer Placeholder 4"/>
          <p:cNvSpPr>
            <a:spLocks noGrp="1"/>
          </p:cNvSpPr>
          <p:nvPr>
            <p:ph type="ftr" sz="quarter" idx="11"/>
          </p:nvPr>
        </p:nvSpPr>
        <p:spPr/>
        <p:txBody>
          <a:bodyPr/>
          <a:lstStyle/>
          <a:p>
            <a:r>
              <a:rPr lang="en-US" smtClean="0"/>
              <a:t>Push recovery capable Anthropomorphic Bipedal model</a:t>
            </a:r>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FF2D6635-5499-4768-8BF1-0AF47A6B29E7}" type="datetime1">
              <a:rPr lang="en-US" smtClean="0"/>
              <a:pPr/>
              <a:t>5/11/2026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r>
              <a:rPr lang="en-US" smtClean="0"/>
              <a:t>Push recovery capable Anthropomorphic Bipedal model</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0CAB848A-F356-424F-958F-E263AA427F71}" type="datetime1">
              <a:rPr lang="en-US" smtClean="0"/>
              <a:pPr/>
              <a:t>5/11/2026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r>
              <a:rPr lang="en-US" smtClean="0"/>
              <a:t>Push recovery capable Anthropomorphic Bipedal model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5C95718-3F62-488F-AF67-A9AD7DB538D2}" type="datetime1">
              <a:rPr lang="en-US" smtClean="0"/>
              <a:pPr/>
              <a:t>5/11/2026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r>
              <a:rPr lang="en-US" smtClean="0"/>
              <a:t>Push recovery capable Anthropomorphic Bipedal model</a:t>
            </a:r>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EB43DA9-CBD8-4486-A5EF-1C42AEC80CC3}" type="datetime1">
              <a:rPr lang="en-US" smtClean="0"/>
              <a:pPr/>
              <a:t>5/11/2026</a:t>
            </a:fld>
            <a:endParaRPr lang="en-US"/>
          </a:p>
        </p:txBody>
      </p:sp>
      <p:sp>
        <p:nvSpPr>
          <p:cNvPr id="4" name="Footer Placeholder 3"/>
          <p:cNvSpPr>
            <a:spLocks noGrp="1"/>
          </p:cNvSpPr>
          <p:nvPr>
            <p:ph type="ftr" sz="quarter" idx="11"/>
          </p:nvPr>
        </p:nvSpPr>
        <p:spPr/>
        <p:txBody>
          <a:bodyPr/>
          <a:lstStyle/>
          <a:p>
            <a:r>
              <a:rPr lang="en-US" smtClean="0"/>
              <a:t>Push recovery capable Anthropomorphic Bipedal model</a:t>
            </a:r>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C4A326-5734-44C6-BDC7-D5FF5CEBFFAD}" type="datetime1">
              <a:rPr lang="en-US" smtClean="0"/>
              <a:pPr/>
              <a:t>5/11/2026</a:t>
            </a:fld>
            <a:endParaRPr lang="en-US"/>
          </a:p>
        </p:txBody>
      </p:sp>
      <p:sp>
        <p:nvSpPr>
          <p:cNvPr id="3" name="Footer Placeholder 2"/>
          <p:cNvSpPr>
            <a:spLocks noGrp="1"/>
          </p:cNvSpPr>
          <p:nvPr>
            <p:ph type="ftr" sz="quarter" idx="11"/>
          </p:nvPr>
        </p:nvSpPr>
        <p:spPr/>
        <p:txBody>
          <a:bodyPr/>
          <a:lstStyle/>
          <a:p>
            <a:r>
              <a:rPr lang="en-US" smtClean="0"/>
              <a:t>Push recovery capable Anthropomorphic Bipedal model</a:t>
            </a: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2A6FDFF-E989-4E0B-9D3E-1B5A5180663C}" type="datetime1">
              <a:rPr lang="en-US" smtClean="0"/>
              <a:pPr/>
              <a:t>5/11/2026</a:t>
            </a:fld>
            <a:endParaRPr lang="en-US"/>
          </a:p>
        </p:txBody>
      </p:sp>
      <p:sp>
        <p:nvSpPr>
          <p:cNvPr id="6" name="Footer Placeholder 5"/>
          <p:cNvSpPr>
            <a:spLocks noGrp="1"/>
          </p:cNvSpPr>
          <p:nvPr>
            <p:ph type="ftr" sz="quarter" idx="11"/>
          </p:nvPr>
        </p:nvSpPr>
        <p:spPr/>
        <p:txBody>
          <a:bodyPr/>
          <a:lstStyle/>
          <a:p>
            <a:r>
              <a:rPr lang="en-US" smtClean="0"/>
              <a:t>Push recovery capable Anthropomorphic Bipedal model</a:t>
            </a:r>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B72435D4-3246-4925-9AE2-2777AE4798C9}" type="datetime1">
              <a:rPr lang="en-US" smtClean="0"/>
              <a:pPr/>
              <a:t>5/11/2026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r>
              <a:rPr lang="en-US" smtClean="0"/>
              <a:t>Push recovery capable Anthropomorphic Bipedal model</a:t>
            </a:r>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55C221-7440-4E2A-91C8-70BB17D35EF0}" type="datetime1">
              <a:rPr lang="en-US" smtClean="0"/>
              <a:pPr/>
              <a:t>5/11/2026</a:t>
            </a:fld>
            <a:endParaRPr lang="en-US"/>
          </a:p>
        </p:txBody>
      </p:sp>
      <p:sp>
        <p:nvSpPr>
          <p:cNvPr id="5" name="Footer Placeholder 4"/>
          <p:cNvSpPr>
            <a:spLocks noGrp="1"/>
          </p:cNvSpPr>
          <p:nvPr>
            <p:ph type="ftr" sz="quarter" idx="11"/>
          </p:nvPr>
        </p:nvSpPr>
        <p:spPr/>
        <p:txBody>
          <a:bodyPr/>
          <a:lstStyle/>
          <a:p>
            <a:r>
              <a:rPr lang="en-US" smtClean="0"/>
              <a:t>Push recovery capable Anthropomorphic Bipedal model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4867BED-9E1A-41A8-B9D0-CB86DF5919A7}" type="datetime1">
              <a:rPr lang="en-US" smtClean="0"/>
              <a:pPr/>
              <a:t>5/11/2026</a:t>
            </a:fld>
            <a:endParaRPr lang="en-US"/>
          </a:p>
        </p:txBody>
      </p:sp>
      <p:sp>
        <p:nvSpPr>
          <p:cNvPr id="5" name="Footer Placeholder 4"/>
          <p:cNvSpPr>
            <a:spLocks noGrp="1"/>
          </p:cNvSpPr>
          <p:nvPr>
            <p:ph type="ftr" sz="quarter" idx="11"/>
          </p:nvPr>
        </p:nvSpPr>
        <p:spPr>
          <a:xfrm>
            <a:off x="457201" y="6248207"/>
            <a:ext cx="5573483" cy="365125"/>
          </a:xfrm>
        </p:spPr>
        <p:txBody>
          <a:bodyPr/>
          <a:lstStyle/>
          <a:p>
            <a:r>
              <a:rPr lang="en-US" smtClean="0"/>
              <a:t>Push recovery capable Anthropomorphic Bipedal model</a:t>
            </a:r>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23D65C4B-61D6-4BF9-AE51-0BC70183D4AB}" type="datetime1">
              <a:rPr lang="en-US" smtClean="0"/>
              <a:pPr/>
              <a:t>5/11/2026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r>
              <a:rPr lang="en-US" smtClean="0"/>
              <a:t>Push recovery capable Anthropomorphic Bipedal model</a:t>
            </a:r>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txBox="1">
            <a:spLocks noChangeArrowheads="1"/>
          </p:cNvSpPr>
          <p:nvPr/>
        </p:nvSpPr>
        <p:spPr bwMode="gray">
          <a:xfrm>
            <a:off x="0" y="3657600"/>
            <a:ext cx="9144000" cy="1108075"/>
          </a:xfrm>
          <a:prstGeom prst="rect">
            <a:avLst/>
          </a:prstGeom>
          <a:solidFill>
            <a:srgbClr val="C00000"/>
          </a:solidFill>
          <a:ln w="9525">
            <a:noFill/>
            <a:miter lim="800000"/>
            <a:headEnd/>
            <a:tailEnd/>
          </a:ln>
        </p:spPr>
        <p:txBody>
          <a:bodyPr lIns="540000" tIns="0" rIns="432000" bIns="0" anchor="ctr"/>
          <a:lstStyle/>
          <a:p>
            <a:pPr marL="354013">
              <a:lnSpc>
                <a:spcPct val="85000"/>
              </a:lnSpc>
              <a:spcBef>
                <a:spcPct val="0"/>
              </a:spcBef>
              <a:buClrTx/>
              <a:buSzTx/>
              <a:buFontTx/>
              <a:buNone/>
              <a:defRPr/>
            </a:pPr>
            <a:endParaRPr lang="en-US" sz="2400" dirty="0">
              <a:solidFill>
                <a:schemeClr val="bg1"/>
              </a:solidFill>
              <a:latin typeface="Arial" pitchFamily="34" charset="0"/>
              <a:cs typeface="Arial" pitchFamily="34" charset="0"/>
            </a:endParaRPr>
          </a:p>
          <a:p>
            <a:pPr marL="354013" algn="ctr">
              <a:lnSpc>
                <a:spcPct val="85000"/>
              </a:lnSpc>
              <a:spcBef>
                <a:spcPct val="0"/>
              </a:spcBef>
              <a:buClrTx/>
              <a:buSzTx/>
              <a:buFontTx/>
              <a:buNone/>
              <a:defRPr/>
            </a:pPr>
            <a:r>
              <a:rPr lang="en-US" sz="2400" b="1" dirty="0" smtClean="0">
                <a:solidFill>
                  <a:schemeClr val="bg1"/>
                </a:solidFill>
                <a:latin typeface="Arial" pitchFamily="34" charset="0"/>
                <a:cs typeface="Arial" pitchFamily="34" charset="0"/>
              </a:rPr>
              <a:t>Presented by </a:t>
            </a:r>
            <a:endParaRPr lang="en-US" sz="2400" b="1" dirty="0">
              <a:solidFill>
                <a:schemeClr val="bg1"/>
              </a:solidFill>
              <a:latin typeface="Arial" pitchFamily="34" charset="0"/>
              <a:cs typeface="Arial" pitchFamily="34" charset="0"/>
            </a:endParaRPr>
          </a:p>
          <a:p>
            <a:pPr marL="354013" algn="ctr">
              <a:lnSpc>
                <a:spcPct val="85000"/>
              </a:lnSpc>
              <a:spcBef>
                <a:spcPct val="0"/>
              </a:spcBef>
              <a:buClrTx/>
              <a:buSzTx/>
              <a:buFontTx/>
              <a:buNone/>
              <a:defRPr/>
            </a:pPr>
            <a:r>
              <a:rPr lang="en-US" sz="2400" b="1" smtClean="0">
                <a:solidFill>
                  <a:schemeClr val="bg1"/>
                </a:solidFill>
                <a:latin typeface="Arial" pitchFamily="34" charset="0"/>
                <a:cs typeface="Arial" pitchFamily="34" charset="0"/>
              </a:rPr>
              <a:t>ANUBHA </a:t>
            </a:r>
            <a:r>
              <a:rPr lang="en-US" sz="2400" b="1" dirty="0" smtClean="0">
                <a:solidFill>
                  <a:schemeClr val="bg1"/>
                </a:solidFill>
                <a:latin typeface="Arial" pitchFamily="34" charset="0"/>
                <a:cs typeface="Arial" pitchFamily="34" charset="0"/>
              </a:rPr>
              <a:t>PARASHAR</a:t>
            </a:r>
          </a:p>
          <a:p>
            <a:pPr marL="354013" algn="ctr">
              <a:lnSpc>
                <a:spcPct val="85000"/>
              </a:lnSpc>
              <a:spcBef>
                <a:spcPct val="0"/>
              </a:spcBef>
              <a:buClrTx/>
              <a:buSzTx/>
              <a:buFontTx/>
              <a:buNone/>
              <a:defRPr/>
            </a:pPr>
            <a:endParaRPr lang="en-US" dirty="0">
              <a:solidFill>
                <a:schemeClr val="bg1"/>
              </a:solidFill>
              <a:latin typeface="Arial" pitchFamily="34" charset="0"/>
              <a:cs typeface="Arial" pitchFamily="34" charset="0"/>
            </a:endParaRPr>
          </a:p>
          <a:p>
            <a:pPr marL="354013">
              <a:lnSpc>
                <a:spcPct val="85000"/>
              </a:lnSpc>
              <a:spcBef>
                <a:spcPct val="0"/>
              </a:spcBef>
              <a:buClrTx/>
              <a:buSzTx/>
              <a:buFontTx/>
              <a:buNone/>
              <a:defRPr/>
            </a:pPr>
            <a:endParaRPr lang="en-US" b="1" kern="0" dirty="0">
              <a:solidFill>
                <a:schemeClr val="bg1"/>
              </a:solidFill>
              <a:latin typeface="+mj-lt"/>
              <a:ea typeface="+mj-ea"/>
              <a:cs typeface="+mj-cs"/>
            </a:endParaRPr>
          </a:p>
        </p:txBody>
      </p:sp>
      <p:sp>
        <p:nvSpPr>
          <p:cNvPr id="9" name="Rectangle 4"/>
          <p:cNvSpPr>
            <a:spLocks noChangeArrowheads="1"/>
          </p:cNvSpPr>
          <p:nvPr/>
        </p:nvSpPr>
        <p:spPr bwMode="auto">
          <a:xfrm>
            <a:off x="609600" y="4876800"/>
            <a:ext cx="8534400" cy="1138773"/>
          </a:xfrm>
          <a:prstGeom prst="rect">
            <a:avLst/>
          </a:prstGeom>
          <a:noFill/>
          <a:ln w="9525">
            <a:noFill/>
            <a:miter lim="800000"/>
            <a:headEnd/>
            <a:tailEnd/>
          </a:ln>
        </p:spPr>
        <p:txBody>
          <a:bodyPr wrap="square">
            <a:spAutoFit/>
          </a:bodyPr>
          <a:lstStyle/>
          <a:p>
            <a:pPr algn="ctr"/>
            <a:r>
              <a:rPr lang="en-US" altLang="en-US" sz="2000" b="1" dirty="0" smtClean="0">
                <a:latin typeface="Bookman Old Style" pitchFamily="18" charset="0"/>
              </a:rPr>
              <a:t>Computer Science and Engineering</a:t>
            </a:r>
          </a:p>
          <a:p>
            <a:pPr algn="ctr"/>
            <a:r>
              <a:rPr lang="en-US" altLang="en-US" sz="2000" b="1" dirty="0" smtClean="0">
                <a:latin typeface="Bookman Old Style" pitchFamily="18" charset="0"/>
              </a:rPr>
              <a:t>MAHARSHI DAYANAND UNIVERSITY, ROHTAK.</a:t>
            </a:r>
          </a:p>
          <a:p>
            <a:pPr eaLnBrk="1" hangingPunct="1"/>
            <a:endParaRPr lang="en-US" altLang="en-US" sz="2800" dirty="0">
              <a:latin typeface="Bookman Old Style" pitchFamily="18" charset="0"/>
            </a:endParaRPr>
          </a:p>
        </p:txBody>
      </p:sp>
      <p:sp>
        <p:nvSpPr>
          <p:cNvPr id="10" name="Date Placeholder 9"/>
          <p:cNvSpPr>
            <a:spLocks noGrp="1"/>
          </p:cNvSpPr>
          <p:nvPr>
            <p:ph type="dt" sz="half" idx="10"/>
          </p:nvPr>
        </p:nvSpPr>
        <p:spPr/>
        <p:txBody>
          <a:bodyPr/>
          <a:lstStyle/>
          <a:p>
            <a:pPr algn="just"/>
            <a:fld id="{5E0C4E1B-F6F4-4C4A-8896-F0CDDF9AF9BB}" type="datetime1">
              <a:rPr lang="en-US" smtClean="0"/>
              <a:pPr algn="just"/>
              <a:t>5/11/2026</a:t>
            </a:fld>
            <a:endParaRPr lang="en-US" dirty="0"/>
          </a:p>
        </p:txBody>
      </p:sp>
      <p:sp>
        <p:nvSpPr>
          <p:cNvPr id="15" name="Title 14"/>
          <p:cNvSpPr>
            <a:spLocks noGrp="1"/>
          </p:cNvSpPr>
          <p:nvPr>
            <p:ph type="title"/>
          </p:nvPr>
        </p:nvSpPr>
        <p:spPr>
          <a:xfrm>
            <a:off x="0" y="1600200"/>
            <a:ext cx="9144000" cy="1600200"/>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sp3d extrusionH="57150">
              <a:bevelT w="38100" h="38100" prst="relaxedInset"/>
            </a:sp3d>
          </a:bodyPr>
          <a:lstStyle/>
          <a:p>
            <a:pPr algn="ctr"/>
            <a:r>
              <a:rPr lang="en-IN" sz="3200" b="1" dirty="0" smtClean="0"/>
              <a:t>Classifying Gait Data using different machine learning techniques and finding the optimum technique of classification</a:t>
            </a:r>
            <a:endParaRPr lang="en-IN" sz="3200" b="1"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381000" y="1219200"/>
          <a:ext cx="8458200" cy="563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p:cNvSpPr>
            <a:spLocks noGrp="1"/>
          </p:cNvSpPr>
          <p:nvPr>
            <p:ph type="dt" sz="half" idx="10"/>
          </p:nvPr>
        </p:nvSpPr>
        <p:spPr>
          <a:xfrm>
            <a:off x="7696200" y="6492875"/>
            <a:ext cx="1295400" cy="365125"/>
          </a:xfrm>
        </p:spPr>
        <p:txBody>
          <a:bodyPr/>
          <a:lstStyle/>
          <a:p>
            <a:fld id="{2490660B-9F18-4039-93D1-FD225F3823F5}" type="datetime1">
              <a:rPr lang="en-US" smtClean="0"/>
              <a:pPr/>
              <a:t>5/11/2026</a:t>
            </a:fld>
            <a:endParaRPr lang="en-US" dirty="0"/>
          </a:p>
        </p:txBody>
      </p:sp>
      <p:sp>
        <p:nvSpPr>
          <p:cNvPr id="5" name="Title 4"/>
          <p:cNvSpPr>
            <a:spLocks noGrp="1"/>
          </p:cNvSpPr>
          <p:nvPr>
            <p:ph type="title"/>
          </p:nvPr>
        </p:nvSpPr>
        <p:spPr/>
        <p:txBody>
          <a:bodyPr/>
          <a:lstStyle/>
          <a:p>
            <a:r>
              <a:rPr lang="en-US" dirty="0" smtClean="0">
                <a:solidFill>
                  <a:srgbClr val="C00000"/>
                </a:solidFill>
              </a:rPr>
              <a:t>Outline</a:t>
            </a:r>
            <a:endParaRPr lang="en-US" dirty="0">
              <a:solidFill>
                <a:srgbClr val="C00000"/>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5/11/2026</a:t>
            </a:fld>
            <a:endParaRPr lang="en-US"/>
          </a:p>
        </p:txBody>
      </p:sp>
      <p:grpSp>
        <p:nvGrpSpPr>
          <p:cNvPr id="2" name="Diagram group"/>
          <p:cNvGrpSpPr/>
          <p:nvPr/>
        </p:nvGrpSpPr>
        <p:grpSpPr>
          <a:xfrm>
            <a:off x="152400" y="152400"/>
            <a:ext cx="8991600" cy="981045"/>
            <a:chOff x="0" y="4777"/>
            <a:chExt cx="5562600" cy="981045"/>
          </a:xfrm>
          <a:effectLst>
            <a:outerShdw blurRad="50800" dist="38100" dir="2700000" algn="tl" rotWithShape="0">
              <a:prstClr val="black">
                <a:alpha val="40000"/>
              </a:prstClr>
            </a:outerShdw>
          </a:effectLst>
          <a:scene3d>
            <a:camera prst="perspectiveRelaxed">
              <a:rot lat="19149996" lon="20104178" rev="1577324"/>
            </a:camera>
            <a:lightRig rig="soft" dir="t"/>
            <a:backdrop>
              <a:anchor x="0" y="0" z="-210000"/>
              <a:norm dx="0" dy="0" dz="914400"/>
              <a:up dx="0" dy="914400" dz="0"/>
            </a:backdrop>
          </a:scene3d>
        </p:grpSpPr>
        <p:grpSp>
          <p:nvGrpSpPr>
            <p:cNvPr id="4" name="Group 5"/>
            <p:cNvGrpSpPr/>
            <p:nvPr/>
          </p:nvGrpSpPr>
          <p:grpSpPr>
            <a:xfrm>
              <a:off x="0" y="4777"/>
              <a:ext cx="5562600" cy="981045"/>
              <a:chOff x="0" y="4777"/>
              <a:chExt cx="5562600" cy="981045"/>
            </a:xfrm>
          </p:grpSpPr>
          <p:sp>
            <p:nvSpPr>
              <p:cNvPr id="7" name="Rounded Rectangle 6"/>
              <p:cNvSpPr/>
              <p:nvPr/>
            </p:nvSpPr>
            <p:spPr>
              <a:xfrm>
                <a:off x="0" y="4777"/>
                <a:ext cx="5562600" cy="981045"/>
              </a:xfrm>
              <a:prstGeom prst="roundRect">
                <a:avLst/>
              </a:prstGeom>
              <a:sp3d extrusionH="152250" prstMaterial="matte">
                <a:bevelT/>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Rounded Rectangle 4"/>
              <p:cNvSpPr/>
              <p:nvPr/>
            </p:nvSpPr>
            <p:spPr>
              <a:xfrm>
                <a:off x="47891" y="52668"/>
                <a:ext cx="5466818" cy="885263"/>
              </a:xfrm>
              <a:prstGeom prst="rect">
                <a:avLst/>
              </a:prstGeom>
              <a:solidFill>
                <a:srgbClr val="C00000"/>
              </a:solidFill>
              <a:sp3d>
                <a:bevelT/>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defTabSz="1911350">
                  <a:lnSpc>
                    <a:spcPct val="90000"/>
                  </a:lnSpc>
                  <a:spcBef>
                    <a:spcPct val="0"/>
                  </a:spcBef>
                  <a:spcAft>
                    <a:spcPct val="35000"/>
                  </a:spcAft>
                </a:pPr>
                <a:r>
                  <a:rPr lang="en-US" sz="4400" dirty="0" smtClean="0"/>
                  <a:t>What is GAIT?</a:t>
                </a:r>
                <a:endParaRPr lang="en-US" sz="4300" kern="1200" dirty="0"/>
              </a:p>
            </p:txBody>
          </p:sp>
        </p:grpSp>
      </p:grpSp>
      <p:sp>
        <p:nvSpPr>
          <p:cNvPr id="11" name="Rectangle 10"/>
          <p:cNvSpPr/>
          <p:nvPr/>
        </p:nvSpPr>
        <p:spPr>
          <a:xfrm>
            <a:off x="228600" y="1905000"/>
            <a:ext cx="8915400" cy="4801314"/>
          </a:xfrm>
          <a:prstGeom prst="rect">
            <a:avLst/>
          </a:prstGeom>
        </p:spPr>
        <p:txBody>
          <a:bodyPr wrap="square">
            <a:spAutoFit/>
          </a:bodyPr>
          <a:lstStyle/>
          <a:p>
            <a:pPr algn="just"/>
            <a:r>
              <a:rPr lang="en-US" sz="5400" b="1" dirty="0" smtClean="0"/>
              <a:t>Gait</a:t>
            </a:r>
            <a:endParaRPr lang="en-IN" sz="5400" dirty="0" smtClean="0"/>
          </a:p>
          <a:p>
            <a:pPr algn="just">
              <a:buFont typeface="Wingdings" pitchFamily="2" charset="2"/>
              <a:buChar char="Ø"/>
            </a:pPr>
            <a:r>
              <a:rPr lang="en-US" sz="3600" b="1" dirty="0" smtClean="0"/>
              <a:t>Gait refers to the manner in which a person walks, and is one of the few biometric traits that can be used to recognize people at a distance.</a:t>
            </a:r>
          </a:p>
          <a:p>
            <a:pPr algn="just">
              <a:buFont typeface="Wingdings" pitchFamily="2" charset="2"/>
              <a:buChar char="Ø"/>
            </a:pPr>
            <a:r>
              <a:rPr lang="en-US" sz="3600" b="1" dirty="0" smtClean="0"/>
              <a:t>Therefore, this trait is very appropriate in surveillance scenarios and gait recognition system.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5/11/2026</a:t>
            </a:fld>
            <a:endParaRPr lang="en-US"/>
          </a:p>
        </p:txBody>
      </p:sp>
      <p:grpSp>
        <p:nvGrpSpPr>
          <p:cNvPr id="2" name="Diagram group"/>
          <p:cNvGrpSpPr/>
          <p:nvPr/>
        </p:nvGrpSpPr>
        <p:grpSpPr>
          <a:xfrm>
            <a:off x="152400" y="152400"/>
            <a:ext cx="8991600" cy="981045"/>
            <a:chOff x="0" y="4777"/>
            <a:chExt cx="5562600" cy="981045"/>
          </a:xfrm>
          <a:effectLst>
            <a:outerShdw blurRad="50800" dist="38100" dir="2700000" algn="tl" rotWithShape="0">
              <a:prstClr val="black">
                <a:alpha val="40000"/>
              </a:prstClr>
            </a:outerShdw>
          </a:effectLst>
          <a:scene3d>
            <a:camera prst="perspectiveRelaxed">
              <a:rot lat="19149996" lon="20104178" rev="1577324"/>
            </a:camera>
            <a:lightRig rig="soft" dir="t"/>
            <a:backdrop>
              <a:anchor x="0" y="0" z="-210000"/>
              <a:norm dx="0" dy="0" dz="914400"/>
              <a:up dx="0" dy="914400" dz="0"/>
            </a:backdrop>
          </a:scene3d>
        </p:grpSpPr>
        <p:grpSp>
          <p:nvGrpSpPr>
            <p:cNvPr id="4" name="Group 5"/>
            <p:cNvGrpSpPr/>
            <p:nvPr/>
          </p:nvGrpSpPr>
          <p:grpSpPr>
            <a:xfrm>
              <a:off x="0" y="4777"/>
              <a:ext cx="5562600" cy="981045"/>
              <a:chOff x="0" y="4777"/>
              <a:chExt cx="5562600" cy="981045"/>
            </a:xfrm>
          </p:grpSpPr>
          <p:sp>
            <p:nvSpPr>
              <p:cNvPr id="7" name="Rounded Rectangle 6"/>
              <p:cNvSpPr/>
              <p:nvPr/>
            </p:nvSpPr>
            <p:spPr>
              <a:xfrm>
                <a:off x="0" y="4777"/>
                <a:ext cx="5562600" cy="981045"/>
              </a:xfrm>
              <a:prstGeom prst="roundRect">
                <a:avLst/>
              </a:prstGeom>
              <a:sp3d extrusionH="152250" prstMaterial="matte">
                <a:bevelT/>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Rounded Rectangle 4"/>
              <p:cNvSpPr/>
              <p:nvPr/>
            </p:nvSpPr>
            <p:spPr>
              <a:xfrm>
                <a:off x="47891" y="52668"/>
                <a:ext cx="5466818" cy="885263"/>
              </a:xfrm>
              <a:prstGeom prst="rect">
                <a:avLst/>
              </a:prstGeom>
              <a:solidFill>
                <a:srgbClr val="C00000"/>
              </a:solidFill>
              <a:sp3d>
                <a:bevelT/>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defTabSz="1911350">
                  <a:lnSpc>
                    <a:spcPct val="90000"/>
                  </a:lnSpc>
                  <a:spcBef>
                    <a:spcPct val="0"/>
                  </a:spcBef>
                  <a:spcAft>
                    <a:spcPct val="35000"/>
                  </a:spcAft>
                </a:pPr>
                <a:r>
                  <a:rPr lang="en-US" sz="4400" b="1" dirty="0" smtClean="0"/>
                  <a:t>Human gait</a:t>
                </a:r>
                <a:endParaRPr lang="en-US" sz="4300" kern="1200" dirty="0"/>
              </a:p>
            </p:txBody>
          </p:sp>
        </p:grpSp>
      </p:grpSp>
      <p:sp>
        <p:nvSpPr>
          <p:cNvPr id="11" name="Rectangle 10"/>
          <p:cNvSpPr/>
          <p:nvPr/>
        </p:nvSpPr>
        <p:spPr>
          <a:xfrm>
            <a:off x="228600" y="1752600"/>
            <a:ext cx="8915400" cy="4401205"/>
          </a:xfrm>
          <a:prstGeom prst="rect">
            <a:avLst/>
          </a:prstGeom>
        </p:spPr>
        <p:txBody>
          <a:bodyPr wrap="square">
            <a:spAutoFit/>
          </a:bodyPr>
          <a:lstStyle/>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Human gait analysis refers to the study of human locomotion.</a:t>
            </a:r>
          </a:p>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Applications are in a large variety of domains, including entertainment, healthcare and pedestrian navigation. </a:t>
            </a:r>
          </a:p>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The act of walking involves the coordination of different human body parts, such as the skeleton, the muscle and the neural systems. </a:t>
            </a:r>
          </a:p>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Various factors can affect the complex interaction between the body parts, for example any pathological nature will require a distinction between ― </a:t>
            </a:r>
            <a:r>
              <a:rPr lang="en-US" sz="2000" b="1" kern="0" dirty="0" smtClean="0">
                <a:latin typeface="Arial"/>
              </a:rPr>
              <a:t>normal gait</a:t>
            </a:r>
            <a:r>
              <a:rPr lang="en-US" sz="2000" kern="0" dirty="0" smtClean="0">
                <a:latin typeface="Arial"/>
              </a:rPr>
              <a:t> and </a:t>
            </a:r>
            <a:r>
              <a:rPr lang="en-US" sz="2000" b="1" kern="0" dirty="0" smtClean="0">
                <a:latin typeface="Arial"/>
              </a:rPr>
              <a:t>pathological gait</a:t>
            </a:r>
            <a:r>
              <a:rPr lang="en-US" sz="2000" kern="0" dirty="0" smtClean="0">
                <a:latin typeface="Arial"/>
              </a:rPr>
              <a:t>. </a:t>
            </a:r>
          </a:p>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Normal gait refers to the naturalistic and general human walking parameters without differentiating the age, sex or individual physical parameters. </a:t>
            </a:r>
          </a:p>
          <a:p>
            <a:pPr marL="342900" lvl="0" indent="-342900" algn="just" eaLnBrk="0" fontAlgn="base" hangingPunct="0">
              <a:spcBef>
                <a:spcPct val="20000"/>
              </a:spcBef>
              <a:spcAft>
                <a:spcPct val="0"/>
              </a:spcAft>
              <a:buFont typeface="Wingdings" pitchFamily="2" charset="2"/>
              <a:buChar char="Ø"/>
            </a:pPr>
            <a:r>
              <a:rPr lang="en-US" sz="2000" kern="0" dirty="0" smtClean="0">
                <a:latin typeface="Arial"/>
              </a:rPr>
              <a:t>Conversely, ―pathological gait‖ refers to an abnormal gait, for example affected by pathologies such as muscle weakness or skeleton deformities.</a:t>
            </a:r>
            <a:endParaRPr lang="en-IN" sz="2000" kern="0" dirty="0" smtClean="0">
              <a:latin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5/11/2026</a:t>
            </a:fld>
            <a:endParaRPr lang="en-US"/>
          </a:p>
        </p:txBody>
      </p:sp>
      <p:grpSp>
        <p:nvGrpSpPr>
          <p:cNvPr id="2" name="Diagram group"/>
          <p:cNvGrpSpPr/>
          <p:nvPr/>
        </p:nvGrpSpPr>
        <p:grpSpPr>
          <a:xfrm>
            <a:off x="762000" y="152400"/>
            <a:ext cx="5562600" cy="981045"/>
            <a:chOff x="0" y="4777"/>
            <a:chExt cx="5562600" cy="981045"/>
          </a:xfrm>
          <a:scene3d>
            <a:camera prst="perspectiveRelaxed">
              <a:rot lat="19149996" lon="20104178" rev="1577324"/>
            </a:camera>
            <a:lightRig rig="soft" dir="t"/>
            <a:backdrop>
              <a:anchor x="0" y="0" z="-210000"/>
              <a:norm dx="0" dy="0" dz="914400"/>
              <a:up dx="0" dy="914400" dz="0"/>
            </a:backdrop>
          </a:scene3d>
        </p:grpSpPr>
        <p:grpSp>
          <p:nvGrpSpPr>
            <p:cNvPr id="5" name="Group 6"/>
            <p:cNvGrpSpPr/>
            <p:nvPr/>
          </p:nvGrpSpPr>
          <p:grpSpPr>
            <a:xfrm>
              <a:off x="0" y="4777"/>
              <a:ext cx="5562600" cy="981045"/>
              <a:chOff x="0" y="4777"/>
              <a:chExt cx="5562600" cy="981045"/>
            </a:xfrm>
          </p:grpSpPr>
          <p:sp>
            <p:nvSpPr>
              <p:cNvPr id="8" name="Rounded Rectangle 7"/>
              <p:cNvSpPr/>
              <p:nvPr/>
            </p:nvSpPr>
            <p:spPr>
              <a:xfrm>
                <a:off x="0" y="4777"/>
                <a:ext cx="5562600" cy="981045"/>
              </a:xfrm>
              <a:prstGeom prst="round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sp>
          <p:sp>
            <p:nvSpPr>
              <p:cNvPr id="9" name="Rounded Rectangle 4"/>
              <p:cNvSpPr/>
              <p:nvPr/>
            </p:nvSpPr>
            <p:spPr>
              <a:xfrm>
                <a:off x="47891" y="52668"/>
                <a:ext cx="5466818" cy="88526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algn="l" defTabSz="1911350" rtl="0">
                  <a:lnSpc>
                    <a:spcPct val="90000"/>
                  </a:lnSpc>
                  <a:spcBef>
                    <a:spcPct val="0"/>
                  </a:spcBef>
                  <a:spcAft>
                    <a:spcPct val="35000"/>
                  </a:spcAft>
                </a:pPr>
                <a:r>
                  <a:rPr lang="en-US" sz="4300" kern="1200" dirty="0" smtClean="0"/>
                  <a:t>Problem Statement </a:t>
                </a:r>
                <a:endParaRPr lang="en-US" sz="4300" kern="1200" dirty="0"/>
              </a:p>
            </p:txBody>
          </p:sp>
        </p:grpSp>
      </p:grpSp>
      <p:pic>
        <p:nvPicPr>
          <p:cNvPr id="16" name="Picture 15" descr="C:\Users\Anubha\Desktop\mtech 4th sem thesis\pics\2.2.png"/>
          <p:cNvPicPr/>
          <p:nvPr/>
        </p:nvPicPr>
        <p:blipFill>
          <a:blip r:embed="rId2"/>
          <a:srcRect/>
          <a:stretch>
            <a:fillRect/>
          </a:stretch>
        </p:blipFill>
        <p:spPr bwMode="auto">
          <a:xfrm>
            <a:off x="4648200" y="1524000"/>
            <a:ext cx="4495800" cy="3962400"/>
          </a:xfrm>
          <a:prstGeom prst="rect">
            <a:avLst/>
          </a:prstGeom>
          <a:noFill/>
          <a:ln w="9525">
            <a:noFill/>
            <a:miter lim="800000"/>
            <a:headEnd/>
            <a:tailEnd/>
          </a:ln>
        </p:spPr>
      </p:pic>
      <p:sp>
        <p:nvSpPr>
          <p:cNvPr id="10" name="TextBox 9"/>
          <p:cNvSpPr txBox="1"/>
          <p:nvPr/>
        </p:nvSpPr>
        <p:spPr>
          <a:xfrm>
            <a:off x="0" y="1502689"/>
            <a:ext cx="4648200" cy="5324535"/>
          </a:xfrm>
          <a:prstGeom prst="rect">
            <a:avLst/>
          </a:prstGeom>
          <a:noFill/>
        </p:spPr>
        <p:txBody>
          <a:bodyPr wrap="square" rtlCol="0">
            <a:spAutoFit/>
          </a:bodyPr>
          <a:lstStyle/>
          <a:p>
            <a:pPr algn="just">
              <a:buFont typeface="Wingdings" pitchFamily="2" charset="2"/>
              <a:buChar char="Ø"/>
            </a:pPr>
            <a:r>
              <a:rPr lang="en-US" sz="2000" dirty="0" smtClean="0"/>
              <a:t>To verify/validate the identity of people is called as authentication. </a:t>
            </a:r>
          </a:p>
          <a:p>
            <a:pPr algn="just">
              <a:buFont typeface="Wingdings" pitchFamily="2" charset="2"/>
              <a:buChar char="Ø"/>
            </a:pPr>
            <a:r>
              <a:rPr lang="en-US" sz="2000" dirty="0" smtClean="0"/>
              <a:t>And now a day’s authentication is becoming very popular to check whether a person is authentic or not.</a:t>
            </a:r>
          </a:p>
          <a:p>
            <a:pPr algn="just">
              <a:buFont typeface="Wingdings" pitchFamily="2" charset="2"/>
              <a:buChar char="Ø"/>
            </a:pPr>
            <a:r>
              <a:rPr lang="en-US" sz="2000" dirty="0" smtClean="0"/>
              <a:t>Previously authentication was done with secret passwords or PIN codes. The disadvantage of such authentication systems was anyone could crack the password or PIN codes.</a:t>
            </a:r>
            <a:endParaRPr lang="en-IN" sz="2000" dirty="0" smtClean="0"/>
          </a:p>
          <a:p>
            <a:pPr algn="just">
              <a:buFont typeface="Wingdings" pitchFamily="2" charset="2"/>
              <a:buChar char="Ø"/>
            </a:pPr>
            <a:r>
              <a:rPr lang="en-US" sz="2000" dirty="0" smtClean="0"/>
              <a:t>So, biometric (in fig.) technology came to existence where authentication is done using a particular body part like fingers, iris etc. </a:t>
            </a:r>
            <a:r>
              <a:rPr lang="en-IN" sz="2000" dirty="0" smtClean="0"/>
              <a:t>But now a days these biometrics are not user friendly as people dislike accessing finger print machine or avoid iris scanner as it may weaken or damage their vision. </a:t>
            </a:r>
            <a:endParaRPr lang="en-IN"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5/11/2026</a:t>
            </a:fld>
            <a:endParaRPr lang="en-US"/>
          </a:p>
        </p:txBody>
      </p:sp>
      <p:sp>
        <p:nvSpPr>
          <p:cNvPr id="4" name="Content Placeholder 3"/>
          <p:cNvSpPr>
            <a:spLocks noGrp="1"/>
          </p:cNvSpPr>
          <p:nvPr>
            <p:ph sz="quarter" idx="1"/>
          </p:nvPr>
        </p:nvSpPr>
        <p:spPr>
          <a:xfrm>
            <a:off x="228600" y="1447800"/>
            <a:ext cx="8686800" cy="4572000"/>
          </a:xfrm>
        </p:spPr>
        <p:txBody>
          <a:bodyPr>
            <a:noAutofit/>
          </a:bodyPr>
          <a:lstStyle/>
          <a:p>
            <a:pPr algn="just">
              <a:buFont typeface="Wingdings" pitchFamily="2" charset="2"/>
              <a:buChar char="Ø"/>
            </a:pPr>
            <a:r>
              <a:rPr lang="en-US" sz="2400" dirty="0" smtClean="0"/>
              <a:t>Identifying normal or pathological human gait poses many challenges. Therefore a robust method for detecting and capturing the body, face and/or gait of each individual person has to be found. </a:t>
            </a:r>
          </a:p>
          <a:p>
            <a:pPr algn="just"/>
            <a:r>
              <a:rPr lang="en-US" sz="2400" dirty="0" smtClean="0"/>
              <a:t>Human gait is supposed as unique biometric identification like thumb print. So in GAIT analysis to examine the human walking moment we collect and analyze the data. Human gait can be utilized to identify people for diverse security reason and exercised before to detect many abnormalities. </a:t>
            </a:r>
            <a:endParaRPr lang="en-IN" sz="2400" dirty="0" smtClean="0"/>
          </a:p>
          <a:p>
            <a:pPr algn="just"/>
            <a:r>
              <a:rPr lang="en-US" sz="2400" dirty="0" smtClean="0"/>
              <a:t>The GAIT data can be useful to help in walking of old people and is used in pattern analysis and classification of different walk. </a:t>
            </a:r>
            <a:endParaRPr lang="en-IN" sz="2400" dirty="0" smtClean="0"/>
          </a:p>
          <a:p>
            <a:pPr algn="just">
              <a:buFont typeface="Wingdings" pitchFamily="2" charset="2"/>
              <a:buChar char="Ø"/>
            </a:pPr>
            <a:endParaRPr lang="en-US" sz="2000" dirty="0" smtClean="0"/>
          </a:p>
          <a:p>
            <a:pPr algn="just">
              <a:buFont typeface="Wingdings" pitchFamily="2" charset="2"/>
              <a:buChar char="Ø"/>
            </a:pPr>
            <a:endParaRPr lang="en-US" sz="2000" dirty="0"/>
          </a:p>
        </p:txBody>
      </p:sp>
      <p:grpSp>
        <p:nvGrpSpPr>
          <p:cNvPr id="2" name="Diagram group"/>
          <p:cNvGrpSpPr/>
          <p:nvPr/>
        </p:nvGrpSpPr>
        <p:grpSpPr>
          <a:xfrm>
            <a:off x="762000" y="152400"/>
            <a:ext cx="5562600" cy="981045"/>
            <a:chOff x="0" y="4777"/>
            <a:chExt cx="5562600" cy="981045"/>
          </a:xfrm>
          <a:scene3d>
            <a:camera prst="perspectiveRelaxed">
              <a:rot lat="19149996" lon="20104178" rev="1577324"/>
            </a:camera>
            <a:lightRig rig="soft" dir="t"/>
            <a:backdrop>
              <a:anchor x="0" y="0" z="-210000"/>
              <a:norm dx="0" dy="0" dz="914400"/>
              <a:up dx="0" dy="914400" dz="0"/>
            </a:backdrop>
          </a:scene3d>
        </p:grpSpPr>
        <p:grpSp>
          <p:nvGrpSpPr>
            <p:cNvPr id="5" name="Group 6"/>
            <p:cNvGrpSpPr/>
            <p:nvPr/>
          </p:nvGrpSpPr>
          <p:grpSpPr>
            <a:xfrm>
              <a:off x="0" y="4777"/>
              <a:ext cx="5562600" cy="981045"/>
              <a:chOff x="0" y="4777"/>
              <a:chExt cx="5562600" cy="981045"/>
            </a:xfrm>
          </p:grpSpPr>
          <p:sp>
            <p:nvSpPr>
              <p:cNvPr id="8" name="Rounded Rectangle 7"/>
              <p:cNvSpPr/>
              <p:nvPr/>
            </p:nvSpPr>
            <p:spPr>
              <a:xfrm>
                <a:off x="0" y="4777"/>
                <a:ext cx="5562600" cy="981045"/>
              </a:xfrm>
              <a:prstGeom prst="round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sp>
          <p:sp>
            <p:nvSpPr>
              <p:cNvPr id="9" name="Rounded Rectangle 4"/>
              <p:cNvSpPr/>
              <p:nvPr/>
            </p:nvSpPr>
            <p:spPr>
              <a:xfrm>
                <a:off x="47891" y="52668"/>
                <a:ext cx="5466818" cy="88526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defTabSz="1911350">
                  <a:lnSpc>
                    <a:spcPct val="90000"/>
                  </a:lnSpc>
                  <a:spcBef>
                    <a:spcPct val="0"/>
                  </a:spcBef>
                  <a:spcAft>
                    <a:spcPct val="35000"/>
                  </a:spcAft>
                </a:pPr>
                <a:r>
                  <a:rPr lang="en-US" sz="4400" dirty="0" smtClean="0"/>
                  <a:t>Proposed Solution  </a:t>
                </a:r>
                <a:endParaRPr lang="en-US" sz="4400" dirty="0"/>
              </a:p>
            </p:txBody>
          </p:sp>
        </p:gr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A9B8384-26D2-44B7-B750-847CEE8EDC79}" type="datetime1">
              <a:rPr lang="en-US" smtClean="0"/>
              <a:pPr/>
              <a:t>5/11/2026</a:t>
            </a:fld>
            <a:endParaRPr lang="en-US"/>
          </a:p>
        </p:txBody>
      </p:sp>
      <p:grpSp>
        <p:nvGrpSpPr>
          <p:cNvPr id="2" name="Diagram group"/>
          <p:cNvGrpSpPr/>
          <p:nvPr/>
        </p:nvGrpSpPr>
        <p:grpSpPr>
          <a:xfrm>
            <a:off x="762000" y="152400"/>
            <a:ext cx="5562600" cy="981045"/>
            <a:chOff x="0" y="4777"/>
            <a:chExt cx="5562600" cy="981045"/>
          </a:xfrm>
          <a:scene3d>
            <a:camera prst="perspectiveRelaxed">
              <a:rot lat="19149996" lon="20104178" rev="1577324"/>
            </a:camera>
            <a:lightRig rig="soft" dir="t"/>
            <a:backdrop>
              <a:anchor x="0" y="0" z="-210000"/>
              <a:norm dx="0" dy="0" dz="914400"/>
              <a:up dx="0" dy="914400" dz="0"/>
            </a:backdrop>
          </a:scene3d>
        </p:grpSpPr>
        <p:grpSp>
          <p:nvGrpSpPr>
            <p:cNvPr id="5" name="Group 6"/>
            <p:cNvGrpSpPr/>
            <p:nvPr/>
          </p:nvGrpSpPr>
          <p:grpSpPr>
            <a:xfrm>
              <a:off x="0" y="4777"/>
              <a:ext cx="5562600" cy="981045"/>
              <a:chOff x="0" y="4777"/>
              <a:chExt cx="5562600" cy="981045"/>
            </a:xfrm>
          </p:grpSpPr>
          <p:sp>
            <p:nvSpPr>
              <p:cNvPr id="8" name="Rounded Rectangle 7"/>
              <p:cNvSpPr/>
              <p:nvPr/>
            </p:nvSpPr>
            <p:spPr>
              <a:xfrm>
                <a:off x="0" y="4777"/>
                <a:ext cx="5562600" cy="981045"/>
              </a:xfrm>
              <a:prstGeom prst="round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sp>
          <p:sp>
            <p:nvSpPr>
              <p:cNvPr id="9" name="Rounded Rectangle 4"/>
              <p:cNvSpPr/>
              <p:nvPr/>
            </p:nvSpPr>
            <p:spPr>
              <a:xfrm>
                <a:off x="47891" y="52668"/>
                <a:ext cx="5466818" cy="88526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3830" tIns="163830" rIns="163830" bIns="163830" numCol="1" spcCol="1270" anchor="ctr" anchorCtr="0">
                <a:noAutofit/>
                <a:sp3d extrusionH="28000" prstMaterial="matte"/>
              </a:bodyPr>
              <a:lstStyle/>
              <a:p>
                <a:pPr lvl="0" defTabSz="1911350">
                  <a:lnSpc>
                    <a:spcPct val="90000"/>
                  </a:lnSpc>
                  <a:spcBef>
                    <a:spcPct val="0"/>
                  </a:spcBef>
                  <a:spcAft>
                    <a:spcPct val="35000"/>
                  </a:spcAft>
                </a:pPr>
                <a:r>
                  <a:rPr lang="en-US" sz="4000" dirty="0" smtClean="0"/>
                  <a:t>Proposed Solution  </a:t>
                </a:r>
                <a:endParaRPr lang="en-US" sz="4000" dirty="0"/>
              </a:p>
            </p:txBody>
          </p:sp>
        </p:grpSp>
      </p:grpSp>
      <p:sp>
        <p:nvSpPr>
          <p:cNvPr id="11" name="Content Placeholder 3"/>
          <p:cNvSpPr txBox="1">
            <a:spLocks/>
          </p:cNvSpPr>
          <p:nvPr/>
        </p:nvSpPr>
        <p:spPr>
          <a:xfrm>
            <a:off x="3581400" y="1828800"/>
            <a:ext cx="5562600" cy="3733800"/>
          </a:xfrm>
          <a:prstGeom prst="rect">
            <a:avLst/>
          </a:prstGeom>
        </p:spPr>
        <p:txBody>
          <a:bodyPr vert="horz">
            <a:normAutofit/>
          </a:bodyPr>
          <a:lstStyle/>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a:buNone/>
              <a:tabLst/>
              <a:defRPr/>
            </a:pPr>
            <a:r>
              <a:rPr kumimoji="0" lang="en-IN" sz="2400" b="0" i="0" u="none" strike="noStrike" kern="1200" cap="none" spc="0" normalizeH="0" baseline="0" noProof="0" dirty="0" smtClean="0">
                <a:ln>
                  <a:noFill/>
                </a:ln>
                <a:solidFill>
                  <a:schemeClr val="tx1"/>
                </a:solidFill>
                <a:effectLst/>
                <a:uLnTx/>
                <a:uFillTx/>
                <a:latin typeface="+mn-lt"/>
                <a:ea typeface="+mn-ea"/>
                <a:cs typeface="+mn-cs"/>
              </a:rPr>
              <a:t>    We have developed the computational model for prediction, formal verification and analyses of bipedal locomotion using machine learning technique for modelling.</a:t>
            </a:r>
          </a:p>
          <a:p>
            <a:pPr marL="320040" marR="0" lvl="0" indent="-320040" algn="just" defTabSz="914400" rtl="0" eaLnBrk="1" fontAlgn="auto" latinLnBrk="0" hangingPunct="1">
              <a:lnSpc>
                <a:spcPct val="100000"/>
              </a:lnSpc>
              <a:spcBef>
                <a:spcPts val="700"/>
              </a:spcBef>
              <a:spcAft>
                <a:spcPts val="0"/>
              </a:spcAft>
              <a:buClr>
                <a:schemeClr val="accent2"/>
              </a:buClr>
              <a:buSzPct val="60000"/>
              <a:buFont typeface="Wingdings"/>
              <a:buNone/>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descr="C:\Users\Anubha\Desktop\1.png"/>
          <p:cNvPicPr/>
          <p:nvPr/>
        </p:nvPicPr>
        <p:blipFill>
          <a:blip r:embed="rId2"/>
          <a:srcRect/>
          <a:stretch>
            <a:fillRect/>
          </a:stretch>
        </p:blipFill>
        <p:spPr bwMode="auto">
          <a:xfrm>
            <a:off x="0" y="1600200"/>
            <a:ext cx="3810000" cy="5257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Target.png"/>
          <p:cNvPicPr>
            <a:picLocks noChangeAspect="1"/>
          </p:cNvPicPr>
          <p:nvPr/>
        </p:nvPicPr>
        <p:blipFill>
          <a:blip r:embed="rId2"/>
          <a:stretch>
            <a:fillRect/>
          </a:stretch>
        </p:blipFill>
        <p:spPr>
          <a:xfrm>
            <a:off x="7391400" y="0"/>
            <a:ext cx="1752600" cy="1676400"/>
          </a:xfrm>
          <a:prstGeom prst="rect">
            <a:avLst/>
          </a:prstGeom>
        </p:spPr>
      </p:pic>
      <p:sp>
        <p:nvSpPr>
          <p:cNvPr id="5" name="Content Placeholder 4"/>
          <p:cNvSpPr>
            <a:spLocks noGrp="1"/>
          </p:cNvSpPr>
          <p:nvPr>
            <p:ph sz="quarter" idx="1"/>
          </p:nvPr>
        </p:nvSpPr>
        <p:spPr>
          <a:xfrm>
            <a:off x="0" y="1828800"/>
            <a:ext cx="9144000" cy="5410200"/>
          </a:xfrm>
        </p:spPr>
        <p:txBody>
          <a:bodyPr>
            <a:normAutofit/>
          </a:bodyPr>
          <a:lstStyle/>
          <a:p>
            <a:pPr algn="just"/>
            <a:r>
              <a:rPr lang="en-US" sz="4000" dirty="0" smtClean="0"/>
              <a:t>The aim of this paper is to evaluate and implement a sufficiently robust and accurate method for human to identify whether it’s a </a:t>
            </a:r>
            <a:r>
              <a:rPr lang="en-US" sz="4000" b="1" dirty="0" smtClean="0"/>
              <a:t>normal gait</a:t>
            </a:r>
            <a:r>
              <a:rPr lang="en-US" sz="4000" dirty="0" smtClean="0"/>
              <a:t> or </a:t>
            </a:r>
            <a:r>
              <a:rPr lang="en-US" sz="4000" b="1" dirty="0" smtClean="0"/>
              <a:t>pathological gait</a:t>
            </a:r>
            <a:r>
              <a:rPr lang="en-US" sz="4000" dirty="0" smtClean="0"/>
              <a:t> and to improve the speed and accuracy of classification in the presence of category hierarchies.</a:t>
            </a:r>
            <a:endParaRPr lang="en-IN" sz="4000" dirty="0"/>
          </a:p>
        </p:txBody>
      </p:sp>
      <p:sp>
        <p:nvSpPr>
          <p:cNvPr id="7" name="Date Placeholder 6"/>
          <p:cNvSpPr>
            <a:spLocks noGrp="1"/>
          </p:cNvSpPr>
          <p:nvPr>
            <p:ph type="dt" sz="half" idx="10"/>
          </p:nvPr>
        </p:nvSpPr>
        <p:spPr/>
        <p:txBody>
          <a:bodyPr/>
          <a:lstStyle/>
          <a:p>
            <a:fld id="{E2341D90-76AF-4FAE-AC6A-7E544818C926}" type="datetime1">
              <a:rPr lang="en-US" smtClean="0"/>
              <a:pPr/>
              <a:t>5/11/2026</a:t>
            </a:fld>
            <a:endParaRPr lang="en-US"/>
          </a:p>
        </p:txBody>
      </p:sp>
      <p:sp>
        <p:nvSpPr>
          <p:cNvPr id="8" name="TextBox 7"/>
          <p:cNvSpPr txBox="1"/>
          <p:nvPr/>
        </p:nvSpPr>
        <p:spPr>
          <a:xfrm>
            <a:off x="3657600" y="304800"/>
            <a:ext cx="3962400" cy="984885"/>
          </a:xfrm>
          <a:prstGeom prst="rect">
            <a:avLst/>
          </a:prstGeom>
          <a:noFill/>
        </p:spPr>
        <p:txBody>
          <a:bodyPr wrap="square" rtlCol="0">
            <a:spAutoFit/>
          </a:bodyPr>
          <a:lstStyle/>
          <a:p>
            <a:pPr marL="320040" lvl="0" indent="-320040">
              <a:spcBef>
                <a:spcPts val="700"/>
              </a:spcBef>
              <a:buClr>
                <a:srgbClr val="C0504D"/>
              </a:buClr>
              <a:buSzPct val="60000"/>
            </a:pPr>
            <a:r>
              <a:rPr lang="en-US" sz="4000" b="1" dirty="0" smtClean="0">
                <a:solidFill>
                  <a:srgbClr val="C00000"/>
                </a:solidFill>
              </a:rPr>
              <a:t>AIM</a:t>
            </a:r>
          </a:p>
          <a:p>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438400" y="1828800"/>
            <a:ext cx="6019800" cy="2209800"/>
          </a:xfrm>
        </p:spPr>
        <p:txBody>
          <a:bodyPr/>
          <a:lstStyle/>
          <a:p>
            <a:r>
              <a:rPr lang="en-US" b="1" cap="small" dirty="0" smtClean="0"/>
              <a:t>Methodology</a:t>
            </a:r>
            <a:endParaRPr lang="en-IN" b="1" cap="small" dirty="0"/>
          </a:p>
        </p:txBody>
      </p:sp>
      <p:sp>
        <p:nvSpPr>
          <p:cNvPr id="2051" name="Rectangle 3"/>
          <p:cNvSpPr>
            <a:spLocks noGrp="1" noChangeArrowheads="1"/>
          </p:cNvSpPr>
          <p:nvPr>
            <p:ph type="subTitle" idx="1"/>
          </p:nvPr>
        </p:nvSpPr>
        <p:spPr>
          <a:xfrm>
            <a:off x="3810000" y="5257800"/>
            <a:ext cx="2514600" cy="685800"/>
          </a:xfrm>
        </p:spPr>
        <p:txBody>
          <a:bodyPr/>
          <a:lstStyle/>
          <a:p>
            <a:endParaRPr lang="en-US" sz="3200" dirty="0">
              <a:latin typeface="Monotype Corsiva" pitchFamily="66" charset="0"/>
            </a:endParaRPr>
          </a:p>
          <a:p>
            <a:endParaRPr lang="en-US" sz="1800" dirty="0"/>
          </a:p>
        </p:txBody>
      </p:sp>
      <p:sp>
        <p:nvSpPr>
          <p:cNvPr id="6" name="Date Placeholder 4"/>
          <p:cNvSpPr txBox="1">
            <a:spLocks/>
          </p:cNvSpPr>
          <p:nvPr/>
        </p:nvSpPr>
        <p:spPr bwMode="auto">
          <a:xfrm>
            <a:off x="3581400" y="6400800"/>
            <a:ext cx="2544762" cy="225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1B1D258A-2AF9-43B9-BDAD-2FB9542B700C}" type="datetime2">
              <a:rPr kumimoji="0" lang="en-US" sz="1400" b="0" i="0" u="none" strike="noStrike" kern="1200" cap="none" spc="0" normalizeH="0" baseline="0" noProof="0" smtClean="0">
                <a:ln>
                  <a:noFill/>
                </a:ln>
                <a:solidFill>
                  <a:schemeClr val="tx1"/>
                </a:solidFill>
                <a:effectLst/>
                <a:uLnTx/>
                <a:uFillTx/>
                <a:latin typeface="Arial" pitchFamily="34" charset="0"/>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Monday, May 11, 2026</a:t>
            </a:fld>
            <a:endParaRPr kumimoji="0" lang="en-US" sz="1400" b="0" i="0" u="none" strike="noStrike" kern="1200" cap="none" spc="0" normalizeH="0" baseline="0" noProof="0" dirty="0" smtClean="0">
              <a:ln>
                <a:noFill/>
              </a:ln>
              <a:solidFill>
                <a:schemeClr val="tx1"/>
              </a:solidFill>
              <a:effectLst/>
              <a:uLnTx/>
              <a:uFillTx/>
              <a:latin typeface="Arial" pitchFamily="34" charset="0"/>
              <a:ea typeface="+mn-ea"/>
              <a:cs typeface="+mn-cs"/>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noAutofit/>
          </a:bodyPr>
          <a:lstStyle/>
          <a:p>
            <a:pPr algn="ctr"/>
            <a:r>
              <a:rPr lang="en-US" sz="6600" b="1" dirty="0" smtClean="0"/>
              <a:t>Proposed Work</a:t>
            </a:r>
            <a:endParaRPr lang="en-IN" sz="6600" b="1" i="1" dirty="0"/>
          </a:p>
        </p:txBody>
      </p:sp>
      <p:sp>
        <p:nvSpPr>
          <p:cNvPr id="2053" name="Date Placeholder 4"/>
          <p:cNvSpPr>
            <a:spLocks noGrp="1"/>
          </p:cNvSpPr>
          <p:nvPr>
            <p:ph type="dt" sz="quarter" idx="10"/>
          </p:nvPr>
        </p:nvSpPr>
        <p:spPr>
          <a:xfrm>
            <a:off x="6096000" y="6492875"/>
            <a:ext cx="2667000" cy="365125"/>
          </a:xfrm>
          <a:noFill/>
        </p:spPr>
        <p:txBody>
          <a:bodyPr/>
          <a:lstStyle/>
          <a:p>
            <a:fld id="{67CDE388-59F3-43A5-A150-85E8246D6C9D}" type="datetime2">
              <a:rPr lang="en-US" smtClean="0">
                <a:latin typeface="Arial" pitchFamily="34" charset="0"/>
              </a:rPr>
              <a:pPr/>
              <a:t>Monday, May 11, 2026</a:t>
            </a:fld>
            <a:endParaRPr lang="en-US" smtClean="0">
              <a:latin typeface="Arial" pitchFamily="34" charset="0"/>
            </a:endParaRPr>
          </a:p>
        </p:txBody>
      </p:sp>
      <p:sp>
        <p:nvSpPr>
          <p:cNvPr id="2054" name="Slide Number Placeholder 5"/>
          <p:cNvSpPr>
            <a:spLocks noGrp="1"/>
          </p:cNvSpPr>
          <p:nvPr>
            <p:ph type="sldNum" sz="quarter" idx="12"/>
          </p:nvPr>
        </p:nvSpPr>
        <p:spPr>
          <a:noFill/>
        </p:spPr>
        <p:txBody>
          <a:bodyPr>
            <a:normAutofit fontScale="85000" lnSpcReduction="20000"/>
          </a:bodyPr>
          <a:lstStyle/>
          <a:p>
            <a:fld id="{5326323E-1B8A-4C3C-A1BD-C6E44F848370}" type="slidenum">
              <a:rPr lang="en-US" smtClean="0">
                <a:latin typeface="Arial" pitchFamily="34" charset="0"/>
              </a:rPr>
              <a:pPr/>
              <a:t>10</a:t>
            </a:fld>
            <a:endParaRPr lang="en-US" dirty="0" smtClean="0">
              <a:latin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914400" y="1371600"/>
            <a:ext cx="7562850" cy="5124450"/>
          </a:xfrm>
          <a:prstGeom prst="rect">
            <a:avLst/>
          </a:prstGeom>
          <a:noFill/>
          <a:ln w="9525">
            <a:noFill/>
            <a:miter lim="800000"/>
            <a:headEnd/>
            <a:tailEnd/>
          </a:ln>
          <a:effectLst/>
        </p:spPr>
      </p:pic>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609600" y="152400"/>
            <a:ext cx="8229600" cy="685800"/>
          </a:xfrm>
        </p:spPr>
        <p:txBody>
          <a:bodyPr>
            <a:normAutofit fontScale="90000"/>
          </a:bodyPr>
          <a:lstStyle/>
          <a:p>
            <a:pPr algn="ctr"/>
            <a:r>
              <a:rPr lang="en-US" b="1" cap="small" dirty="0" smtClean="0"/>
              <a:t>Methodology</a:t>
            </a:r>
            <a:endParaRPr lang="en-US" dirty="0"/>
          </a:p>
        </p:txBody>
      </p:sp>
      <p:sp>
        <p:nvSpPr>
          <p:cNvPr id="19" name="TextBox 18"/>
          <p:cNvSpPr txBox="1"/>
          <p:nvPr/>
        </p:nvSpPr>
        <p:spPr>
          <a:xfrm>
            <a:off x="381000" y="1828800"/>
            <a:ext cx="8458200" cy="4401205"/>
          </a:xfrm>
          <a:prstGeom prst="rect">
            <a:avLst/>
          </a:prstGeom>
          <a:noFill/>
        </p:spPr>
        <p:txBody>
          <a:bodyPr wrap="square" rtlCol="0">
            <a:spAutoFit/>
          </a:bodyPr>
          <a:lstStyle/>
          <a:p>
            <a:pPr algn="just">
              <a:buFont typeface="Wingdings" pitchFamily="2" charset="2"/>
              <a:buChar char="Ø"/>
            </a:pPr>
            <a:r>
              <a:rPr lang="en-IN" sz="2800" dirty="0" smtClean="0"/>
              <a:t>Firstly we collect the GAIT data then features are extracted and we classify the GAIT dataset. </a:t>
            </a:r>
          </a:p>
          <a:p>
            <a:pPr algn="just"/>
            <a:endParaRPr lang="en-IN" sz="2800" dirty="0" smtClean="0"/>
          </a:p>
          <a:p>
            <a:pPr algn="just">
              <a:buFont typeface="Wingdings" pitchFamily="2" charset="2"/>
              <a:buChar char="Ø"/>
            </a:pPr>
            <a:r>
              <a:rPr lang="en-IN" sz="2800" dirty="0" smtClean="0"/>
              <a:t>Training and testing of system is done. </a:t>
            </a:r>
          </a:p>
          <a:p>
            <a:pPr algn="just"/>
            <a:endParaRPr lang="en-IN" sz="2800" dirty="0" smtClean="0"/>
          </a:p>
          <a:p>
            <a:pPr algn="just">
              <a:buFont typeface="Wingdings" pitchFamily="2" charset="2"/>
              <a:buChar char="Ø"/>
            </a:pPr>
            <a:r>
              <a:rPr lang="en-IN" sz="2800" dirty="0" smtClean="0"/>
              <a:t>After the classification is done result is shown as normal or pathological GAIT. </a:t>
            </a:r>
          </a:p>
          <a:p>
            <a:pPr algn="just"/>
            <a:endParaRPr lang="en-IN" sz="2800" dirty="0" smtClean="0"/>
          </a:p>
          <a:p>
            <a:pPr algn="just">
              <a:buFont typeface="Wingdings" pitchFamily="2" charset="2"/>
              <a:buChar char="Ø"/>
            </a:pPr>
            <a:r>
              <a:rPr lang="en-IN" sz="2800" dirty="0" smtClean="0"/>
              <a:t>Then </a:t>
            </a:r>
            <a:r>
              <a:rPr lang="en-US" sz="2800" dirty="0" smtClean="0"/>
              <a:t>10 fold cross-validation test is also conducted to validate the statistical significance of the results.</a:t>
            </a:r>
            <a:endParaRPr lang="en-IN" sz="2800" dirty="0"/>
          </a:p>
        </p:txBody>
      </p:sp>
      <p:sp>
        <p:nvSpPr>
          <p:cNvPr id="21" name="Date Placeholder 4"/>
          <p:cNvSpPr>
            <a:spLocks noGrp="1"/>
          </p:cNvSpPr>
          <p:nvPr>
            <p:ph type="dt" sz="quarter" idx="10"/>
          </p:nvPr>
        </p:nvSpPr>
        <p:spPr>
          <a:xfrm>
            <a:off x="3856038" y="6553200"/>
            <a:ext cx="2544762" cy="225425"/>
          </a:xfrm>
          <a:noFill/>
        </p:spPr>
        <p:txBody>
          <a:bodyPr/>
          <a:lstStyle/>
          <a:p>
            <a:fld id="{1B1D258A-2AF9-43B9-BDAD-2FB9542B700C}" type="datetime2">
              <a:rPr lang="en-US" smtClean="0">
                <a:latin typeface="Arial" pitchFamily="34" charset="0"/>
              </a:rPr>
              <a:pPr/>
              <a:t>Monday, May 11, 2026</a:t>
            </a:fld>
            <a:endParaRPr lang="en-US" dirty="0" smtClean="0">
              <a:latin typeface="Arial" pitchFamily="34" charset="0"/>
            </a:endParaRPr>
          </a:p>
        </p:txBody>
      </p:sp>
      <p:sp>
        <p:nvSpPr>
          <p:cNvPr id="22" name="Slide Number Placeholder 5"/>
          <p:cNvSpPr>
            <a:spLocks noGrp="1"/>
          </p:cNvSpPr>
          <p:nvPr>
            <p:ph type="sldNum" sz="quarter" idx="12"/>
          </p:nvPr>
        </p:nvSpPr>
        <p:spPr>
          <a:xfrm>
            <a:off x="6964363" y="6518275"/>
            <a:ext cx="2133600" cy="244475"/>
          </a:xfrm>
          <a:noFill/>
        </p:spPr>
        <p:txBody>
          <a:bodyPr>
            <a:normAutofit fontScale="85000" lnSpcReduction="20000"/>
          </a:bodyPr>
          <a:lstStyle/>
          <a:p>
            <a:fld id="{DC1B73F0-0209-41B0-9CD2-2EFAE975F811}" type="slidenum">
              <a:rPr lang="en-US" smtClean="0">
                <a:latin typeface="Arial" pitchFamily="34" charset="0"/>
              </a:rPr>
              <a:pPr/>
              <a:t>11</a:t>
            </a:fld>
            <a:endParaRPr lang="en-US" dirty="0" smtClean="0">
              <a:latin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eaLnBrk="1" hangingPunct="1"/>
            <a:r>
              <a:rPr lang="en-US" sz="3200" b="1" dirty="0" smtClean="0"/>
              <a:t>Data Collection</a:t>
            </a:r>
            <a:endParaRPr lang="th-TH" sz="3200" dirty="0" smtClean="0"/>
          </a:p>
        </p:txBody>
      </p:sp>
      <p:sp>
        <p:nvSpPr>
          <p:cNvPr id="28675" name="Rectangle 3"/>
          <p:cNvSpPr>
            <a:spLocks noGrp="1" noChangeArrowheads="1"/>
          </p:cNvSpPr>
          <p:nvPr>
            <p:ph type="body" idx="1"/>
          </p:nvPr>
        </p:nvSpPr>
        <p:spPr/>
        <p:txBody>
          <a:bodyPr/>
          <a:lstStyle/>
          <a:p>
            <a:pPr algn="just"/>
            <a:r>
              <a:rPr lang="en-US" b="1" dirty="0" smtClean="0"/>
              <a:t>HMCD</a:t>
            </a:r>
            <a:endParaRPr lang="en-IN" dirty="0" smtClean="0"/>
          </a:p>
          <a:p>
            <a:pPr algn="just"/>
            <a:r>
              <a:rPr lang="en-US" dirty="0" smtClean="0"/>
              <a:t>To capture the human data we use HMCD. From this device different joint angles (knee, hip, and ankle) are captured to get the human GAIT data.</a:t>
            </a:r>
          </a:p>
          <a:p>
            <a:pPr algn="just">
              <a:buNone/>
            </a:pPr>
            <a:endParaRPr lang="th-TH" dirty="0" smtClean="0"/>
          </a:p>
        </p:txBody>
      </p:sp>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Monday, May 11, 2026</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12</a:t>
            </a:fld>
            <a:endParaRPr lang="en-US" dirty="0"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613648" cy="914400"/>
          </a:xfrm>
        </p:spPr>
        <p:txBody>
          <a:bodyPr>
            <a:noAutofit/>
          </a:bodyPr>
          <a:lstStyle/>
          <a:p>
            <a:pPr lvl="0" algn="ctr"/>
            <a:r>
              <a:rPr lang="en-US" sz="4800" dirty="0" smtClean="0">
                <a:solidFill>
                  <a:srgbClr val="FF0000"/>
                </a:solidFill>
              </a:rPr>
              <a:t>Empirical Study of Gait by HMCD </a:t>
            </a:r>
            <a:endParaRPr lang="en-US" sz="4800" dirty="0">
              <a:solidFill>
                <a:srgbClr val="FF0000"/>
              </a:solidFill>
            </a:endParaRPr>
          </a:p>
        </p:txBody>
      </p:sp>
      <p:sp>
        <p:nvSpPr>
          <p:cNvPr id="3" name="Date Placeholder 2"/>
          <p:cNvSpPr>
            <a:spLocks noGrp="1"/>
          </p:cNvSpPr>
          <p:nvPr>
            <p:ph type="dt" sz="half" idx="10"/>
          </p:nvPr>
        </p:nvSpPr>
        <p:spPr/>
        <p:txBody>
          <a:bodyPr/>
          <a:lstStyle/>
          <a:p>
            <a:fld id="{5A9B8384-26D2-44B7-B750-847CEE8EDC79}" type="datetime1">
              <a:rPr lang="en-US" smtClean="0"/>
              <a:pPr/>
              <a:t>5/11/2026</a:t>
            </a:fld>
            <a:endParaRPr lang="en-US"/>
          </a:p>
        </p:txBody>
      </p:sp>
      <p:pic>
        <p:nvPicPr>
          <p:cNvPr id="9" name="Picture 8" descr="Presentation1.emf"/>
          <p:cNvPicPr>
            <a:picLocks noChangeAspect="1"/>
          </p:cNvPicPr>
          <p:nvPr/>
        </p:nvPicPr>
        <p:blipFill>
          <a:blip r:embed="rId2"/>
          <a:srcRect l="20833" t="26154" r="30833"/>
          <a:stretch>
            <a:fillRect/>
          </a:stretch>
        </p:blipFill>
        <p:spPr>
          <a:xfrm>
            <a:off x="3657600" y="2133600"/>
            <a:ext cx="2590800" cy="36576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rmAutofit/>
          </a:bodyPr>
          <a:lstStyle/>
          <a:p>
            <a:pPr algn="ctr"/>
            <a:r>
              <a:rPr lang="en-US" sz="5400" dirty="0" smtClean="0">
                <a:solidFill>
                  <a:srgbClr val="FF0000"/>
                </a:solidFill>
                <a:latin typeface="Times New Roman" pitchFamily="18" charset="0"/>
                <a:cs typeface="Times New Roman" pitchFamily="18" charset="0"/>
              </a:rPr>
              <a:t>Analysis of dataset</a:t>
            </a:r>
            <a:endParaRPr lang="en-US" sz="5400" dirty="0" smtClean="0"/>
          </a:p>
        </p:txBody>
      </p:sp>
      <p:sp>
        <p:nvSpPr>
          <p:cNvPr id="34820" name="Date Placeholder 3"/>
          <p:cNvSpPr>
            <a:spLocks noGrp="1"/>
          </p:cNvSpPr>
          <p:nvPr>
            <p:ph type="dt" sz="quarter" idx="10"/>
          </p:nvPr>
        </p:nvSpPr>
        <p:spPr>
          <a:noFill/>
        </p:spPr>
        <p:txBody>
          <a:bodyPr/>
          <a:lstStyle/>
          <a:p>
            <a:fld id="{ED87B881-D1E2-478F-9EBD-423906902938}" type="datetime2">
              <a:rPr lang="en-US" smtClean="0">
                <a:latin typeface="Arial" pitchFamily="34" charset="0"/>
              </a:rPr>
              <a:pPr/>
              <a:t>Monday, May 11, 2026</a:t>
            </a:fld>
            <a:endParaRPr lang="en-US" smtClean="0">
              <a:latin typeface="Arial" pitchFamily="34" charset="0"/>
            </a:endParaRPr>
          </a:p>
        </p:txBody>
      </p:sp>
      <p:sp>
        <p:nvSpPr>
          <p:cNvPr id="34822" name="Slide Number Placeholder 5"/>
          <p:cNvSpPr>
            <a:spLocks noGrp="1"/>
          </p:cNvSpPr>
          <p:nvPr>
            <p:ph type="sldNum" sz="quarter" idx="12"/>
          </p:nvPr>
        </p:nvSpPr>
        <p:spPr>
          <a:noFill/>
        </p:spPr>
        <p:txBody>
          <a:bodyPr>
            <a:normAutofit fontScale="85000" lnSpcReduction="20000"/>
          </a:bodyPr>
          <a:lstStyle/>
          <a:p>
            <a:fld id="{420A6A98-A546-4019-A9C9-E0D413348357}" type="slidenum">
              <a:rPr lang="en-US" smtClean="0">
                <a:latin typeface="Arial" pitchFamily="34" charset="0"/>
              </a:rPr>
              <a:pPr/>
              <a:t>14</a:t>
            </a:fld>
            <a:endParaRPr lang="en-US" smtClean="0">
              <a:latin typeface="Arial" pitchFamily="34" charset="0"/>
            </a:endParaRPr>
          </a:p>
        </p:txBody>
      </p:sp>
      <p:sp>
        <p:nvSpPr>
          <p:cNvPr id="8" name="TextBox 7"/>
          <p:cNvSpPr txBox="1"/>
          <p:nvPr/>
        </p:nvSpPr>
        <p:spPr>
          <a:xfrm>
            <a:off x="381000" y="1524000"/>
            <a:ext cx="8458200" cy="3754874"/>
          </a:xfrm>
          <a:prstGeom prst="rect">
            <a:avLst/>
          </a:prstGeom>
          <a:noFill/>
        </p:spPr>
        <p:txBody>
          <a:bodyPr wrap="square" rtlCol="0">
            <a:spAutoFit/>
          </a:bodyPr>
          <a:lstStyle/>
          <a:p>
            <a:pPr algn="just"/>
            <a:r>
              <a:rPr lang="en-US" sz="4400" dirty="0" smtClean="0"/>
              <a:t>When the dataset is simulated, then the coordinates of the human GAIT data set is captured and shown in figure for crouch2, crouch3, crouch4, normal datasets respectively.</a:t>
            </a:r>
            <a:endParaRPr lang="en-IN" sz="4400" dirty="0" smtClean="0"/>
          </a:p>
          <a:p>
            <a:pPr algn="just"/>
            <a:endParaRPr lang="en-IN"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Autofit/>
          </a:bodyPr>
          <a:lstStyle/>
          <a:p>
            <a:pPr algn="ctr" eaLnBrk="1" hangingPunct="1"/>
            <a:r>
              <a:rPr lang="en-US" dirty="0" smtClean="0"/>
              <a:t>Simulation of dataset in </a:t>
            </a:r>
            <a:r>
              <a:rPr lang="en-US" dirty="0" err="1" smtClean="0"/>
              <a:t>openSim</a:t>
            </a:r>
            <a:endParaRPr lang="th-TH" dirty="0" smtClean="0"/>
          </a:p>
        </p:txBody>
      </p:sp>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Monday, May 11, 2026</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15</a:t>
            </a:fld>
            <a:endParaRPr lang="en-US" smtClean="0">
              <a:latin typeface="Arial" pitchFamily="34" charset="0"/>
            </a:endParaRPr>
          </a:p>
        </p:txBody>
      </p:sp>
      <p:pic>
        <p:nvPicPr>
          <p:cNvPr id="41985" name="Picture 12" descr="fig1"/>
          <p:cNvPicPr>
            <a:picLocks noChangeAspect="1" noChangeArrowheads="1"/>
          </p:cNvPicPr>
          <p:nvPr/>
        </p:nvPicPr>
        <p:blipFill>
          <a:blip r:embed="rId2"/>
          <a:srcRect/>
          <a:stretch>
            <a:fillRect/>
          </a:stretch>
        </p:blipFill>
        <p:spPr bwMode="auto">
          <a:xfrm>
            <a:off x="914400" y="1752600"/>
            <a:ext cx="7696200" cy="4459605"/>
          </a:xfrm>
          <a:prstGeom prst="rect">
            <a:avLst/>
          </a:prstGeom>
          <a:noFill/>
          <a:ln w="9525">
            <a:noFill/>
            <a:miter lim="800000"/>
            <a:headEnd/>
            <a:tailEnd/>
          </a:ln>
        </p:spPr>
      </p:pic>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algn="ctr"/>
            <a:r>
              <a:rPr lang="en-US" dirty="0" smtClean="0"/>
              <a:t>Values of crouch2 dataset</a:t>
            </a:r>
            <a:endParaRPr lang="th-TH" dirty="0" smtClean="0"/>
          </a:p>
        </p:txBody>
      </p:sp>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Monday, May 11, 2026</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16</a:t>
            </a:fld>
            <a:endParaRPr lang="en-US" smtClean="0">
              <a:latin typeface="Arial" pitchFamily="34" charset="0"/>
            </a:endParaRPr>
          </a:p>
        </p:txBody>
      </p:sp>
      <p:pic>
        <p:nvPicPr>
          <p:cNvPr id="48130" name="Picture 13" descr="fig2"/>
          <p:cNvPicPr>
            <a:picLocks noChangeAspect="1" noChangeArrowheads="1"/>
          </p:cNvPicPr>
          <p:nvPr/>
        </p:nvPicPr>
        <p:blipFill>
          <a:blip r:embed="rId2"/>
          <a:srcRect/>
          <a:stretch>
            <a:fillRect/>
          </a:stretch>
        </p:blipFill>
        <p:spPr bwMode="auto">
          <a:xfrm>
            <a:off x="457200" y="1600200"/>
            <a:ext cx="8524703" cy="4648200"/>
          </a:xfrm>
          <a:prstGeom prst="rect">
            <a:avLst/>
          </a:prstGeom>
          <a:noFill/>
          <a:ln w="9525">
            <a:noFill/>
            <a:miter lim="800000"/>
            <a:headEnd/>
            <a:tailEnd/>
          </a:ln>
        </p:spPr>
      </p:pic>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algn="ctr"/>
            <a:r>
              <a:rPr lang="en-US" dirty="0" smtClean="0"/>
              <a:t>Values of crouch3 dataset</a:t>
            </a:r>
            <a:endParaRPr lang="th-TH" dirty="0" smtClean="0"/>
          </a:p>
        </p:txBody>
      </p:sp>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Monday, May 11, 2026</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17</a:t>
            </a:fld>
            <a:endParaRPr lang="en-US" smtClean="0">
              <a:latin typeface="Arial" pitchFamily="34" charset="0"/>
            </a:endParaRPr>
          </a:p>
        </p:txBody>
      </p:sp>
      <p:pic>
        <p:nvPicPr>
          <p:cNvPr id="49154" name="Picture 14" descr="fig3"/>
          <p:cNvPicPr>
            <a:picLocks noChangeAspect="1" noChangeArrowheads="1"/>
          </p:cNvPicPr>
          <p:nvPr/>
        </p:nvPicPr>
        <p:blipFill>
          <a:blip r:embed="rId2"/>
          <a:srcRect/>
          <a:stretch>
            <a:fillRect/>
          </a:stretch>
        </p:blipFill>
        <p:spPr bwMode="auto">
          <a:xfrm>
            <a:off x="762000" y="1600200"/>
            <a:ext cx="8077200" cy="4700303"/>
          </a:xfrm>
          <a:prstGeom prst="rect">
            <a:avLst/>
          </a:prstGeom>
          <a:noFill/>
          <a:ln w="9525">
            <a:noFill/>
            <a:miter lim="800000"/>
            <a:headEnd/>
            <a:tailEnd/>
          </a:ln>
        </p:spPr>
      </p:pic>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algn="ctr"/>
            <a:r>
              <a:rPr lang="en-US" dirty="0" smtClean="0"/>
              <a:t>Values of crouch4 dataset</a:t>
            </a:r>
            <a:endParaRPr lang="th-TH" dirty="0" smtClean="0"/>
          </a:p>
        </p:txBody>
      </p:sp>
      <p:sp>
        <p:nvSpPr>
          <p:cNvPr id="28677" name="Date Placeholder 4"/>
          <p:cNvSpPr>
            <a:spLocks noGrp="1"/>
          </p:cNvSpPr>
          <p:nvPr>
            <p:ph type="dt" sz="quarter" idx="10"/>
          </p:nvPr>
        </p:nvSpPr>
        <p:spPr>
          <a:noFill/>
        </p:spPr>
        <p:txBody>
          <a:bodyPr/>
          <a:lstStyle/>
          <a:p>
            <a:fld id="{1B1D258A-2AF9-43B9-BDAD-2FB9542B700C}" type="datetime2">
              <a:rPr lang="en-US" smtClean="0">
                <a:latin typeface="Arial" pitchFamily="34" charset="0"/>
              </a:rPr>
              <a:pPr/>
              <a:t>Monday, May 11, 2026</a:t>
            </a:fld>
            <a:endParaRPr lang="en-US" dirty="0" smtClean="0">
              <a:latin typeface="Arial" pitchFamily="34" charset="0"/>
            </a:endParaRPr>
          </a:p>
        </p:txBody>
      </p:sp>
      <p:sp>
        <p:nvSpPr>
          <p:cNvPr id="28678" name="Slide Number Placeholder 5"/>
          <p:cNvSpPr>
            <a:spLocks noGrp="1"/>
          </p:cNvSpPr>
          <p:nvPr>
            <p:ph type="sldNum" sz="quarter" idx="12"/>
          </p:nvPr>
        </p:nvSpPr>
        <p:spPr>
          <a:noFill/>
        </p:spPr>
        <p:txBody>
          <a:bodyPr>
            <a:normAutofit fontScale="85000" lnSpcReduction="20000"/>
          </a:bodyPr>
          <a:lstStyle/>
          <a:p>
            <a:fld id="{DC1B73F0-0209-41B0-9CD2-2EFAE975F811}" type="slidenum">
              <a:rPr lang="en-US" smtClean="0">
                <a:latin typeface="Arial" pitchFamily="34" charset="0"/>
              </a:rPr>
              <a:pPr/>
              <a:t>18</a:t>
            </a:fld>
            <a:endParaRPr lang="en-US" smtClean="0">
              <a:latin typeface="Arial" pitchFamily="34" charset="0"/>
            </a:endParaRPr>
          </a:p>
        </p:txBody>
      </p:sp>
      <p:pic>
        <p:nvPicPr>
          <p:cNvPr id="50178" name="Picture 15" descr="fig4"/>
          <p:cNvPicPr>
            <a:picLocks noChangeAspect="1" noChangeArrowheads="1"/>
          </p:cNvPicPr>
          <p:nvPr/>
        </p:nvPicPr>
        <p:blipFill>
          <a:blip r:embed="rId2"/>
          <a:srcRect/>
          <a:stretch>
            <a:fillRect/>
          </a:stretch>
        </p:blipFill>
        <p:spPr bwMode="auto">
          <a:xfrm>
            <a:off x="533401" y="1676400"/>
            <a:ext cx="7906104" cy="4572000"/>
          </a:xfrm>
          <a:prstGeom prst="rect">
            <a:avLst/>
          </a:prstGeom>
          <a:noFill/>
          <a:ln w="9525">
            <a:noFill/>
            <a:miter lim="800000"/>
            <a:headEnd/>
            <a:tailEnd/>
          </a:ln>
        </p:spPr>
      </p:pic>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Autofit/>
          </a:bodyPr>
          <a:lstStyle/>
          <a:p>
            <a:pPr algn="ctr"/>
            <a:r>
              <a:rPr lang="en-US" sz="4000" dirty="0" smtClean="0"/>
              <a:t>Values of normal dataset</a:t>
            </a:r>
          </a:p>
        </p:txBody>
      </p:sp>
      <p:sp>
        <p:nvSpPr>
          <p:cNvPr id="34820" name="Date Placeholder 3"/>
          <p:cNvSpPr>
            <a:spLocks noGrp="1"/>
          </p:cNvSpPr>
          <p:nvPr>
            <p:ph type="dt" sz="quarter" idx="10"/>
          </p:nvPr>
        </p:nvSpPr>
        <p:spPr>
          <a:noFill/>
        </p:spPr>
        <p:txBody>
          <a:bodyPr/>
          <a:lstStyle/>
          <a:p>
            <a:fld id="{ED87B881-D1E2-478F-9EBD-423906902938}" type="datetime2">
              <a:rPr lang="en-US" smtClean="0">
                <a:latin typeface="Arial" pitchFamily="34" charset="0"/>
              </a:rPr>
              <a:pPr/>
              <a:t>Monday, May 11, 2026</a:t>
            </a:fld>
            <a:endParaRPr lang="en-US" smtClean="0">
              <a:latin typeface="Arial" pitchFamily="34" charset="0"/>
            </a:endParaRPr>
          </a:p>
        </p:txBody>
      </p:sp>
      <p:sp>
        <p:nvSpPr>
          <p:cNvPr id="34822" name="Slide Number Placeholder 5"/>
          <p:cNvSpPr>
            <a:spLocks noGrp="1"/>
          </p:cNvSpPr>
          <p:nvPr>
            <p:ph type="sldNum" sz="quarter" idx="12"/>
          </p:nvPr>
        </p:nvSpPr>
        <p:spPr>
          <a:noFill/>
        </p:spPr>
        <p:txBody>
          <a:bodyPr>
            <a:normAutofit fontScale="85000" lnSpcReduction="20000"/>
          </a:bodyPr>
          <a:lstStyle/>
          <a:p>
            <a:fld id="{420A6A98-A546-4019-A9C9-E0D413348357}" type="slidenum">
              <a:rPr lang="en-US" smtClean="0">
                <a:latin typeface="Arial" pitchFamily="34" charset="0"/>
              </a:rPr>
              <a:pPr/>
              <a:t>19</a:t>
            </a:fld>
            <a:endParaRPr lang="en-US" smtClean="0">
              <a:latin typeface="Arial" pitchFamily="34" charset="0"/>
            </a:endParaRPr>
          </a:p>
        </p:txBody>
      </p:sp>
      <p:pic>
        <p:nvPicPr>
          <p:cNvPr id="26625" name="Picture 15" descr="fig4"/>
          <p:cNvPicPr>
            <a:picLocks noChangeAspect="1" noChangeArrowheads="1"/>
          </p:cNvPicPr>
          <p:nvPr/>
        </p:nvPicPr>
        <p:blipFill>
          <a:blip r:embed="rId2"/>
          <a:srcRect/>
          <a:stretch>
            <a:fillRect/>
          </a:stretch>
        </p:blipFill>
        <p:spPr bwMode="auto">
          <a:xfrm>
            <a:off x="914400" y="1600200"/>
            <a:ext cx="7696200" cy="4648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rmAutofit/>
          </a:bodyPr>
          <a:lstStyle/>
          <a:p>
            <a:pPr algn="ctr"/>
            <a:r>
              <a:rPr lang="en-US" sz="4800" b="1" dirty="0" smtClean="0"/>
              <a:t>Feature Selection</a:t>
            </a:r>
            <a:endParaRPr lang="en-IN" sz="4800" dirty="0"/>
          </a:p>
        </p:txBody>
      </p:sp>
      <p:sp>
        <p:nvSpPr>
          <p:cNvPr id="34820" name="Date Placeholder 3"/>
          <p:cNvSpPr>
            <a:spLocks noGrp="1"/>
          </p:cNvSpPr>
          <p:nvPr>
            <p:ph type="dt" sz="quarter" idx="10"/>
          </p:nvPr>
        </p:nvSpPr>
        <p:spPr>
          <a:noFill/>
        </p:spPr>
        <p:txBody>
          <a:bodyPr/>
          <a:lstStyle/>
          <a:p>
            <a:fld id="{ED87B881-D1E2-478F-9EBD-423906902938}" type="datetime2">
              <a:rPr lang="en-US" smtClean="0">
                <a:latin typeface="Arial" pitchFamily="34" charset="0"/>
              </a:rPr>
              <a:pPr/>
              <a:t>Monday, May 11, 2026</a:t>
            </a:fld>
            <a:endParaRPr lang="en-US" smtClean="0">
              <a:latin typeface="Arial" pitchFamily="34" charset="0"/>
            </a:endParaRPr>
          </a:p>
        </p:txBody>
      </p:sp>
      <p:sp>
        <p:nvSpPr>
          <p:cNvPr id="34822" name="Slide Number Placeholder 5"/>
          <p:cNvSpPr>
            <a:spLocks noGrp="1"/>
          </p:cNvSpPr>
          <p:nvPr>
            <p:ph type="sldNum" sz="quarter" idx="12"/>
          </p:nvPr>
        </p:nvSpPr>
        <p:spPr>
          <a:noFill/>
        </p:spPr>
        <p:txBody>
          <a:bodyPr>
            <a:normAutofit fontScale="85000" lnSpcReduction="20000"/>
          </a:bodyPr>
          <a:lstStyle/>
          <a:p>
            <a:fld id="{420A6A98-A546-4019-A9C9-E0D413348357}" type="slidenum">
              <a:rPr lang="en-US" smtClean="0">
                <a:latin typeface="Arial" pitchFamily="34" charset="0"/>
              </a:rPr>
              <a:pPr/>
              <a:t>20</a:t>
            </a:fld>
            <a:endParaRPr lang="en-US" smtClean="0">
              <a:latin typeface="Arial" pitchFamily="34" charset="0"/>
            </a:endParaRPr>
          </a:p>
        </p:txBody>
      </p:sp>
      <p:graphicFrame>
        <p:nvGraphicFramePr>
          <p:cNvPr id="7" name="Table 6"/>
          <p:cNvGraphicFramePr>
            <a:graphicFrameLocks noGrp="1"/>
          </p:cNvGraphicFramePr>
          <p:nvPr/>
        </p:nvGraphicFramePr>
        <p:xfrm>
          <a:off x="3276600" y="1600200"/>
          <a:ext cx="2637948" cy="4394194"/>
        </p:xfrm>
        <a:graphic>
          <a:graphicData uri="http://schemas.openxmlformats.org/drawingml/2006/table">
            <a:tbl>
              <a:tblPr/>
              <a:tblGrid>
                <a:gridCol w="1286212">
                  <a:extLst>
                    <a:ext uri="{9D8B030D-6E8A-4147-A177-3AD203B41FA5}">
                      <a16:colId xmlns:a16="http://schemas.microsoft.com/office/drawing/2014/main" val="20000"/>
                    </a:ext>
                  </a:extLst>
                </a:gridCol>
                <a:gridCol w="1351736">
                  <a:extLst>
                    <a:ext uri="{9D8B030D-6E8A-4147-A177-3AD203B41FA5}">
                      <a16:colId xmlns:a16="http://schemas.microsoft.com/office/drawing/2014/main" val="20001"/>
                    </a:ext>
                  </a:extLst>
                </a:gridCol>
              </a:tblGrid>
              <a:tr h="258482">
                <a:tc>
                  <a:txBody>
                    <a:bodyPr/>
                    <a:lstStyle/>
                    <a:p>
                      <a:pPr algn="just">
                        <a:lnSpc>
                          <a:spcPct val="150000"/>
                        </a:lnSpc>
                        <a:spcAft>
                          <a:spcPts val="0"/>
                        </a:spcAft>
                      </a:pPr>
                      <a:r>
                        <a:rPr lang="en-US" sz="1000" dirty="0">
                          <a:latin typeface="Times New Roman"/>
                          <a:ea typeface="Times New Roman"/>
                        </a:rPr>
                        <a:t>Feature Category</a:t>
                      </a:r>
                      <a:endParaRPr lang="en-IN" sz="1000" dirty="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Feature Name</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58482">
                <a:tc>
                  <a:txBody>
                    <a:bodyPr/>
                    <a:lstStyle/>
                    <a:p>
                      <a:pPr algn="just">
                        <a:lnSpc>
                          <a:spcPct val="150000"/>
                        </a:lnSpc>
                        <a:spcAft>
                          <a:spcPts val="0"/>
                        </a:spcAft>
                      </a:pPr>
                      <a:r>
                        <a:rPr lang="en-US" sz="1000">
                          <a:latin typeface="Times New Roman"/>
                          <a:ea typeface="Times New Roman"/>
                        </a:rPr>
                        <a:t>F1</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Pelvis_tilt </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8482">
                <a:tc>
                  <a:txBody>
                    <a:bodyPr/>
                    <a:lstStyle/>
                    <a:p>
                      <a:pPr algn="just">
                        <a:lnSpc>
                          <a:spcPct val="150000"/>
                        </a:lnSpc>
                        <a:spcAft>
                          <a:spcPts val="0"/>
                        </a:spcAft>
                      </a:pPr>
                      <a:r>
                        <a:rPr lang="en-US" sz="1000">
                          <a:latin typeface="Times New Roman"/>
                          <a:ea typeface="Times New Roman"/>
                        </a:rPr>
                        <a:t>F2</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Pelvis_list </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8482">
                <a:tc>
                  <a:txBody>
                    <a:bodyPr/>
                    <a:lstStyle/>
                    <a:p>
                      <a:pPr algn="just">
                        <a:lnSpc>
                          <a:spcPct val="150000"/>
                        </a:lnSpc>
                        <a:spcAft>
                          <a:spcPts val="0"/>
                        </a:spcAft>
                      </a:pPr>
                      <a:r>
                        <a:rPr lang="en-US" sz="1000">
                          <a:latin typeface="Times New Roman"/>
                          <a:ea typeface="Times New Roman"/>
                        </a:rPr>
                        <a:t>F3</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Pelvis_rotation </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8482">
                <a:tc>
                  <a:txBody>
                    <a:bodyPr/>
                    <a:lstStyle/>
                    <a:p>
                      <a:pPr algn="just">
                        <a:lnSpc>
                          <a:spcPct val="150000"/>
                        </a:lnSpc>
                        <a:spcAft>
                          <a:spcPts val="0"/>
                        </a:spcAft>
                      </a:pPr>
                      <a:r>
                        <a:rPr lang="en-US" sz="1000">
                          <a:latin typeface="Times New Roman"/>
                          <a:ea typeface="Times New Roman"/>
                        </a:rPr>
                        <a:t>F4</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Pelvis_tx</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8482">
                <a:tc>
                  <a:txBody>
                    <a:bodyPr/>
                    <a:lstStyle/>
                    <a:p>
                      <a:pPr algn="just">
                        <a:lnSpc>
                          <a:spcPct val="150000"/>
                        </a:lnSpc>
                        <a:spcAft>
                          <a:spcPts val="0"/>
                        </a:spcAft>
                      </a:pPr>
                      <a:r>
                        <a:rPr lang="en-US" sz="1000">
                          <a:latin typeface="Times New Roman"/>
                          <a:ea typeface="Times New Roman"/>
                        </a:rPr>
                        <a:t>F5</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Pelvis_ty</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8482">
                <a:tc>
                  <a:txBody>
                    <a:bodyPr/>
                    <a:lstStyle/>
                    <a:p>
                      <a:pPr algn="just">
                        <a:lnSpc>
                          <a:spcPct val="150000"/>
                        </a:lnSpc>
                        <a:spcAft>
                          <a:spcPts val="0"/>
                        </a:spcAft>
                      </a:pPr>
                      <a:r>
                        <a:rPr lang="en-US" sz="1000">
                          <a:latin typeface="Times New Roman"/>
                          <a:ea typeface="Times New Roman"/>
                        </a:rPr>
                        <a:t>F6</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Pelvis_tz</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8482">
                <a:tc>
                  <a:txBody>
                    <a:bodyPr/>
                    <a:lstStyle/>
                    <a:p>
                      <a:pPr algn="just">
                        <a:lnSpc>
                          <a:spcPct val="150000"/>
                        </a:lnSpc>
                        <a:spcAft>
                          <a:spcPts val="0"/>
                        </a:spcAft>
                      </a:pPr>
                      <a:r>
                        <a:rPr lang="en-US" sz="1000">
                          <a:latin typeface="Times New Roman"/>
                          <a:ea typeface="Times New Roman"/>
                        </a:rPr>
                        <a:t>F7</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hip_flexion_r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8482">
                <a:tc>
                  <a:txBody>
                    <a:bodyPr/>
                    <a:lstStyle/>
                    <a:p>
                      <a:pPr algn="just">
                        <a:lnSpc>
                          <a:spcPct val="150000"/>
                        </a:lnSpc>
                        <a:spcAft>
                          <a:spcPts val="0"/>
                        </a:spcAft>
                      </a:pPr>
                      <a:r>
                        <a:rPr lang="en-US" sz="1000">
                          <a:latin typeface="Times New Roman"/>
                          <a:ea typeface="Times New Roman"/>
                        </a:rPr>
                        <a:t>F8</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hip_adduction_r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8482">
                <a:tc>
                  <a:txBody>
                    <a:bodyPr/>
                    <a:lstStyle/>
                    <a:p>
                      <a:pPr algn="just">
                        <a:lnSpc>
                          <a:spcPct val="150000"/>
                        </a:lnSpc>
                        <a:spcAft>
                          <a:spcPts val="0"/>
                        </a:spcAft>
                      </a:pPr>
                      <a:r>
                        <a:rPr lang="en-US" sz="1000">
                          <a:latin typeface="Times New Roman"/>
                          <a:ea typeface="Times New Roman"/>
                        </a:rPr>
                        <a:t>F9</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hip_rotation_r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8482">
                <a:tc>
                  <a:txBody>
                    <a:bodyPr/>
                    <a:lstStyle/>
                    <a:p>
                      <a:pPr algn="just">
                        <a:lnSpc>
                          <a:spcPct val="150000"/>
                        </a:lnSpc>
                        <a:spcAft>
                          <a:spcPts val="0"/>
                        </a:spcAft>
                      </a:pPr>
                      <a:r>
                        <a:rPr lang="en-US" sz="1000">
                          <a:latin typeface="Times New Roman"/>
                          <a:ea typeface="Times New Roman"/>
                        </a:rPr>
                        <a:t>F10</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knee_angle_r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8482">
                <a:tc>
                  <a:txBody>
                    <a:bodyPr/>
                    <a:lstStyle/>
                    <a:p>
                      <a:pPr algn="just">
                        <a:lnSpc>
                          <a:spcPct val="150000"/>
                        </a:lnSpc>
                        <a:spcAft>
                          <a:spcPts val="0"/>
                        </a:spcAft>
                      </a:pPr>
                      <a:r>
                        <a:rPr lang="en-US" sz="1000">
                          <a:latin typeface="Times New Roman"/>
                          <a:ea typeface="Times New Roman"/>
                        </a:rPr>
                        <a:t>F11</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ankle_angle_r</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58482">
                <a:tc>
                  <a:txBody>
                    <a:bodyPr/>
                    <a:lstStyle/>
                    <a:p>
                      <a:pPr algn="just">
                        <a:lnSpc>
                          <a:spcPct val="150000"/>
                        </a:lnSpc>
                        <a:spcAft>
                          <a:spcPts val="0"/>
                        </a:spcAft>
                      </a:pPr>
                      <a:r>
                        <a:rPr lang="en-US" sz="1000">
                          <a:latin typeface="Times New Roman"/>
                          <a:ea typeface="Times New Roman"/>
                        </a:rPr>
                        <a:t>F12</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ankle_angle_l</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58482">
                <a:tc>
                  <a:txBody>
                    <a:bodyPr/>
                    <a:lstStyle/>
                    <a:p>
                      <a:pPr algn="just">
                        <a:lnSpc>
                          <a:spcPct val="150000"/>
                        </a:lnSpc>
                        <a:spcAft>
                          <a:spcPts val="0"/>
                        </a:spcAft>
                      </a:pPr>
                      <a:r>
                        <a:rPr lang="en-US" sz="1000">
                          <a:latin typeface="Times New Roman"/>
                          <a:ea typeface="Times New Roman"/>
                        </a:rPr>
                        <a:t>F13</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knee_angle_l</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58482">
                <a:tc>
                  <a:txBody>
                    <a:bodyPr/>
                    <a:lstStyle/>
                    <a:p>
                      <a:pPr algn="just">
                        <a:lnSpc>
                          <a:spcPct val="150000"/>
                        </a:lnSpc>
                        <a:spcAft>
                          <a:spcPts val="0"/>
                        </a:spcAft>
                      </a:pPr>
                      <a:r>
                        <a:rPr lang="en-US" sz="1000">
                          <a:latin typeface="Times New Roman"/>
                          <a:ea typeface="Times New Roman"/>
                        </a:rPr>
                        <a:t>F14</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hip_flexion_l</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58482">
                <a:tc>
                  <a:txBody>
                    <a:bodyPr/>
                    <a:lstStyle/>
                    <a:p>
                      <a:pPr algn="just">
                        <a:lnSpc>
                          <a:spcPct val="150000"/>
                        </a:lnSpc>
                        <a:spcAft>
                          <a:spcPts val="0"/>
                        </a:spcAft>
                      </a:pPr>
                      <a:r>
                        <a:rPr lang="en-US" sz="1000">
                          <a:latin typeface="Times New Roman"/>
                          <a:ea typeface="Times New Roman"/>
                        </a:rPr>
                        <a:t>F15</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a:latin typeface="Times New Roman"/>
                          <a:ea typeface="Times New Roman"/>
                        </a:rPr>
                        <a:t>hip_adduction_l </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58482">
                <a:tc>
                  <a:txBody>
                    <a:bodyPr/>
                    <a:lstStyle/>
                    <a:p>
                      <a:pPr algn="just">
                        <a:lnSpc>
                          <a:spcPct val="150000"/>
                        </a:lnSpc>
                        <a:spcAft>
                          <a:spcPts val="0"/>
                        </a:spcAft>
                      </a:pPr>
                      <a:r>
                        <a:rPr lang="en-US" sz="1000">
                          <a:latin typeface="Times New Roman"/>
                          <a:ea typeface="Times New Roman"/>
                        </a:rPr>
                        <a:t>F16</a:t>
                      </a:r>
                      <a:endParaRPr lang="en-IN" sz="100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tc>
                  <a:txBody>
                    <a:bodyPr/>
                    <a:lstStyle/>
                    <a:p>
                      <a:pPr algn="just">
                        <a:lnSpc>
                          <a:spcPct val="150000"/>
                        </a:lnSpc>
                        <a:spcAft>
                          <a:spcPts val="0"/>
                        </a:spcAft>
                      </a:pPr>
                      <a:r>
                        <a:rPr lang="en-US" sz="1000" dirty="0">
                          <a:latin typeface="Times New Roman"/>
                          <a:ea typeface="Times New Roman"/>
                        </a:rPr>
                        <a:t>hip_rotation_l </a:t>
                      </a:r>
                      <a:endParaRPr lang="en-IN" sz="1000" dirty="0">
                        <a:latin typeface="Times New Roman"/>
                        <a:ea typeface="Times New Roman"/>
                      </a:endParaRPr>
                    </a:p>
                  </a:txBody>
                  <a:tcPr marL="59765" marR="59765" marT="0" marB="0">
                    <a:lnL w="12700" cap="flat" cmpd="sng" algn="ctr">
                      <a:solidFill>
                        <a:srgbClr val="000001"/>
                      </a:solidFill>
                      <a:prstDash val="solid"/>
                      <a:round/>
                      <a:headEnd type="none" w="med" len="med"/>
                      <a:tailEnd type="none" w="med" len="med"/>
                    </a:lnL>
                    <a:lnR w="12700" cap="flat" cmpd="sng" algn="ctr">
                      <a:solidFill>
                        <a:srgbClr val="000001"/>
                      </a:solidFill>
                      <a:prstDash val="solid"/>
                      <a:round/>
                      <a:headEnd type="none" w="med" len="med"/>
                      <a:tailEnd type="none" w="med" len="med"/>
                    </a:lnR>
                    <a:lnT w="12700" cap="flat" cmpd="sng" algn="ctr">
                      <a:solidFill>
                        <a:srgbClr val="000001"/>
                      </a:solidFill>
                      <a:prstDash val="solid"/>
                      <a:round/>
                      <a:headEnd type="none" w="med" len="med"/>
                      <a:tailEnd type="none" w="med" len="med"/>
                    </a:lnT>
                    <a:lnB w="12700" cap="flat" cmpd="sng" algn="ctr">
                      <a:solidFill>
                        <a:srgbClr val="000001"/>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ctrTitle"/>
          </p:nvPr>
        </p:nvSpPr>
        <p:spPr>
          <a:xfrm>
            <a:off x="533400" y="1828800"/>
            <a:ext cx="8229600" cy="1981200"/>
          </a:xfrm>
        </p:spPr>
        <p:txBody>
          <a:bodyPr/>
          <a:lstStyle/>
          <a:p>
            <a:r>
              <a:rPr lang="en-US" b="1" dirty="0" smtClean="0"/>
              <a:t>Classification</a:t>
            </a:r>
            <a:endParaRPr lang="en-IN" dirty="0"/>
          </a:p>
        </p:txBody>
      </p:sp>
      <p:sp>
        <p:nvSpPr>
          <p:cNvPr id="35843" name="Rectangle 5"/>
          <p:cNvSpPr>
            <a:spLocks noGrp="1" noChangeArrowheads="1"/>
          </p:cNvSpPr>
          <p:nvPr>
            <p:ph type="subTitle" idx="1"/>
          </p:nvPr>
        </p:nvSpPr>
        <p:spPr/>
        <p:txBody>
          <a:bodyPr/>
          <a:lstStyle/>
          <a:p>
            <a:pPr eaLnBrk="1" hangingPunct="1"/>
            <a:r>
              <a:rPr lang="en-US" dirty="0" smtClean="0">
                <a:solidFill>
                  <a:schemeClr val="tx1"/>
                </a:solidFill>
              </a:rPr>
              <a:t>KNN, ANN, SVM, fusion classifier </a:t>
            </a:r>
            <a:endParaRPr lang="th-TH" dirty="0" smtClean="0">
              <a:solidFill>
                <a:schemeClr val="tx1"/>
              </a:solidFill>
            </a:endParaRPr>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normAutofit/>
          </a:bodyPr>
          <a:lstStyle/>
          <a:p>
            <a:pPr algn="ctr" eaLnBrk="1" hangingPunct="1"/>
            <a:r>
              <a:rPr lang="en-US" sz="4000" b="1" dirty="0" smtClean="0"/>
              <a:t>Classification </a:t>
            </a:r>
            <a:endParaRPr lang="th-TH" sz="4000" b="1" dirty="0" smtClean="0"/>
          </a:p>
        </p:txBody>
      </p:sp>
      <p:sp>
        <p:nvSpPr>
          <p:cNvPr id="4100" name="Rectangle 3"/>
          <p:cNvSpPr>
            <a:spLocks noGrp="1" noChangeArrowheads="1"/>
          </p:cNvSpPr>
          <p:nvPr>
            <p:ph type="body" idx="1"/>
          </p:nvPr>
        </p:nvSpPr>
        <p:spPr/>
        <p:txBody>
          <a:bodyPr>
            <a:normAutofit/>
          </a:bodyPr>
          <a:lstStyle/>
          <a:p>
            <a:pPr algn="just" eaLnBrk="1" hangingPunct="1">
              <a:lnSpc>
                <a:spcPct val="110000"/>
              </a:lnSpc>
              <a:buFont typeface="Wingdings" pitchFamily="2" charset="2"/>
              <a:buChar char="Ø"/>
            </a:pPr>
            <a:r>
              <a:rPr lang="en-US" sz="4000" dirty="0" smtClean="0"/>
              <a:t>Classification is a collection of different methods for categorizing data. </a:t>
            </a:r>
          </a:p>
          <a:p>
            <a:pPr algn="just" eaLnBrk="1" hangingPunct="1">
              <a:lnSpc>
                <a:spcPct val="110000"/>
              </a:lnSpc>
              <a:buFont typeface="Wingdings" pitchFamily="2" charset="2"/>
              <a:buChar char="Ø"/>
            </a:pPr>
            <a:r>
              <a:rPr lang="en-US" sz="4000" dirty="0" smtClean="0"/>
              <a:t>To correctly classify the data one wishes to find features that separate each group of data into clusters. </a:t>
            </a:r>
          </a:p>
          <a:p>
            <a:pPr algn="just" eaLnBrk="1" hangingPunct="1">
              <a:lnSpc>
                <a:spcPct val="110000"/>
              </a:lnSpc>
              <a:buFont typeface="Wingdings" pitchFamily="2" charset="2"/>
              <a:buNone/>
            </a:pPr>
            <a:endParaRPr lang="th-TH" sz="2800" dirty="0" smtClean="0">
              <a:solidFill>
                <a:srgbClr val="FF0000"/>
              </a:solidFill>
            </a:endParaRPr>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22</a:t>
            </a:fld>
            <a:endParaRPr lang="en-US"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2971800" y="228600"/>
            <a:ext cx="3654552" cy="990600"/>
          </a:xfrm>
        </p:spPr>
        <p:txBody>
          <a:bodyPr>
            <a:normAutofit/>
          </a:bodyPr>
          <a:lstStyle/>
          <a:p>
            <a:pPr algn="ctr" eaLnBrk="1" hangingPunct="1"/>
            <a:r>
              <a:rPr lang="en-US" sz="4000" b="1" dirty="0" smtClean="0"/>
              <a:t>Classification </a:t>
            </a:r>
            <a:endParaRPr lang="th-TH" sz="4000" b="1" dirty="0" smtClean="0"/>
          </a:p>
        </p:txBody>
      </p:sp>
      <p:sp>
        <p:nvSpPr>
          <p:cNvPr id="4100" name="Rectangle 3"/>
          <p:cNvSpPr>
            <a:spLocks noGrp="1" noChangeArrowheads="1"/>
          </p:cNvSpPr>
          <p:nvPr>
            <p:ph type="body" idx="1"/>
          </p:nvPr>
        </p:nvSpPr>
        <p:spPr/>
        <p:txBody>
          <a:bodyPr/>
          <a:lstStyle/>
          <a:p>
            <a:r>
              <a:rPr lang="en-US" sz="2800" dirty="0" smtClean="0"/>
              <a:t>Classification of GAIT data is done through two following techniques:</a:t>
            </a:r>
            <a:endParaRPr lang="en-IN" sz="2800" dirty="0" smtClean="0"/>
          </a:p>
          <a:p>
            <a:pPr lvl="0"/>
            <a:r>
              <a:rPr lang="en-US" sz="2800" dirty="0" smtClean="0"/>
              <a:t>KNN</a:t>
            </a:r>
            <a:endParaRPr lang="en-IN" sz="2800" dirty="0" smtClean="0"/>
          </a:p>
          <a:p>
            <a:pPr lvl="0"/>
            <a:r>
              <a:rPr lang="en-US" sz="2800" dirty="0" smtClean="0"/>
              <a:t>ANN</a:t>
            </a:r>
          </a:p>
          <a:p>
            <a:pPr lvl="0"/>
            <a:r>
              <a:rPr lang="en-US" sz="2800" dirty="0" smtClean="0"/>
              <a:t>SVM</a:t>
            </a:r>
            <a:endParaRPr lang="en-IN" sz="2800" dirty="0" smtClean="0"/>
          </a:p>
          <a:p>
            <a:pPr lvl="0"/>
            <a:r>
              <a:rPr lang="en-US" sz="2800" dirty="0" smtClean="0"/>
              <a:t>Classifier fusion </a:t>
            </a:r>
            <a:endParaRPr lang="en-IN" sz="2800" dirty="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23</a:t>
            </a:fld>
            <a:endParaRPr lang="en-US"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normAutofit fontScale="90000"/>
          </a:bodyPr>
          <a:lstStyle/>
          <a:p>
            <a:pPr algn="ctr"/>
            <a:r>
              <a:rPr lang="en-US" sz="3600" b="1" dirty="0" smtClean="0"/>
              <a:t>Artificial Neural Network (Back Propagation)</a:t>
            </a:r>
            <a:endParaRPr lang="en-IN" sz="3600" dirty="0"/>
          </a:p>
        </p:txBody>
      </p:sp>
      <p:sp>
        <p:nvSpPr>
          <p:cNvPr id="4100" name="Rectangle 3"/>
          <p:cNvSpPr>
            <a:spLocks noGrp="1" noChangeArrowheads="1"/>
          </p:cNvSpPr>
          <p:nvPr>
            <p:ph type="body" idx="1"/>
          </p:nvPr>
        </p:nvSpPr>
        <p:spPr/>
        <p:txBody>
          <a:bodyPr/>
          <a:lstStyle/>
          <a:p>
            <a:pPr algn="just"/>
            <a:r>
              <a:rPr lang="en-IN" sz="2800" dirty="0" smtClean="0"/>
              <a:t>Back propagation, an abbreviation for "backward propagation of errors", is a common method of training artificial neural networks.</a:t>
            </a:r>
            <a:endParaRPr lang="en-IN" sz="2800" dirty="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24</a:t>
            </a:fld>
            <a:endParaRPr lang="en-US"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886200" y="228600"/>
            <a:ext cx="1901952" cy="990600"/>
          </a:xfrm>
        </p:spPr>
        <p:txBody>
          <a:bodyPr>
            <a:normAutofit/>
          </a:bodyPr>
          <a:lstStyle/>
          <a:p>
            <a:pPr eaLnBrk="1" hangingPunct="1"/>
            <a:r>
              <a:rPr lang="en-US" sz="4000" b="1" dirty="0" smtClean="0"/>
              <a:t>Result</a:t>
            </a:r>
            <a:endParaRPr lang="th-TH" sz="4000" b="1"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25</a:t>
            </a:fld>
            <a:endParaRPr lang="en-US" smtClean="0">
              <a:latin typeface="Arial" pitchFamily="34" charset="0"/>
            </a:endParaRPr>
          </a:p>
        </p:txBody>
      </p:sp>
      <p:pic>
        <p:nvPicPr>
          <p:cNvPr id="7" name="Picture 6" descr="fig8"/>
          <p:cNvPicPr/>
          <p:nvPr/>
        </p:nvPicPr>
        <p:blipFill>
          <a:blip r:embed="rId2"/>
          <a:srcRect/>
          <a:stretch>
            <a:fillRect/>
          </a:stretch>
        </p:blipFill>
        <p:spPr bwMode="auto">
          <a:xfrm>
            <a:off x="838200" y="1752600"/>
            <a:ext cx="7467600" cy="4495800"/>
          </a:xfrm>
          <a:prstGeom prst="rect">
            <a:avLst/>
          </a:prstGeom>
          <a:noFill/>
          <a:ln w="9525">
            <a:noFill/>
            <a:miter lim="800000"/>
            <a:headEnd/>
            <a:tailEnd/>
          </a:ln>
        </p:spPr>
      </p:pic>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886200" y="228600"/>
            <a:ext cx="1901952" cy="990600"/>
          </a:xfrm>
        </p:spPr>
        <p:txBody>
          <a:bodyPr>
            <a:normAutofit/>
          </a:bodyPr>
          <a:lstStyle/>
          <a:p>
            <a:pPr eaLnBrk="1" hangingPunct="1"/>
            <a:r>
              <a:rPr lang="en-US" sz="4000" b="1" dirty="0" smtClean="0"/>
              <a:t>Result</a:t>
            </a:r>
            <a:endParaRPr lang="th-TH" sz="4000" b="1"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26</a:t>
            </a:fld>
            <a:endParaRPr lang="en-US" smtClean="0">
              <a:latin typeface="Arial" pitchFamily="34" charset="0"/>
            </a:endParaRPr>
          </a:p>
        </p:txBody>
      </p:sp>
      <p:graphicFrame>
        <p:nvGraphicFramePr>
          <p:cNvPr id="6" name="Table 5"/>
          <p:cNvGraphicFramePr>
            <a:graphicFrameLocks noGrp="1"/>
          </p:cNvGraphicFramePr>
          <p:nvPr/>
        </p:nvGraphicFramePr>
        <p:xfrm>
          <a:off x="533402" y="1904999"/>
          <a:ext cx="7772397" cy="2961133"/>
        </p:xfrm>
        <a:graphic>
          <a:graphicData uri="http://schemas.openxmlformats.org/drawingml/2006/table">
            <a:tbl>
              <a:tblPr/>
              <a:tblGrid>
                <a:gridCol w="1569669">
                  <a:extLst>
                    <a:ext uri="{9D8B030D-6E8A-4147-A177-3AD203B41FA5}">
                      <a16:colId xmlns:a16="http://schemas.microsoft.com/office/drawing/2014/main" val="20000"/>
                    </a:ext>
                  </a:extLst>
                </a:gridCol>
                <a:gridCol w="2067576">
                  <a:extLst>
                    <a:ext uri="{9D8B030D-6E8A-4147-A177-3AD203B41FA5}">
                      <a16:colId xmlns:a16="http://schemas.microsoft.com/office/drawing/2014/main" val="20001"/>
                    </a:ext>
                  </a:extLst>
                </a:gridCol>
                <a:gridCol w="2067576">
                  <a:extLst>
                    <a:ext uri="{9D8B030D-6E8A-4147-A177-3AD203B41FA5}">
                      <a16:colId xmlns:a16="http://schemas.microsoft.com/office/drawing/2014/main" val="20002"/>
                    </a:ext>
                  </a:extLst>
                </a:gridCol>
                <a:gridCol w="2067576">
                  <a:extLst>
                    <a:ext uri="{9D8B030D-6E8A-4147-A177-3AD203B41FA5}">
                      <a16:colId xmlns:a16="http://schemas.microsoft.com/office/drawing/2014/main" val="20003"/>
                    </a:ext>
                  </a:extLst>
                </a:gridCol>
              </a:tblGrid>
              <a:tr h="846038">
                <a:tc>
                  <a:txBody>
                    <a:bodyPr/>
                    <a:lstStyle/>
                    <a:p>
                      <a:pPr>
                        <a:lnSpc>
                          <a:spcPct val="115000"/>
                        </a:lnSpc>
                        <a:spcAft>
                          <a:spcPts val="1000"/>
                        </a:spcAft>
                      </a:pPr>
                      <a:r>
                        <a:rPr lang="en-US"/>
                        <a:t>Exp. No</a:t>
                      </a:r>
                      <a:endParaRPr lang="en-IN"/>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dirty="0"/>
                        <a:t>Iterations</a:t>
                      </a:r>
                      <a:endParaRPr lang="en-IN" dirty="0"/>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a:t>Training accuracy (%)</a:t>
                      </a:r>
                      <a:endParaRPr lang="en-IN"/>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a:t>Test accuracy (%)</a:t>
                      </a:r>
                      <a:endParaRPr lang="en-IN"/>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3019">
                <a:tc>
                  <a:txBody>
                    <a:bodyPr/>
                    <a:lstStyle/>
                    <a:p>
                      <a:pPr>
                        <a:lnSpc>
                          <a:spcPct val="115000"/>
                        </a:lnSpc>
                        <a:spcAft>
                          <a:spcPts val="1000"/>
                        </a:spcAft>
                      </a:pPr>
                      <a:r>
                        <a:rPr lang="en-US"/>
                        <a:t>1</a:t>
                      </a:r>
                      <a:endParaRPr lang="en-IN"/>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US"/>
                        <a:t>100</a:t>
                      </a:r>
                      <a:endParaRPr lang="en-IN"/>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US"/>
                        <a:t>84</a:t>
                      </a:r>
                      <a:endParaRPr lang="en-IN"/>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US"/>
                        <a:t>80</a:t>
                      </a:r>
                      <a:endParaRPr lang="en-IN"/>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423019">
                <a:tc>
                  <a:txBody>
                    <a:bodyPr/>
                    <a:lstStyle/>
                    <a:p>
                      <a:pPr>
                        <a:lnSpc>
                          <a:spcPct val="115000"/>
                        </a:lnSpc>
                        <a:spcAft>
                          <a:spcPts val="1000"/>
                        </a:spcAft>
                      </a:pPr>
                      <a:endParaRPr lang="en-US"/>
                    </a:p>
                  </a:txBody>
                  <a:tcPr marL="68580" marR="68580" marT="0" marB="0" anchor="ctr">
                    <a:lnL>
                      <a:noFill/>
                    </a:lnL>
                    <a:lnR>
                      <a:noFill/>
                    </a:lnR>
                    <a:lnT>
                      <a:noFill/>
                    </a:lnT>
                    <a:lnB>
                      <a:noFill/>
                    </a:lnB>
                  </a:tcPr>
                </a:tc>
                <a:tc>
                  <a:txBody>
                    <a:bodyPr/>
                    <a:lstStyle/>
                    <a:p>
                      <a:pPr>
                        <a:lnSpc>
                          <a:spcPct val="115000"/>
                        </a:lnSpc>
                        <a:spcAft>
                          <a:spcPts val="1000"/>
                        </a:spcAft>
                      </a:pPr>
                      <a:r>
                        <a:rPr lang="en-US"/>
                        <a:t>500</a:t>
                      </a:r>
                      <a:endParaRPr lang="en-IN"/>
                    </a:p>
                  </a:txBody>
                  <a:tcPr marL="68580" marR="68580" marT="0" marB="0" anchor="ctr">
                    <a:lnL>
                      <a:noFill/>
                    </a:lnL>
                    <a:lnR>
                      <a:noFill/>
                    </a:lnR>
                    <a:lnT>
                      <a:noFill/>
                    </a:lnT>
                    <a:lnB>
                      <a:noFill/>
                    </a:lnB>
                  </a:tcPr>
                </a:tc>
                <a:tc>
                  <a:txBody>
                    <a:bodyPr/>
                    <a:lstStyle/>
                    <a:p>
                      <a:pPr>
                        <a:lnSpc>
                          <a:spcPct val="115000"/>
                        </a:lnSpc>
                        <a:spcAft>
                          <a:spcPts val="1000"/>
                        </a:spcAft>
                      </a:pPr>
                      <a:r>
                        <a:rPr lang="en-US"/>
                        <a:t>86</a:t>
                      </a:r>
                      <a:endParaRPr lang="en-IN"/>
                    </a:p>
                  </a:txBody>
                  <a:tcPr marL="68580" marR="68580" marT="0" marB="0" anchor="ctr">
                    <a:lnL>
                      <a:noFill/>
                    </a:lnL>
                    <a:lnR>
                      <a:noFill/>
                    </a:lnR>
                    <a:lnT>
                      <a:noFill/>
                    </a:lnT>
                    <a:lnB>
                      <a:noFill/>
                    </a:lnB>
                  </a:tcPr>
                </a:tc>
                <a:tc>
                  <a:txBody>
                    <a:bodyPr/>
                    <a:lstStyle/>
                    <a:p>
                      <a:pPr>
                        <a:lnSpc>
                          <a:spcPct val="115000"/>
                        </a:lnSpc>
                        <a:spcAft>
                          <a:spcPts val="1000"/>
                        </a:spcAft>
                      </a:pPr>
                      <a:r>
                        <a:rPr lang="en-US"/>
                        <a:t>80</a:t>
                      </a:r>
                      <a:endParaRPr lang="en-IN"/>
                    </a:p>
                  </a:txBody>
                  <a:tcPr marL="68580" marR="68580" marT="0" marB="0" anchor="ctr">
                    <a:lnL>
                      <a:noFill/>
                    </a:lnL>
                    <a:lnR>
                      <a:noFill/>
                    </a:lnR>
                    <a:lnT>
                      <a:noFill/>
                    </a:lnT>
                    <a:lnB>
                      <a:noFill/>
                    </a:lnB>
                  </a:tcPr>
                </a:tc>
                <a:extLst>
                  <a:ext uri="{0D108BD9-81ED-4DB2-BD59-A6C34878D82A}">
                    <a16:rowId xmlns:a16="http://schemas.microsoft.com/office/drawing/2014/main" val="10002"/>
                  </a:ext>
                </a:extLst>
              </a:tr>
              <a:tr h="423019">
                <a:tc>
                  <a:txBody>
                    <a:bodyPr/>
                    <a:lstStyle/>
                    <a:p>
                      <a:pPr>
                        <a:lnSpc>
                          <a:spcPct val="115000"/>
                        </a:lnSpc>
                        <a:spcAft>
                          <a:spcPts val="1000"/>
                        </a:spcAft>
                      </a:pPr>
                      <a:r>
                        <a:rPr lang="en-US"/>
                        <a:t>2</a:t>
                      </a:r>
                      <a:endParaRPr lang="en-IN"/>
                    </a:p>
                  </a:txBody>
                  <a:tcPr marL="68580" marR="68580" marT="0" marB="0" anchor="ctr">
                    <a:lnL>
                      <a:noFill/>
                    </a:lnL>
                    <a:lnR>
                      <a:noFill/>
                    </a:lnR>
                    <a:lnT>
                      <a:noFill/>
                    </a:lnT>
                    <a:lnB>
                      <a:noFill/>
                    </a:lnB>
                  </a:tcPr>
                </a:tc>
                <a:tc>
                  <a:txBody>
                    <a:bodyPr/>
                    <a:lstStyle/>
                    <a:p>
                      <a:pPr>
                        <a:lnSpc>
                          <a:spcPct val="115000"/>
                        </a:lnSpc>
                        <a:spcAft>
                          <a:spcPts val="1000"/>
                        </a:spcAft>
                      </a:pPr>
                      <a:r>
                        <a:rPr lang="en-US"/>
                        <a:t>100</a:t>
                      </a:r>
                      <a:endParaRPr lang="en-IN"/>
                    </a:p>
                  </a:txBody>
                  <a:tcPr marL="68580" marR="68580" marT="0" marB="0" anchor="ctr">
                    <a:lnL>
                      <a:noFill/>
                    </a:lnL>
                    <a:lnR>
                      <a:noFill/>
                    </a:lnR>
                    <a:lnT>
                      <a:noFill/>
                    </a:lnT>
                    <a:lnB>
                      <a:noFill/>
                    </a:lnB>
                  </a:tcPr>
                </a:tc>
                <a:tc>
                  <a:txBody>
                    <a:bodyPr/>
                    <a:lstStyle/>
                    <a:p>
                      <a:pPr>
                        <a:lnSpc>
                          <a:spcPct val="115000"/>
                        </a:lnSpc>
                        <a:spcAft>
                          <a:spcPts val="1000"/>
                        </a:spcAft>
                      </a:pPr>
                      <a:r>
                        <a:rPr lang="en-US"/>
                        <a:t>86</a:t>
                      </a:r>
                      <a:endParaRPr lang="en-IN"/>
                    </a:p>
                  </a:txBody>
                  <a:tcPr marL="68580" marR="68580" marT="0" marB="0" anchor="ctr">
                    <a:lnL>
                      <a:noFill/>
                    </a:lnL>
                    <a:lnR>
                      <a:noFill/>
                    </a:lnR>
                    <a:lnT>
                      <a:noFill/>
                    </a:lnT>
                    <a:lnB>
                      <a:noFill/>
                    </a:lnB>
                  </a:tcPr>
                </a:tc>
                <a:tc>
                  <a:txBody>
                    <a:bodyPr/>
                    <a:lstStyle/>
                    <a:p>
                      <a:pPr>
                        <a:lnSpc>
                          <a:spcPct val="115000"/>
                        </a:lnSpc>
                        <a:spcAft>
                          <a:spcPts val="1000"/>
                        </a:spcAft>
                      </a:pPr>
                      <a:r>
                        <a:rPr lang="en-US"/>
                        <a:t>80</a:t>
                      </a:r>
                      <a:endParaRPr lang="en-IN"/>
                    </a:p>
                  </a:txBody>
                  <a:tcPr marL="68580" marR="68580" marT="0" marB="0" anchor="ctr">
                    <a:lnL>
                      <a:noFill/>
                    </a:lnL>
                    <a:lnR>
                      <a:noFill/>
                    </a:lnR>
                    <a:lnT>
                      <a:noFill/>
                    </a:lnT>
                    <a:lnB>
                      <a:noFill/>
                    </a:lnB>
                  </a:tcPr>
                </a:tc>
                <a:extLst>
                  <a:ext uri="{0D108BD9-81ED-4DB2-BD59-A6C34878D82A}">
                    <a16:rowId xmlns:a16="http://schemas.microsoft.com/office/drawing/2014/main" val="10003"/>
                  </a:ext>
                </a:extLst>
              </a:tr>
              <a:tr h="423019">
                <a:tc>
                  <a:txBody>
                    <a:bodyPr/>
                    <a:lstStyle/>
                    <a:p>
                      <a:pPr>
                        <a:lnSpc>
                          <a:spcPct val="115000"/>
                        </a:lnSpc>
                        <a:spcAft>
                          <a:spcPts val="1000"/>
                        </a:spcAft>
                      </a:pPr>
                      <a:endParaRPr lang="en-US"/>
                    </a:p>
                  </a:txBody>
                  <a:tcPr marL="68580" marR="68580" marT="0" marB="0" anchor="ctr">
                    <a:lnL>
                      <a:noFill/>
                    </a:lnL>
                    <a:lnR>
                      <a:noFill/>
                    </a:lnR>
                    <a:lnT>
                      <a:noFill/>
                    </a:lnT>
                    <a:lnB>
                      <a:noFill/>
                    </a:lnB>
                  </a:tcPr>
                </a:tc>
                <a:tc>
                  <a:txBody>
                    <a:bodyPr/>
                    <a:lstStyle/>
                    <a:p>
                      <a:pPr>
                        <a:lnSpc>
                          <a:spcPct val="115000"/>
                        </a:lnSpc>
                        <a:spcAft>
                          <a:spcPts val="1000"/>
                        </a:spcAft>
                      </a:pPr>
                      <a:r>
                        <a:rPr lang="en-US"/>
                        <a:t>500</a:t>
                      </a:r>
                      <a:endParaRPr lang="en-IN"/>
                    </a:p>
                  </a:txBody>
                  <a:tcPr marL="68580" marR="68580" marT="0" marB="0" anchor="ctr">
                    <a:lnL>
                      <a:noFill/>
                    </a:lnL>
                    <a:lnR>
                      <a:noFill/>
                    </a:lnR>
                    <a:lnT>
                      <a:noFill/>
                    </a:lnT>
                    <a:lnB>
                      <a:noFill/>
                    </a:lnB>
                  </a:tcPr>
                </a:tc>
                <a:tc>
                  <a:txBody>
                    <a:bodyPr/>
                    <a:lstStyle/>
                    <a:p>
                      <a:pPr>
                        <a:lnSpc>
                          <a:spcPct val="115000"/>
                        </a:lnSpc>
                        <a:spcAft>
                          <a:spcPts val="1000"/>
                        </a:spcAft>
                      </a:pPr>
                      <a:r>
                        <a:rPr lang="en-US"/>
                        <a:t>90</a:t>
                      </a:r>
                      <a:endParaRPr lang="en-IN"/>
                    </a:p>
                  </a:txBody>
                  <a:tcPr marL="68580" marR="68580" marT="0" marB="0" anchor="ctr">
                    <a:lnL>
                      <a:noFill/>
                    </a:lnL>
                    <a:lnR>
                      <a:noFill/>
                    </a:lnR>
                    <a:lnT>
                      <a:noFill/>
                    </a:lnT>
                    <a:lnB>
                      <a:noFill/>
                    </a:lnB>
                  </a:tcPr>
                </a:tc>
                <a:tc>
                  <a:txBody>
                    <a:bodyPr/>
                    <a:lstStyle/>
                    <a:p>
                      <a:pPr>
                        <a:lnSpc>
                          <a:spcPct val="115000"/>
                        </a:lnSpc>
                        <a:spcAft>
                          <a:spcPts val="1000"/>
                        </a:spcAft>
                      </a:pPr>
                      <a:r>
                        <a:rPr lang="en-US"/>
                        <a:t>82</a:t>
                      </a:r>
                      <a:endParaRPr lang="en-IN"/>
                    </a:p>
                  </a:txBody>
                  <a:tcPr marL="68580" marR="68580" marT="0" marB="0" anchor="ctr">
                    <a:lnL>
                      <a:noFill/>
                    </a:lnL>
                    <a:lnR>
                      <a:noFill/>
                    </a:lnR>
                    <a:lnT>
                      <a:noFill/>
                    </a:lnT>
                    <a:lnB>
                      <a:noFill/>
                    </a:lnB>
                  </a:tcPr>
                </a:tc>
                <a:extLst>
                  <a:ext uri="{0D108BD9-81ED-4DB2-BD59-A6C34878D82A}">
                    <a16:rowId xmlns:a16="http://schemas.microsoft.com/office/drawing/2014/main" val="10004"/>
                  </a:ext>
                </a:extLst>
              </a:tr>
              <a:tr h="423019">
                <a:tc>
                  <a:txBody>
                    <a:bodyPr/>
                    <a:lstStyle/>
                    <a:p>
                      <a:pPr>
                        <a:lnSpc>
                          <a:spcPct val="115000"/>
                        </a:lnSpc>
                        <a:spcAft>
                          <a:spcPts val="1000"/>
                        </a:spcAft>
                      </a:pPr>
                      <a:r>
                        <a:rPr lang="en-US"/>
                        <a:t>3</a:t>
                      </a:r>
                      <a:endParaRPr lang="en-IN"/>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a:t>100</a:t>
                      </a:r>
                      <a:endParaRPr lang="en-IN"/>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a:t>86</a:t>
                      </a:r>
                      <a:endParaRPr lang="en-IN"/>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dirty="0"/>
                        <a:t>82</a:t>
                      </a:r>
                      <a:endParaRPr lang="en-IN" dirty="0"/>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4114800" y="228600"/>
            <a:ext cx="1597152" cy="990600"/>
          </a:xfrm>
        </p:spPr>
        <p:txBody>
          <a:bodyPr>
            <a:normAutofit/>
          </a:bodyPr>
          <a:lstStyle/>
          <a:p>
            <a:r>
              <a:rPr lang="en-US" sz="3600" b="1" dirty="0" smtClean="0"/>
              <a:t>KNN</a:t>
            </a:r>
            <a:endParaRPr lang="en-IN" sz="3600" dirty="0"/>
          </a:p>
        </p:txBody>
      </p:sp>
      <p:sp>
        <p:nvSpPr>
          <p:cNvPr id="4100" name="Rectangle 3"/>
          <p:cNvSpPr>
            <a:spLocks noGrp="1" noChangeArrowheads="1"/>
          </p:cNvSpPr>
          <p:nvPr>
            <p:ph type="body" idx="1"/>
          </p:nvPr>
        </p:nvSpPr>
        <p:spPr/>
        <p:txBody>
          <a:bodyPr/>
          <a:lstStyle/>
          <a:p>
            <a:pPr algn="just"/>
            <a:r>
              <a:rPr lang="en-IN" sz="2400" dirty="0" smtClean="0"/>
              <a:t>K-Nearest Neighbours algorithm (or k-NN for short) is a non-parametric method used for classification. In this, the input consists of the k closest training examples in the feature space. The output depends on whether k-NN is used for classification:</a:t>
            </a:r>
          </a:p>
          <a:p>
            <a:pPr lvl="0" algn="just"/>
            <a:r>
              <a:rPr lang="en-IN" sz="2400" dirty="0" smtClean="0"/>
              <a:t>In k-NN classification, the output is a class membership. An object is classified by a majority vote of its neighbours, with the object being assigned to the class most common among its k nearest neighbours (k is a positive integer, typically small). If k = 1, then the object is simply assigned to the class of that single nearest neighbour.</a:t>
            </a:r>
            <a:endParaRPr lang="en-IN" sz="2400" dirty="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27</a:t>
            </a:fld>
            <a:endParaRPr lang="en-US"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429000" y="228600"/>
            <a:ext cx="2740152" cy="990600"/>
          </a:xfrm>
        </p:spPr>
        <p:txBody>
          <a:bodyPr>
            <a:normAutofit/>
          </a:bodyPr>
          <a:lstStyle/>
          <a:p>
            <a:pPr eaLnBrk="1" hangingPunct="1"/>
            <a:r>
              <a:rPr lang="en-US" sz="4000" b="1" dirty="0" smtClean="0"/>
              <a:t>KNN Result</a:t>
            </a:r>
            <a:endParaRPr lang="th-TH" sz="4000" b="1"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28</a:t>
            </a:fld>
            <a:endParaRPr lang="en-US" smtClean="0">
              <a:latin typeface="Arial" pitchFamily="34" charset="0"/>
            </a:endParaRPr>
          </a:p>
        </p:txBody>
      </p:sp>
      <p:pic>
        <p:nvPicPr>
          <p:cNvPr id="7" name="Picture 6"/>
          <p:cNvPicPr/>
          <p:nvPr/>
        </p:nvPicPr>
        <p:blipFill>
          <a:blip r:embed="rId2"/>
          <a:srcRect/>
          <a:stretch>
            <a:fillRect/>
          </a:stretch>
        </p:blipFill>
        <p:spPr bwMode="auto">
          <a:xfrm>
            <a:off x="2121217" y="2067877"/>
            <a:ext cx="5651183" cy="3570923"/>
          </a:xfrm>
          <a:prstGeom prst="rect">
            <a:avLst/>
          </a:prstGeom>
          <a:noFill/>
          <a:ln w="9525">
            <a:noFill/>
            <a:miter lim="800000"/>
            <a:headEnd/>
            <a:tailEnd/>
          </a:ln>
        </p:spPr>
      </p:pic>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429000" y="228600"/>
            <a:ext cx="2740152" cy="990600"/>
          </a:xfrm>
        </p:spPr>
        <p:txBody>
          <a:bodyPr>
            <a:normAutofit/>
          </a:bodyPr>
          <a:lstStyle/>
          <a:p>
            <a:pPr eaLnBrk="1" hangingPunct="1"/>
            <a:r>
              <a:rPr lang="en-US" sz="4000" b="1" dirty="0" smtClean="0"/>
              <a:t>KNN Result</a:t>
            </a:r>
            <a:endParaRPr lang="th-TH" sz="4000" b="1"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29</a:t>
            </a:fld>
            <a:endParaRPr lang="en-US" smtClean="0">
              <a:latin typeface="Arial" pitchFamily="34" charset="0"/>
            </a:endParaRPr>
          </a:p>
        </p:txBody>
      </p:sp>
      <p:graphicFrame>
        <p:nvGraphicFramePr>
          <p:cNvPr id="6" name="Table 5"/>
          <p:cNvGraphicFramePr>
            <a:graphicFrameLocks noGrp="1"/>
          </p:cNvGraphicFramePr>
          <p:nvPr/>
        </p:nvGraphicFramePr>
        <p:xfrm>
          <a:off x="533400" y="1752599"/>
          <a:ext cx="7620000" cy="3950208"/>
        </p:xfrm>
        <a:graphic>
          <a:graphicData uri="http://schemas.openxmlformats.org/drawingml/2006/table">
            <a:tbl>
              <a:tblPr/>
              <a:tblGrid>
                <a:gridCol w="1038683">
                  <a:extLst>
                    <a:ext uri="{9D8B030D-6E8A-4147-A177-3AD203B41FA5}">
                      <a16:colId xmlns:a16="http://schemas.microsoft.com/office/drawing/2014/main" val="20000"/>
                    </a:ext>
                  </a:extLst>
                </a:gridCol>
                <a:gridCol w="1110317">
                  <a:extLst>
                    <a:ext uri="{9D8B030D-6E8A-4147-A177-3AD203B41FA5}">
                      <a16:colId xmlns:a16="http://schemas.microsoft.com/office/drawing/2014/main" val="20001"/>
                    </a:ext>
                  </a:extLst>
                </a:gridCol>
                <a:gridCol w="3173135">
                  <a:extLst>
                    <a:ext uri="{9D8B030D-6E8A-4147-A177-3AD203B41FA5}">
                      <a16:colId xmlns:a16="http://schemas.microsoft.com/office/drawing/2014/main" val="20002"/>
                    </a:ext>
                  </a:extLst>
                </a:gridCol>
                <a:gridCol w="2297865">
                  <a:extLst>
                    <a:ext uri="{9D8B030D-6E8A-4147-A177-3AD203B41FA5}">
                      <a16:colId xmlns:a16="http://schemas.microsoft.com/office/drawing/2014/main" val="20003"/>
                    </a:ext>
                  </a:extLst>
                </a:gridCol>
              </a:tblGrid>
              <a:tr h="777240">
                <a:tc>
                  <a:txBody>
                    <a:bodyPr/>
                    <a:lstStyle/>
                    <a:p>
                      <a:pPr>
                        <a:lnSpc>
                          <a:spcPct val="115000"/>
                        </a:lnSpc>
                        <a:spcAft>
                          <a:spcPts val="1000"/>
                        </a:spcAft>
                      </a:pPr>
                      <a:r>
                        <a:rPr lang="en-US" sz="2400" dirty="0">
                          <a:latin typeface="Calibri"/>
                          <a:ea typeface="Times New Roman"/>
                          <a:cs typeface="Times New Roman"/>
                        </a:rPr>
                        <a:t>Exp No.</a:t>
                      </a:r>
                      <a:endParaRPr lang="en-IN" sz="2400" dirty="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dirty="0">
                          <a:latin typeface="Calibri"/>
                          <a:ea typeface="Times New Roman"/>
                          <a:cs typeface="Times New Roman"/>
                        </a:rPr>
                        <a:t>K</a:t>
                      </a:r>
                      <a:endParaRPr lang="en-IN" sz="2400" dirty="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a:latin typeface="Calibri"/>
                          <a:ea typeface="Times New Roman"/>
                          <a:cs typeface="Times New Roman"/>
                        </a:rPr>
                        <a:t>Training accuracy (%)</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a:latin typeface="Calibri"/>
                          <a:ea typeface="Times New Roman"/>
                          <a:cs typeface="Times New Roman"/>
                        </a:rPr>
                        <a:t>Testing accuracy (%)</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77240">
                <a:tc>
                  <a:txBody>
                    <a:bodyPr/>
                    <a:lstStyle/>
                    <a:p>
                      <a:pPr>
                        <a:lnSpc>
                          <a:spcPct val="115000"/>
                        </a:lnSpc>
                        <a:spcAft>
                          <a:spcPts val="1000"/>
                        </a:spcAft>
                      </a:pPr>
                      <a:r>
                        <a:rPr lang="en-US" sz="2400">
                          <a:latin typeface="Calibri"/>
                          <a:ea typeface="Times New Roman"/>
                          <a:cs typeface="Times New Roman"/>
                        </a:rPr>
                        <a:t>1</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US" sz="2400">
                          <a:latin typeface="Calibri"/>
                          <a:ea typeface="Times New Roman"/>
                          <a:cs typeface="Times New Roman"/>
                        </a:rPr>
                        <a:t>3</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US" sz="2400">
                          <a:latin typeface="Calibri"/>
                          <a:ea typeface="Times New Roman"/>
                          <a:cs typeface="Times New Roman"/>
                        </a:rPr>
                        <a:t>74</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US" sz="2400">
                          <a:latin typeface="Calibri"/>
                          <a:ea typeface="Times New Roman"/>
                          <a:cs typeface="Times New Roman"/>
                        </a:rPr>
                        <a:t>70</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777240">
                <a:tc>
                  <a:txBody>
                    <a:bodyPr/>
                    <a:lstStyle/>
                    <a:p>
                      <a:pPr>
                        <a:lnSpc>
                          <a:spcPct val="115000"/>
                        </a:lnSpc>
                        <a:spcAft>
                          <a:spcPts val="1000"/>
                        </a:spcAft>
                      </a:pPr>
                      <a:r>
                        <a:rPr lang="en-US" sz="2400">
                          <a:latin typeface="Calibri"/>
                          <a:ea typeface="Times New Roman"/>
                          <a:cs typeface="Times New Roman"/>
                        </a:rPr>
                        <a:t>2</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5</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dirty="0">
                          <a:latin typeface="Calibri"/>
                          <a:ea typeface="Times New Roman"/>
                          <a:cs typeface="Times New Roman"/>
                        </a:rPr>
                        <a:t>79</a:t>
                      </a:r>
                      <a:endParaRPr lang="en-IN" sz="2400" dirty="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80</a:t>
                      </a:r>
                      <a:endParaRPr lang="en-IN" sz="2400">
                        <a:latin typeface="Calibri"/>
                        <a:ea typeface="Times New Roman"/>
                        <a:cs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2"/>
                  </a:ext>
                </a:extLst>
              </a:tr>
              <a:tr h="777240">
                <a:tc>
                  <a:txBody>
                    <a:bodyPr/>
                    <a:lstStyle/>
                    <a:p>
                      <a:pPr>
                        <a:lnSpc>
                          <a:spcPct val="115000"/>
                        </a:lnSpc>
                        <a:spcAft>
                          <a:spcPts val="1000"/>
                        </a:spcAft>
                      </a:pPr>
                      <a:r>
                        <a:rPr lang="en-US" sz="2400">
                          <a:latin typeface="Calibri"/>
                          <a:ea typeface="Times New Roman"/>
                          <a:cs typeface="Times New Roman"/>
                        </a:rPr>
                        <a:t>3</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7</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78</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74</a:t>
                      </a:r>
                      <a:endParaRPr lang="en-IN" sz="2400">
                        <a:latin typeface="Calibri"/>
                        <a:ea typeface="Times New Roman"/>
                        <a:cs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3"/>
                  </a:ext>
                </a:extLst>
              </a:tr>
              <a:tr h="777240">
                <a:tc>
                  <a:txBody>
                    <a:bodyPr/>
                    <a:lstStyle/>
                    <a:p>
                      <a:pPr>
                        <a:lnSpc>
                          <a:spcPct val="115000"/>
                        </a:lnSpc>
                        <a:spcAft>
                          <a:spcPts val="1000"/>
                        </a:spcAft>
                      </a:pPr>
                      <a:r>
                        <a:rPr lang="en-US" sz="2400">
                          <a:latin typeface="Calibri"/>
                          <a:ea typeface="Times New Roman"/>
                          <a:cs typeface="Times New Roman"/>
                        </a:rPr>
                        <a:t>4</a:t>
                      </a:r>
                      <a:endParaRPr lang="en-IN" sz="2400">
                        <a:latin typeface="Calibri"/>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a:latin typeface="Calibri"/>
                          <a:ea typeface="Times New Roman"/>
                          <a:cs typeface="Times New Roman"/>
                        </a:rPr>
                        <a:t>9</a:t>
                      </a:r>
                      <a:endParaRPr lang="en-IN" sz="2400">
                        <a:latin typeface="Calibri"/>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a:latin typeface="Calibri"/>
                          <a:ea typeface="Times New Roman"/>
                          <a:cs typeface="Times New Roman"/>
                        </a:rPr>
                        <a:t>84</a:t>
                      </a:r>
                      <a:endParaRPr lang="en-IN" sz="2400">
                        <a:latin typeface="Calibri"/>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dirty="0">
                          <a:latin typeface="Calibri"/>
                          <a:ea typeface="Times New Roman"/>
                          <a:cs typeface="Times New Roman"/>
                        </a:rPr>
                        <a:t>81</a:t>
                      </a:r>
                      <a:endParaRPr lang="en-IN" sz="2400" dirty="0">
                        <a:latin typeface="Calibri"/>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505200" y="228600"/>
            <a:ext cx="3044952" cy="990600"/>
          </a:xfrm>
        </p:spPr>
        <p:txBody>
          <a:bodyPr>
            <a:normAutofit/>
          </a:bodyPr>
          <a:lstStyle/>
          <a:p>
            <a:r>
              <a:rPr lang="en-US" b="1" dirty="0" smtClean="0"/>
              <a:t>SVM</a:t>
            </a:r>
            <a:endParaRPr lang="en-IN" dirty="0"/>
          </a:p>
        </p:txBody>
      </p:sp>
      <p:sp>
        <p:nvSpPr>
          <p:cNvPr id="4100" name="Rectangle 3"/>
          <p:cNvSpPr>
            <a:spLocks noGrp="1" noChangeArrowheads="1"/>
          </p:cNvSpPr>
          <p:nvPr>
            <p:ph type="body" idx="1"/>
          </p:nvPr>
        </p:nvSpPr>
        <p:spPr/>
        <p:txBody>
          <a:bodyPr>
            <a:noAutofit/>
          </a:bodyPr>
          <a:lstStyle/>
          <a:p>
            <a:pPr lvl="0" algn="just"/>
            <a:r>
              <a:rPr lang="en-IN" sz="3200" dirty="0" smtClean="0"/>
              <a:t>In machine learning, support vector machines are supervised learning models with associated learning algorithms that analyze data used for classification. Given a set of training examples, each marked for belonging to one of two categories, an SVM training algorithm builds a model that assigns new examples into one category or the other, </a:t>
            </a:r>
            <a:r>
              <a:rPr lang="en-US" sz="3200" dirty="0" smtClean="0"/>
              <a:t>.</a:t>
            </a:r>
            <a:endParaRPr lang="en-IN" sz="3200" dirty="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30</a:t>
            </a:fld>
            <a:endParaRPr lang="en-US"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429000" y="228600"/>
            <a:ext cx="2740152" cy="990600"/>
          </a:xfrm>
        </p:spPr>
        <p:txBody>
          <a:bodyPr>
            <a:normAutofit/>
          </a:bodyPr>
          <a:lstStyle/>
          <a:p>
            <a:pPr eaLnBrk="1" hangingPunct="1"/>
            <a:r>
              <a:rPr lang="en-US" sz="4000" b="1" dirty="0" smtClean="0"/>
              <a:t>Result</a:t>
            </a:r>
            <a:endParaRPr lang="th-TH" sz="4000" b="1"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31</a:t>
            </a:fld>
            <a:endParaRPr lang="en-US" smtClean="0">
              <a:latin typeface="Arial" pitchFamily="34" charset="0"/>
            </a:endParaRPr>
          </a:p>
        </p:txBody>
      </p:sp>
      <p:graphicFrame>
        <p:nvGraphicFramePr>
          <p:cNvPr id="7" name="Table 6"/>
          <p:cNvGraphicFramePr>
            <a:graphicFrameLocks noGrp="1"/>
          </p:cNvGraphicFramePr>
          <p:nvPr/>
        </p:nvGraphicFramePr>
        <p:xfrm>
          <a:off x="228600" y="1981199"/>
          <a:ext cx="8381999" cy="4017264"/>
        </p:xfrm>
        <a:graphic>
          <a:graphicData uri="http://schemas.openxmlformats.org/drawingml/2006/table">
            <a:tbl>
              <a:tblPr/>
              <a:tblGrid>
                <a:gridCol w="1276428">
                  <a:extLst>
                    <a:ext uri="{9D8B030D-6E8A-4147-A177-3AD203B41FA5}">
                      <a16:colId xmlns:a16="http://schemas.microsoft.com/office/drawing/2014/main" val="20000"/>
                    </a:ext>
                  </a:extLst>
                </a:gridCol>
                <a:gridCol w="2503810">
                  <a:extLst>
                    <a:ext uri="{9D8B030D-6E8A-4147-A177-3AD203B41FA5}">
                      <a16:colId xmlns:a16="http://schemas.microsoft.com/office/drawing/2014/main" val="20001"/>
                    </a:ext>
                  </a:extLst>
                </a:gridCol>
                <a:gridCol w="2454763">
                  <a:extLst>
                    <a:ext uri="{9D8B030D-6E8A-4147-A177-3AD203B41FA5}">
                      <a16:colId xmlns:a16="http://schemas.microsoft.com/office/drawing/2014/main" val="20002"/>
                    </a:ext>
                  </a:extLst>
                </a:gridCol>
                <a:gridCol w="2146998">
                  <a:extLst>
                    <a:ext uri="{9D8B030D-6E8A-4147-A177-3AD203B41FA5}">
                      <a16:colId xmlns:a16="http://schemas.microsoft.com/office/drawing/2014/main" val="20003"/>
                    </a:ext>
                  </a:extLst>
                </a:gridCol>
              </a:tblGrid>
              <a:tr h="746760">
                <a:tc>
                  <a:txBody>
                    <a:bodyPr/>
                    <a:lstStyle/>
                    <a:p>
                      <a:pPr>
                        <a:lnSpc>
                          <a:spcPct val="115000"/>
                        </a:lnSpc>
                        <a:spcAft>
                          <a:spcPts val="1000"/>
                        </a:spcAft>
                      </a:pPr>
                      <a:r>
                        <a:rPr lang="en-IN" sz="2400">
                          <a:latin typeface="Calibri"/>
                          <a:ea typeface="Times New Roman"/>
                          <a:cs typeface="Times New Roman"/>
                        </a:rPr>
                        <a:t> </a:t>
                      </a:r>
                      <a:r>
                        <a:rPr lang="en-US" sz="2400">
                          <a:latin typeface="Calibri"/>
                          <a:ea typeface="Times New Roman"/>
                          <a:cs typeface="Times New Roman"/>
                        </a:rPr>
                        <a:t>Exp No.</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a:latin typeface="Calibri"/>
                          <a:ea typeface="Times New Roman"/>
                          <a:cs typeface="Times New Roman"/>
                        </a:rPr>
                        <a:t>Function Kernel</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a:latin typeface="Calibri"/>
                          <a:ea typeface="Times New Roman"/>
                          <a:cs typeface="Times New Roman"/>
                        </a:rPr>
                        <a:t>Training accuracy(%)</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a:latin typeface="Calibri"/>
                          <a:ea typeface="Times New Roman"/>
                          <a:cs typeface="Times New Roman"/>
                        </a:rPr>
                        <a:t>Test accuracy (%)</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46760">
                <a:tc>
                  <a:txBody>
                    <a:bodyPr/>
                    <a:lstStyle/>
                    <a:p>
                      <a:pPr>
                        <a:lnSpc>
                          <a:spcPct val="115000"/>
                        </a:lnSpc>
                        <a:spcAft>
                          <a:spcPts val="1000"/>
                        </a:spcAft>
                      </a:pPr>
                      <a:r>
                        <a:rPr lang="en-US" sz="2400">
                          <a:latin typeface="Calibri"/>
                          <a:ea typeface="Times New Roman"/>
                          <a:cs typeface="Times New Roman"/>
                        </a:rPr>
                        <a:t>1.</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US" sz="2400">
                          <a:latin typeface="Calibri"/>
                          <a:ea typeface="Times New Roman"/>
                          <a:cs typeface="Times New Roman"/>
                        </a:rPr>
                        <a:t>Linear function</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US" sz="2400">
                          <a:latin typeface="Calibri"/>
                          <a:ea typeface="Times New Roman"/>
                          <a:cs typeface="Times New Roman"/>
                        </a:rPr>
                        <a:t>68</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US" sz="2400">
                          <a:latin typeface="Calibri"/>
                          <a:ea typeface="Times New Roman"/>
                          <a:cs typeface="Times New Roman"/>
                        </a:rPr>
                        <a:t>71</a:t>
                      </a:r>
                      <a:endParaRPr lang="en-IN" sz="2400">
                        <a:latin typeface="Calibri"/>
                        <a:ea typeface="Times New Roman"/>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746760">
                <a:tc>
                  <a:txBody>
                    <a:bodyPr/>
                    <a:lstStyle/>
                    <a:p>
                      <a:pPr>
                        <a:lnSpc>
                          <a:spcPct val="115000"/>
                        </a:lnSpc>
                        <a:spcAft>
                          <a:spcPts val="1000"/>
                        </a:spcAft>
                      </a:pPr>
                      <a:r>
                        <a:rPr lang="en-US" sz="2400">
                          <a:latin typeface="Calibri"/>
                          <a:ea typeface="Times New Roman"/>
                          <a:cs typeface="Times New Roman"/>
                        </a:rPr>
                        <a:t>2.</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Quadratic function</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70</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76</a:t>
                      </a:r>
                      <a:endParaRPr lang="en-IN" sz="2400">
                        <a:latin typeface="Calibri"/>
                        <a:ea typeface="Times New Roman"/>
                        <a:cs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2"/>
                  </a:ext>
                </a:extLst>
              </a:tr>
              <a:tr h="746760">
                <a:tc>
                  <a:txBody>
                    <a:bodyPr/>
                    <a:lstStyle/>
                    <a:p>
                      <a:pPr>
                        <a:lnSpc>
                          <a:spcPct val="115000"/>
                        </a:lnSpc>
                        <a:spcAft>
                          <a:spcPts val="1000"/>
                        </a:spcAft>
                      </a:pPr>
                      <a:r>
                        <a:rPr lang="en-US" sz="2400">
                          <a:latin typeface="Calibri"/>
                          <a:ea typeface="Times New Roman"/>
                          <a:cs typeface="Times New Roman"/>
                        </a:rPr>
                        <a:t>3.</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Polynomial function</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84</a:t>
                      </a:r>
                      <a:endParaRPr lang="en-IN" sz="2400">
                        <a:latin typeface="Calibri"/>
                        <a:ea typeface="Times New Roman"/>
                        <a:cs typeface="Times New Roman"/>
                      </a:endParaRPr>
                    </a:p>
                  </a:txBody>
                  <a:tcPr marL="68580" marR="68580" marT="0" marB="0" anchor="ctr">
                    <a:lnL>
                      <a:noFill/>
                    </a:lnL>
                    <a:lnR>
                      <a:noFill/>
                    </a:lnR>
                    <a:lnT>
                      <a:noFill/>
                    </a:lnT>
                    <a:lnB>
                      <a:noFill/>
                    </a:lnB>
                  </a:tcPr>
                </a:tc>
                <a:tc>
                  <a:txBody>
                    <a:bodyPr/>
                    <a:lstStyle/>
                    <a:p>
                      <a:pPr>
                        <a:lnSpc>
                          <a:spcPct val="115000"/>
                        </a:lnSpc>
                        <a:spcAft>
                          <a:spcPts val="1000"/>
                        </a:spcAft>
                      </a:pPr>
                      <a:r>
                        <a:rPr lang="en-US" sz="2400">
                          <a:latin typeface="Calibri"/>
                          <a:ea typeface="Times New Roman"/>
                          <a:cs typeface="Times New Roman"/>
                        </a:rPr>
                        <a:t>84</a:t>
                      </a:r>
                      <a:endParaRPr lang="en-IN" sz="2400">
                        <a:latin typeface="Calibri"/>
                        <a:ea typeface="Times New Roman"/>
                        <a:cs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3"/>
                  </a:ext>
                </a:extLst>
              </a:tr>
              <a:tr h="746760">
                <a:tc>
                  <a:txBody>
                    <a:bodyPr/>
                    <a:lstStyle/>
                    <a:p>
                      <a:pPr>
                        <a:lnSpc>
                          <a:spcPct val="115000"/>
                        </a:lnSpc>
                        <a:spcAft>
                          <a:spcPts val="1000"/>
                        </a:spcAft>
                      </a:pPr>
                      <a:r>
                        <a:rPr lang="en-US" sz="2400">
                          <a:latin typeface="Calibri"/>
                          <a:ea typeface="Times New Roman"/>
                          <a:cs typeface="Times New Roman"/>
                        </a:rPr>
                        <a:t>4.</a:t>
                      </a:r>
                      <a:endParaRPr lang="en-IN" sz="2400">
                        <a:latin typeface="Calibri"/>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a:latin typeface="Calibri"/>
                          <a:ea typeface="Times New Roman"/>
                          <a:cs typeface="Times New Roman"/>
                        </a:rPr>
                        <a:t>Radial Basis Function</a:t>
                      </a:r>
                      <a:endParaRPr lang="en-IN" sz="2400">
                        <a:latin typeface="Calibri"/>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a:latin typeface="Calibri"/>
                          <a:ea typeface="Times New Roman"/>
                          <a:cs typeface="Times New Roman"/>
                        </a:rPr>
                        <a:t>88</a:t>
                      </a:r>
                      <a:endParaRPr lang="en-IN" sz="2400">
                        <a:latin typeface="Calibri"/>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400" dirty="0">
                          <a:latin typeface="Calibri"/>
                          <a:ea typeface="Times New Roman"/>
                          <a:cs typeface="Times New Roman"/>
                        </a:rPr>
                        <a:t>84</a:t>
                      </a:r>
                      <a:endParaRPr lang="en-IN" sz="2400" dirty="0">
                        <a:latin typeface="Calibri"/>
                        <a:ea typeface="Times New Roman"/>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ransition>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505200" y="228600"/>
            <a:ext cx="3044952" cy="990600"/>
          </a:xfrm>
        </p:spPr>
        <p:txBody>
          <a:bodyPr>
            <a:normAutofit fontScale="90000"/>
          </a:bodyPr>
          <a:lstStyle/>
          <a:p>
            <a:r>
              <a:rPr lang="en-US" b="1" dirty="0" smtClean="0"/>
              <a:t>Classifier Fusion</a:t>
            </a:r>
            <a:endParaRPr lang="en-IN" dirty="0"/>
          </a:p>
        </p:txBody>
      </p:sp>
      <p:sp>
        <p:nvSpPr>
          <p:cNvPr id="4100" name="Rectangle 3"/>
          <p:cNvSpPr>
            <a:spLocks noGrp="1" noChangeArrowheads="1"/>
          </p:cNvSpPr>
          <p:nvPr>
            <p:ph type="body" idx="1"/>
          </p:nvPr>
        </p:nvSpPr>
        <p:spPr>
          <a:xfrm>
            <a:off x="612648" y="1600200"/>
            <a:ext cx="8153400" cy="4724400"/>
          </a:xfrm>
        </p:spPr>
        <p:txBody>
          <a:bodyPr>
            <a:noAutofit/>
          </a:bodyPr>
          <a:lstStyle/>
          <a:p>
            <a:pPr algn="just"/>
            <a:r>
              <a:rPr lang="en-IN" sz="3200" dirty="0" smtClean="0"/>
              <a:t>Classifier fusion combines many classifiers and provides the result by combining the results of the individual classifiers. </a:t>
            </a:r>
          </a:p>
          <a:p>
            <a:pPr algn="just"/>
            <a:r>
              <a:rPr lang="en-IN" sz="3200" dirty="0" smtClean="0"/>
              <a:t>In this paper, we have combined the results of ANN, SVM and KNN models to achieve the classifier fusion result. </a:t>
            </a:r>
          </a:p>
          <a:p>
            <a:pPr algn="just"/>
            <a:r>
              <a:rPr lang="en-IN" sz="3200" dirty="0" smtClean="0"/>
              <a:t>Thus, the performance of classifier fusion is likely superior than the individual classifiers used in isolation. </a:t>
            </a:r>
            <a:endParaRPr lang="en-IN" sz="3200" dirty="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32</a:t>
            </a:fld>
            <a:endParaRPr lang="en-US"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429000" y="228600"/>
            <a:ext cx="2740152" cy="990600"/>
          </a:xfrm>
        </p:spPr>
        <p:txBody>
          <a:bodyPr>
            <a:normAutofit/>
          </a:bodyPr>
          <a:lstStyle/>
          <a:p>
            <a:pPr eaLnBrk="1" hangingPunct="1"/>
            <a:r>
              <a:rPr lang="en-US" sz="4000" b="1" dirty="0" smtClean="0"/>
              <a:t>Result</a:t>
            </a:r>
            <a:endParaRPr lang="th-TH" sz="4000" b="1" dirty="0" smtClean="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33</a:t>
            </a:fld>
            <a:endParaRPr lang="en-US" smtClean="0">
              <a:latin typeface="Arial" pitchFamily="34" charset="0"/>
            </a:endParaRPr>
          </a:p>
        </p:txBody>
      </p:sp>
      <p:graphicFrame>
        <p:nvGraphicFramePr>
          <p:cNvPr id="6" name="Table 5"/>
          <p:cNvGraphicFramePr>
            <a:graphicFrameLocks noGrp="1"/>
          </p:cNvGraphicFramePr>
          <p:nvPr/>
        </p:nvGraphicFramePr>
        <p:xfrm>
          <a:off x="457200" y="1752600"/>
          <a:ext cx="8153401" cy="4434840"/>
        </p:xfrm>
        <a:graphic>
          <a:graphicData uri="http://schemas.openxmlformats.org/drawingml/2006/table">
            <a:tbl>
              <a:tblPr/>
              <a:tblGrid>
                <a:gridCol w="1439366">
                  <a:extLst>
                    <a:ext uri="{9D8B030D-6E8A-4147-A177-3AD203B41FA5}">
                      <a16:colId xmlns:a16="http://schemas.microsoft.com/office/drawing/2014/main" val="20000"/>
                    </a:ext>
                  </a:extLst>
                </a:gridCol>
                <a:gridCol w="1599547">
                  <a:extLst>
                    <a:ext uri="{9D8B030D-6E8A-4147-A177-3AD203B41FA5}">
                      <a16:colId xmlns:a16="http://schemas.microsoft.com/office/drawing/2014/main" val="20001"/>
                    </a:ext>
                  </a:extLst>
                </a:gridCol>
                <a:gridCol w="1756342">
                  <a:extLst>
                    <a:ext uri="{9D8B030D-6E8A-4147-A177-3AD203B41FA5}">
                      <a16:colId xmlns:a16="http://schemas.microsoft.com/office/drawing/2014/main" val="20002"/>
                    </a:ext>
                  </a:extLst>
                </a:gridCol>
                <a:gridCol w="1599547">
                  <a:extLst>
                    <a:ext uri="{9D8B030D-6E8A-4147-A177-3AD203B41FA5}">
                      <a16:colId xmlns:a16="http://schemas.microsoft.com/office/drawing/2014/main" val="20003"/>
                    </a:ext>
                  </a:extLst>
                </a:gridCol>
                <a:gridCol w="1758599">
                  <a:extLst>
                    <a:ext uri="{9D8B030D-6E8A-4147-A177-3AD203B41FA5}">
                      <a16:colId xmlns:a16="http://schemas.microsoft.com/office/drawing/2014/main" val="20004"/>
                    </a:ext>
                  </a:extLst>
                </a:gridCol>
              </a:tblGrid>
              <a:tr h="990600">
                <a:tc>
                  <a:txBody>
                    <a:bodyPr/>
                    <a:lstStyle/>
                    <a:p>
                      <a:pPr marL="21590" indent="144145" algn="just">
                        <a:spcAft>
                          <a:spcPts val="0"/>
                        </a:spcAft>
                      </a:pPr>
                      <a:r>
                        <a:rPr lang="en-US" sz="2400" dirty="0" err="1">
                          <a:latin typeface="Times New Roman"/>
                          <a:ea typeface="Arial Unicode MS"/>
                          <a:cs typeface="Times New Roman"/>
                        </a:rPr>
                        <a:t>Expt</a:t>
                      </a:r>
                      <a:r>
                        <a:rPr lang="en-US" sz="2400" dirty="0">
                          <a:latin typeface="Times New Roman"/>
                          <a:ea typeface="Arial Unicode MS"/>
                          <a:cs typeface="Times New Roman"/>
                        </a:rPr>
                        <a:t>#</a:t>
                      </a:r>
                      <a:endParaRPr lang="en-IN" sz="2400" dirty="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1590" algn="ctr">
                        <a:spcAft>
                          <a:spcPts val="0"/>
                        </a:spcAft>
                      </a:pPr>
                      <a:r>
                        <a:rPr lang="en-US" sz="2400" dirty="0">
                          <a:latin typeface="Times New Roman"/>
                          <a:ea typeface="Arial Unicode MS"/>
                          <a:cs typeface="Times New Roman"/>
                        </a:rPr>
                        <a:t>ANN classifier </a:t>
                      </a:r>
                      <a:endParaRPr lang="en-IN" sz="2400" dirty="0">
                        <a:latin typeface="Times"/>
                        <a:ea typeface="Times New Roman"/>
                        <a:cs typeface="Times New Roman"/>
                      </a:endParaRPr>
                    </a:p>
                    <a:p>
                      <a:pPr indent="144145" algn="just">
                        <a:spcAft>
                          <a:spcPts val="0"/>
                        </a:spcAft>
                      </a:pPr>
                      <a:r>
                        <a:rPr lang="en-US" sz="2400" dirty="0">
                          <a:latin typeface="Times New Roman"/>
                          <a:ea typeface="Arial Unicode MS"/>
                          <a:cs typeface="Times New Roman"/>
                        </a:rPr>
                        <a:t>Accuracy (%)  </a:t>
                      </a:r>
                      <a:endParaRPr lang="en-IN" sz="2400" dirty="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0955" algn="ctr">
                        <a:spcAft>
                          <a:spcPts val="0"/>
                        </a:spcAft>
                      </a:pPr>
                      <a:r>
                        <a:rPr lang="en-US" sz="2400">
                          <a:latin typeface="Times New Roman"/>
                          <a:ea typeface="Arial Unicode MS"/>
                          <a:cs typeface="Times New Roman"/>
                        </a:rPr>
                        <a:t>SVM classifier </a:t>
                      </a:r>
                      <a:endParaRPr lang="en-IN" sz="2400">
                        <a:latin typeface="Times"/>
                        <a:ea typeface="Times New Roman"/>
                        <a:cs typeface="Times New Roman"/>
                      </a:endParaRPr>
                    </a:p>
                    <a:p>
                      <a:pPr indent="20955" algn="ctr">
                        <a:spcAft>
                          <a:spcPts val="0"/>
                        </a:spcAft>
                      </a:pPr>
                      <a:r>
                        <a:rPr lang="en-US" sz="2400">
                          <a:latin typeface="Times New Roman"/>
                          <a:ea typeface="Arial Unicode MS"/>
                          <a:cs typeface="Times New Roman"/>
                        </a:rPr>
                        <a:t>Accuracy (%)  </a:t>
                      </a:r>
                      <a:endParaRPr lang="en-IN" sz="240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 indent="144145" algn="just">
                        <a:spcAft>
                          <a:spcPts val="0"/>
                        </a:spcAft>
                      </a:pPr>
                      <a:r>
                        <a:rPr lang="en-IN" sz="2400">
                          <a:latin typeface="Times New Roman"/>
                          <a:ea typeface="Arial Unicode MS"/>
                          <a:cs typeface="Times New Roman"/>
                        </a:rPr>
                        <a:t>kNN with k=5</a:t>
                      </a:r>
                      <a:endParaRPr lang="en-IN" sz="2400">
                        <a:latin typeface="Times"/>
                        <a:ea typeface="Times New Roman"/>
                        <a:cs typeface="Times New Roman"/>
                      </a:endParaRPr>
                    </a:p>
                    <a:p>
                      <a:pPr indent="144145" algn="just">
                        <a:spcAft>
                          <a:spcPts val="0"/>
                        </a:spcAft>
                      </a:pPr>
                      <a:r>
                        <a:rPr lang="en-US" sz="2400">
                          <a:latin typeface="Times New Roman"/>
                          <a:ea typeface="Arial Unicode MS"/>
                          <a:cs typeface="Times New Roman"/>
                        </a:rPr>
                        <a:t>Accuracy (%)  </a:t>
                      </a:r>
                      <a:endParaRPr lang="en-IN" sz="240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225" algn="ctr">
                        <a:spcAft>
                          <a:spcPts val="0"/>
                        </a:spcAft>
                      </a:pPr>
                      <a:r>
                        <a:rPr lang="en-US" sz="2400">
                          <a:latin typeface="Times New Roman"/>
                          <a:ea typeface="Arial Unicode MS"/>
                          <a:cs typeface="Times New Roman"/>
                        </a:rPr>
                        <a:t>Classifier fusion</a:t>
                      </a:r>
                      <a:endParaRPr lang="en-IN" sz="2400">
                        <a:latin typeface="Times"/>
                        <a:ea typeface="Times New Roman"/>
                        <a:cs typeface="Times New Roman"/>
                      </a:endParaRPr>
                    </a:p>
                    <a:p>
                      <a:pPr indent="144145" algn="ctr">
                        <a:spcAft>
                          <a:spcPts val="0"/>
                        </a:spcAft>
                      </a:pPr>
                      <a:r>
                        <a:rPr lang="en-US" sz="2400">
                          <a:latin typeface="Times New Roman"/>
                          <a:ea typeface="Arial Unicode MS"/>
                          <a:cs typeface="Times New Roman"/>
                        </a:rPr>
                        <a:t>Accuracy (%)</a:t>
                      </a:r>
                      <a:endParaRPr lang="en-IN" sz="240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5300">
                <a:tc>
                  <a:txBody>
                    <a:bodyPr/>
                    <a:lstStyle/>
                    <a:p>
                      <a:pPr marL="21590" indent="144145" algn="just">
                        <a:spcAft>
                          <a:spcPts val="0"/>
                        </a:spcAft>
                      </a:pPr>
                      <a:r>
                        <a:rPr lang="en-US" sz="2400">
                          <a:latin typeface="Times New Roman"/>
                          <a:ea typeface="Arial Unicode MS"/>
                          <a:cs typeface="Times New Roman"/>
                        </a:rPr>
                        <a:t> 1</a:t>
                      </a:r>
                      <a:endParaRPr lang="en-IN" sz="240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144145" algn="ctr">
                        <a:spcAft>
                          <a:spcPts val="0"/>
                        </a:spcAft>
                      </a:pPr>
                      <a:r>
                        <a:rPr lang="en-US" sz="2400">
                          <a:latin typeface="Times New Roman"/>
                          <a:ea typeface="Arial Unicode MS"/>
                          <a:cs typeface="Times New Roman"/>
                        </a:rPr>
                        <a:t>89.67</a:t>
                      </a:r>
                      <a:endParaRPr lang="en-IN" sz="240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0955" algn="ctr">
                        <a:spcAft>
                          <a:spcPts val="0"/>
                        </a:spcAft>
                      </a:pPr>
                      <a:r>
                        <a:rPr lang="en-US" sz="2400">
                          <a:latin typeface="Times New Roman"/>
                          <a:ea typeface="Arial Unicode MS"/>
                          <a:cs typeface="Times New Roman"/>
                        </a:rPr>
                        <a:t>91.62</a:t>
                      </a:r>
                      <a:endParaRPr lang="en-IN" sz="240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144145" algn="ctr">
                        <a:spcAft>
                          <a:spcPts val="0"/>
                        </a:spcAft>
                      </a:pPr>
                      <a:r>
                        <a:rPr lang="en-US" sz="2400">
                          <a:latin typeface="Times New Roman"/>
                          <a:ea typeface="Arial Unicode MS"/>
                          <a:cs typeface="Times New Roman"/>
                        </a:rPr>
                        <a:t>80.76</a:t>
                      </a:r>
                      <a:endParaRPr lang="en-IN" sz="240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144145" algn="ctr">
                        <a:spcAft>
                          <a:spcPts val="0"/>
                        </a:spcAft>
                      </a:pPr>
                      <a:r>
                        <a:rPr lang="en-US" sz="2400">
                          <a:latin typeface="Times New Roman"/>
                          <a:ea typeface="Arial Unicode MS"/>
                          <a:cs typeface="Times New Roman"/>
                        </a:rPr>
                        <a:t>89.67</a:t>
                      </a:r>
                      <a:endParaRPr lang="en-IN" sz="2400">
                        <a:latin typeface="Times"/>
                        <a:ea typeface="Times New Roman"/>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495300">
                <a:tc>
                  <a:txBody>
                    <a:bodyPr/>
                    <a:lstStyle/>
                    <a:p>
                      <a:pPr marL="21590" indent="144145" algn="just">
                        <a:spcAft>
                          <a:spcPts val="0"/>
                        </a:spcAft>
                      </a:pPr>
                      <a:r>
                        <a:rPr lang="en-US" sz="2400">
                          <a:latin typeface="Times New Roman"/>
                          <a:ea typeface="Arial Unicode MS"/>
                          <a:cs typeface="Times New Roman"/>
                        </a:rPr>
                        <a:t> 2</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92.91</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20955" algn="ctr">
                        <a:spcAft>
                          <a:spcPts val="0"/>
                        </a:spcAft>
                      </a:pPr>
                      <a:r>
                        <a:rPr lang="en-US" sz="2400">
                          <a:latin typeface="Times New Roman"/>
                          <a:ea typeface="Arial Unicode MS"/>
                          <a:cs typeface="Times New Roman"/>
                        </a:rPr>
                        <a:t>91.92</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78.89</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90.75</a:t>
                      </a:r>
                      <a:endParaRPr lang="en-IN" sz="2400">
                        <a:latin typeface="Times"/>
                        <a:ea typeface="Times New Roma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495300">
                <a:tc>
                  <a:txBody>
                    <a:bodyPr/>
                    <a:lstStyle/>
                    <a:p>
                      <a:pPr marL="21590" indent="144145" algn="just">
                        <a:spcAft>
                          <a:spcPts val="0"/>
                        </a:spcAft>
                      </a:pPr>
                      <a:r>
                        <a:rPr lang="en-US" sz="2400">
                          <a:latin typeface="Times New Roman"/>
                          <a:ea typeface="Arial Unicode MS"/>
                          <a:cs typeface="Times New Roman"/>
                        </a:rPr>
                        <a:t> 3</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87.82</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20955" algn="ctr">
                        <a:spcAft>
                          <a:spcPts val="0"/>
                        </a:spcAft>
                      </a:pPr>
                      <a:r>
                        <a:rPr lang="en-US" sz="2400">
                          <a:latin typeface="Times New Roman"/>
                          <a:ea typeface="Arial Unicode MS"/>
                          <a:cs typeface="Times New Roman"/>
                        </a:rPr>
                        <a:t>88.52</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91.82</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87.82</a:t>
                      </a:r>
                      <a:endParaRPr lang="en-IN" sz="2400">
                        <a:latin typeface="Times"/>
                        <a:ea typeface="Times New Roma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495300">
                <a:tc>
                  <a:txBody>
                    <a:bodyPr/>
                    <a:lstStyle/>
                    <a:p>
                      <a:pPr marL="21590" indent="144145" algn="just">
                        <a:spcAft>
                          <a:spcPts val="0"/>
                        </a:spcAft>
                      </a:pPr>
                      <a:r>
                        <a:rPr lang="en-US" sz="2400">
                          <a:latin typeface="Times New Roman"/>
                          <a:ea typeface="Arial Unicode MS"/>
                          <a:cs typeface="Times New Roman"/>
                        </a:rPr>
                        <a:t> 4</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93.60</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20955" algn="ctr">
                        <a:spcAft>
                          <a:spcPts val="0"/>
                        </a:spcAft>
                      </a:pPr>
                      <a:r>
                        <a:rPr lang="en-US" sz="2400">
                          <a:latin typeface="Times New Roman"/>
                          <a:ea typeface="Arial Unicode MS"/>
                          <a:cs typeface="Times New Roman"/>
                        </a:rPr>
                        <a:t>85.60</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90.40</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89.60</a:t>
                      </a:r>
                      <a:endParaRPr lang="en-IN" sz="2400">
                        <a:latin typeface="Times"/>
                        <a:ea typeface="Times New Roma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495300">
                <a:tc>
                  <a:txBody>
                    <a:bodyPr/>
                    <a:lstStyle/>
                    <a:p>
                      <a:pPr marL="21590" indent="144145" algn="just">
                        <a:spcAft>
                          <a:spcPts val="0"/>
                        </a:spcAft>
                      </a:pPr>
                      <a:r>
                        <a:rPr lang="en-US" sz="2400">
                          <a:latin typeface="Times New Roman"/>
                          <a:ea typeface="Arial Unicode MS"/>
                          <a:cs typeface="Times New Roman"/>
                        </a:rPr>
                        <a:t> 5</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91.01</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20955" algn="ctr">
                        <a:spcAft>
                          <a:spcPts val="0"/>
                        </a:spcAft>
                      </a:pPr>
                      <a:r>
                        <a:rPr lang="en-US" sz="2400">
                          <a:latin typeface="Times New Roman"/>
                          <a:ea typeface="Arial Unicode MS"/>
                          <a:cs typeface="Times New Roman"/>
                        </a:rPr>
                        <a:t>89.21</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a:latin typeface="Times New Roman"/>
                          <a:ea typeface="Arial Unicode MS"/>
                          <a:cs typeface="Times New Roman"/>
                        </a:rPr>
                        <a:t>92.21</a:t>
                      </a:r>
                      <a:endParaRPr lang="en-IN" sz="2400">
                        <a:latin typeface="Times"/>
                        <a:ea typeface="Times New Roman"/>
                        <a:cs typeface="Times New Roman"/>
                      </a:endParaRPr>
                    </a:p>
                  </a:txBody>
                  <a:tcPr marL="68580" marR="68580" marT="0" marB="0">
                    <a:lnL>
                      <a:noFill/>
                    </a:lnL>
                    <a:lnR>
                      <a:noFill/>
                    </a:lnR>
                    <a:lnT>
                      <a:noFill/>
                    </a:lnT>
                    <a:lnB>
                      <a:noFill/>
                    </a:lnB>
                  </a:tcPr>
                </a:tc>
                <a:tc>
                  <a:txBody>
                    <a:bodyPr/>
                    <a:lstStyle/>
                    <a:p>
                      <a:pPr indent="144145" algn="ctr">
                        <a:spcAft>
                          <a:spcPts val="0"/>
                        </a:spcAft>
                      </a:pPr>
                      <a:r>
                        <a:rPr lang="en-US" sz="2400" dirty="0">
                          <a:latin typeface="Times New Roman"/>
                          <a:ea typeface="Arial Unicode MS"/>
                          <a:cs typeface="Times New Roman"/>
                        </a:rPr>
                        <a:t>86.75</a:t>
                      </a:r>
                      <a:endParaRPr lang="en-IN" sz="2400" dirty="0">
                        <a:latin typeface="Times"/>
                        <a:ea typeface="Times New Roma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r h="495300">
                <a:tc>
                  <a:txBody>
                    <a:bodyPr/>
                    <a:lstStyle/>
                    <a:p>
                      <a:pPr indent="144145" algn="just">
                        <a:spcAft>
                          <a:spcPts val="0"/>
                        </a:spcAft>
                      </a:pPr>
                      <a:endParaRPr lang="en-US" sz="1000">
                        <a:latin typeface="Times New Roman"/>
                        <a:ea typeface="Times New Roman"/>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144145" algn="just">
                        <a:spcAft>
                          <a:spcPts val="0"/>
                        </a:spcAft>
                      </a:pPr>
                      <a:endParaRPr lang="en-US" sz="1000">
                        <a:latin typeface="Times New Roman"/>
                        <a:ea typeface="Arial Unicode MS"/>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0955" algn="just">
                        <a:spcAft>
                          <a:spcPts val="0"/>
                        </a:spcAft>
                      </a:pPr>
                      <a:endParaRPr lang="en-US" sz="1000">
                        <a:latin typeface="Times New Roman"/>
                        <a:ea typeface="Arial Unicode MS"/>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144145" algn="just">
                        <a:spcAft>
                          <a:spcPts val="0"/>
                        </a:spcAft>
                      </a:pPr>
                      <a:endParaRPr lang="en-US" sz="1000">
                        <a:latin typeface="Times New Roman"/>
                        <a:ea typeface="Arial Unicode MS"/>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144145" algn="just">
                        <a:spcAft>
                          <a:spcPts val="0"/>
                        </a:spcAft>
                      </a:pPr>
                      <a:endParaRPr lang="en-US" sz="1000" dirty="0">
                        <a:latin typeface="Times New Roman"/>
                        <a:ea typeface="Arial Unicode MS"/>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lvl="0"/>
            <a:r>
              <a:rPr lang="en-IN" sz="2400" dirty="0" smtClean="0"/>
              <a:t>Comparison of success rate by different classifier using 5–fold cross validation</a:t>
            </a:r>
            <a:endParaRPr lang="en-IN" sz="2400" dirty="0"/>
          </a:p>
        </p:txBody>
      </p:sp>
      <p:sp>
        <p:nvSpPr>
          <p:cNvPr id="4101" name="Date Placeholder 4"/>
          <p:cNvSpPr>
            <a:spLocks noGrp="1"/>
          </p:cNvSpPr>
          <p:nvPr>
            <p:ph type="dt" sz="quarter" idx="10"/>
          </p:nvPr>
        </p:nvSpPr>
        <p:spPr>
          <a:noFill/>
        </p:spPr>
        <p:txBody>
          <a:bodyPr/>
          <a:lstStyle/>
          <a:p>
            <a:fld id="{053F8EAF-6FEB-488D-8ABD-8D961527C892}" type="datetime2">
              <a:rPr lang="en-US" smtClean="0">
                <a:latin typeface="Arial" pitchFamily="34" charset="0"/>
              </a:rPr>
              <a:pPr/>
              <a:t>Monday, May 11, 2026</a:t>
            </a:fld>
            <a:endParaRPr lang="en-US" smtClean="0">
              <a:latin typeface="Arial" pitchFamily="34" charset="0"/>
            </a:endParaRPr>
          </a:p>
        </p:txBody>
      </p:sp>
      <p:sp>
        <p:nvSpPr>
          <p:cNvPr id="4102" name="Slide Number Placeholder 5"/>
          <p:cNvSpPr>
            <a:spLocks noGrp="1"/>
          </p:cNvSpPr>
          <p:nvPr>
            <p:ph type="sldNum" sz="quarter" idx="12"/>
          </p:nvPr>
        </p:nvSpPr>
        <p:spPr>
          <a:noFill/>
        </p:spPr>
        <p:txBody>
          <a:bodyPr>
            <a:normAutofit fontScale="85000" lnSpcReduction="20000"/>
          </a:bodyPr>
          <a:lstStyle/>
          <a:p>
            <a:fld id="{CFC53ABB-0BE3-46F4-A347-7D2E4A7E59BA}" type="slidenum">
              <a:rPr lang="en-US" smtClean="0">
                <a:latin typeface="Arial" pitchFamily="34" charset="0"/>
              </a:rPr>
              <a:pPr/>
              <a:t>34</a:t>
            </a:fld>
            <a:endParaRPr lang="en-US" smtClean="0">
              <a:latin typeface="Arial" pitchFamily="34" charset="0"/>
            </a:endParaRPr>
          </a:p>
        </p:txBody>
      </p:sp>
      <p:graphicFrame>
        <p:nvGraphicFramePr>
          <p:cNvPr id="8" name="Table 7"/>
          <p:cNvGraphicFramePr>
            <a:graphicFrameLocks noGrp="1"/>
          </p:cNvGraphicFramePr>
          <p:nvPr/>
        </p:nvGraphicFramePr>
        <p:xfrm>
          <a:off x="762000" y="2209800"/>
          <a:ext cx="7010400" cy="3581400"/>
        </p:xfrm>
        <a:graphic>
          <a:graphicData uri="http://schemas.openxmlformats.org/drawingml/2006/table">
            <a:tbl>
              <a:tblPr/>
              <a:tblGrid>
                <a:gridCol w="2743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716280">
                <a:tc>
                  <a:txBody>
                    <a:bodyPr/>
                    <a:lstStyle/>
                    <a:p>
                      <a:pPr>
                        <a:lnSpc>
                          <a:spcPct val="115000"/>
                        </a:lnSpc>
                        <a:spcAft>
                          <a:spcPts val="1000"/>
                        </a:spcAft>
                      </a:pPr>
                      <a:r>
                        <a:rPr lang="en-IN" sz="2400">
                          <a:latin typeface="Times New Roman"/>
                        </a:rPr>
                        <a:t>Classifier</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IN" sz="2400">
                          <a:latin typeface="Times New Roman"/>
                        </a:rPr>
                        <a:t>Rate of Success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6280">
                <a:tc>
                  <a:txBody>
                    <a:bodyPr/>
                    <a:lstStyle/>
                    <a:p>
                      <a:pPr>
                        <a:lnSpc>
                          <a:spcPct val="115000"/>
                        </a:lnSpc>
                        <a:spcAft>
                          <a:spcPts val="1000"/>
                        </a:spcAft>
                      </a:pPr>
                      <a:r>
                        <a:rPr lang="en-IN" sz="2400">
                          <a:latin typeface="Times New Roman"/>
                        </a:rPr>
                        <a:t>ANN</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15000"/>
                        </a:lnSpc>
                        <a:spcAft>
                          <a:spcPts val="1000"/>
                        </a:spcAft>
                      </a:pPr>
                      <a:r>
                        <a:rPr lang="en-IN" sz="2400">
                          <a:latin typeface="Times New Roman"/>
                        </a:rPr>
                        <a:t>82.58</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716280">
                <a:tc>
                  <a:txBody>
                    <a:bodyPr/>
                    <a:lstStyle/>
                    <a:p>
                      <a:pPr>
                        <a:lnSpc>
                          <a:spcPct val="115000"/>
                        </a:lnSpc>
                        <a:spcAft>
                          <a:spcPts val="1000"/>
                        </a:spcAft>
                      </a:pPr>
                      <a:r>
                        <a:rPr lang="en-IN" sz="2400">
                          <a:latin typeface="Times New Roman"/>
                        </a:rPr>
                        <a:t>SVM</a:t>
                      </a:r>
                    </a:p>
                  </a:txBody>
                  <a:tcPr marL="68580" marR="68580" marT="0" marB="0">
                    <a:lnL>
                      <a:noFill/>
                    </a:lnL>
                    <a:lnR>
                      <a:noFill/>
                    </a:lnR>
                    <a:lnT>
                      <a:noFill/>
                    </a:lnT>
                    <a:lnB>
                      <a:noFill/>
                    </a:lnB>
                  </a:tcPr>
                </a:tc>
                <a:tc>
                  <a:txBody>
                    <a:bodyPr/>
                    <a:lstStyle/>
                    <a:p>
                      <a:pPr>
                        <a:lnSpc>
                          <a:spcPct val="115000"/>
                        </a:lnSpc>
                        <a:spcAft>
                          <a:spcPts val="1000"/>
                        </a:spcAft>
                      </a:pPr>
                      <a:r>
                        <a:rPr lang="en-IN" sz="2400">
                          <a:latin typeface="Times New Roman"/>
                        </a:rPr>
                        <a:t>80.11</a:t>
                      </a:r>
                    </a:p>
                  </a:txBody>
                  <a:tcPr marL="68580" marR="68580" marT="0" marB="0">
                    <a:lnL>
                      <a:noFill/>
                    </a:lnL>
                    <a:lnR>
                      <a:noFill/>
                    </a:lnR>
                    <a:lnT>
                      <a:noFill/>
                    </a:lnT>
                    <a:lnB>
                      <a:noFill/>
                    </a:lnB>
                  </a:tcPr>
                </a:tc>
                <a:extLst>
                  <a:ext uri="{0D108BD9-81ED-4DB2-BD59-A6C34878D82A}">
                    <a16:rowId xmlns:a16="http://schemas.microsoft.com/office/drawing/2014/main" val="10002"/>
                  </a:ext>
                </a:extLst>
              </a:tr>
              <a:tr h="716280">
                <a:tc>
                  <a:txBody>
                    <a:bodyPr/>
                    <a:lstStyle/>
                    <a:p>
                      <a:pPr>
                        <a:lnSpc>
                          <a:spcPct val="115000"/>
                        </a:lnSpc>
                        <a:spcAft>
                          <a:spcPts val="1000"/>
                        </a:spcAft>
                      </a:pPr>
                      <a:r>
                        <a:rPr lang="en-IN" sz="2400">
                          <a:latin typeface="Times New Roman"/>
                        </a:rPr>
                        <a:t>KNN</a:t>
                      </a:r>
                    </a:p>
                  </a:txBody>
                  <a:tcPr marL="68580" marR="68580" marT="0" marB="0">
                    <a:lnL>
                      <a:noFill/>
                    </a:lnL>
                    <a:lnR>
                      <a:noFill/>
                    </a:lnR>
                    <a:lnT>
                      <a:noFill/>
                    </a:lnT>
                    <a:lnB>
                      <a:noFill/>
                    </a:lnB>
                  </a:tcPr>
                </a:tc>
                <a:tc>
                  <a:txBody>
                    <a:bodyPr/>
                    <a:lstStyle/>
                    <a:p>
                      <a:pPr>
                        <a:lnSpc>
                          <a:spcPct val="115000"/>
                        </a:lnSpc>
                        <a:spcAft>
                          <a:spcPts val="1000"/>
                        </a:spcAft>
                      </a:pPr>
                      <a:r>
                        <a:rPr lang="en-IN" sz="2400">
                          <a:latin typeface="Times New Roman"/>
                        </a:rPr>
                        <a:t>87.72</a:t>
                      </a:r>
                    </a:p>
                  </a:txBody>
                  <a:tcPr marL="68580" marR="68580" marT="0" marB="0">
                    <a:lnL>
                      <a:noFill/>
                    </a:lnL>
                    <a:lnR>
                      <a:noFill/>
                    </a:lnR>
                    <a:lnT>
                      <a:noFill/>
                    </a:lnT>
                    <a:lnB>
                      <a:noFill/>
                    </a:lnB>
                  </a:tcPr>
                </a:tc>
                <a:extLst>
                  <a:ext uri="{0D108BD9-81ED-4DB2-BD59-A6C34878D82A}">
                    <a16:rowId xmlns:a16="http://schemas.microsoft.com/office/drawing/2014/main" val="10003"/>
                  </a:ext>
                </a:extLst>
              </a:tr>
              <a:tr h="716280">
                <a:tc>
                  <a:txBody>
                    <a:bodyPr/>
                    <a:lstStyle/>
                    <a:p>
                      <a:pPr>
                        <a:lnSpc>
                          <a:spcPct val="115000"/>
                        </a:lnSpc>
                        <a:spcAft>
                          <a:spcPts val="1000"/>
                        </a:spcAft>
                      </a:pPr>
                      <a:r>
                        <a:rPr lang="en-IN" sz="2400">
                          <a:latin typeface="Times New Roman"/>
                        </a:rPr>
                        <a:t>Classifier fusion</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IN" sz="2400" dirty="0">
                          <a:latin typeface="Times New Roman"/>
                        </a:rPr>
                        <a:t>93.56</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ransition>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nvGraphicFramePr>
        <p:xfrm>
          <a:off x="0" y="228600"/>
          <a:ext cx="9144000" cy="99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Date Placeholder 6"/>
          <p:cNvSpPr>
            <a:spLocks noGrp="1"/>
          </p:cNvSpPr>
          <p:nvPr>
            <p:ph type="dt" sz="half" idx="10"/>
          </p:nvPr>
        </p:nvSpPr>
        <p:spPr/>
        <p:txBody>
          <a:bodyPr/>
          <a:lstStyle/>
          <a:p>
            <a:fld id="{0438335A-BBAC-4676-8E42-0F122890BB06}" type="datetime1">
              <a:rPr lang="en-US" smtClean="0"/>
              <a:pPr/>
              <a:t>5/11/2026</a:t>
            </a:fld>
            <a:endParaRPr lang="en-US"/>
          </a:p>
        </p:txBody>
      </p:sp>
      <p:sp>
        <p:nvSpPr>
          <p:cNvPr id="8" name="Content Placeholder 2"/>
          <p:cNvSpPr txBox="1">
            <a:spLocks/>
          </p:cNvSpPr>
          <p:nvPr/>
        </p:nvSpPr>
        <p:spPr>
          <a:xfrm>
            <a:off x="381000" y="1752600"/>
            <a:ext cx="8537448" cy="4495800"/>
          </a:xfrm>
          <a:prstGeom prst="rect">
            <a:avLst/>
          </a:prstGeom>
        </p:spPr>
        <p:txBody>
          <a:bodyPr vert="horz">
            <a:normAutofit/>
          </a:bodyPr>
          <a:lstStyle/>
          <a:p>
            <a:pPr algn="just"/>
            <a:r>
              <a:rPr lang="en-IN" sz="2800" dirty="0" smtClean="0"/>
              <a:t>It was noted that from all the other individual classifiers for various feature set performed the performance of the classifier fusion is best. Therefore we get the highest overall accuracy of 93.56% by using the combination of optimal features and classifier fusion as compared to other feature and classifier combinations.</a:t>
            </a:r>
            <a:endParaRPr lang="en-IN" sz="2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Conclusion</a:t>
            </a:r>
            <a:endParaRPr lang="en-US" b="1" dirty="0" smtClean="0">
              <a:solidFill>
                <a:srgbClr val="FF0000"/>
              </a:solidFill>
            </a:endParaRPr>
          </a:p>
        </p:txBody>
      </p:sp>
      <p:sp>
        <p:nvSpPr>
          <p:cNvPr id="3" name="Date Placeholder 2"/>
          <p:cNvSpPr>
            <a:spLocks noGrp="1"/>
          </p:cNvSpPr>
          <p:nvPr>
            <p:ph type="dt" sz="half" idx="10"/>
          </p:nvPr>
        </p:nvSpPr>
        <p:spPr/>
        <p:txBody>
          <a:bodyPr/>
          <a:lstStyle/>
          <a:p>
            <a:fld id="{5A9B8384-26D2-44B7-B750-847CEE8EDC79}" type="datetime1">
              <a:rPr lang="en-US" smtClean="0"/>
              <a:pPr/>
              <a:t>5/11/2026</a:t>
            </a:fld>
            <a:endParaRPr lang="en-US"/>
          </a:p>
        </p:txBody>
      </p:sp>
      <p:sp>
        <p:nvSpPr>
          <p:cNvPr id="4" name="Content Placeholder 3"/>
          <p:cNvSpPr>
            <a:spLocks noGrp="1"/>
          </p:cNvSpPr>
          <p:nvPr>
            <p:ph sz="quarter" idx="1"/>
          </p:nvPr>
        </p:nvSpPr>
        <p:spPr>
          <a:xfrm>
            <a:off x="228600" y="1600200"/>
            <a:ext cx="8686800" cy="5029200"/>
          </a:xfrm>
        </p:spPr>
        <p:txBody>
          <a:bodyPr>
            <a:normAutofit lnSpcReduction="10000"/>
          </a:bodyPr>
          <a:lstStyle/>
          <a:p>
            <a:r>
              <a:rPr lang="en-IN" sz="3200" dirty="0" smtClean="0"/>
              <a:t>The proposed system can be used for developing a gesture controlled hexadecimal keyboard making human-computer interaction easier. </a:t>
            </a:r>
          </a:p>
          <a:p>
            <a:r>
              <a:rPr lang="en-IN" sz="3200" dirty="0" smtClean="0"/>
              <a:t>The results of the three individual classifiers were combining to provide the classifier fusion results. </a:t>
            </a:r>
          </a:p>
          <a:p>
            <a:r>
              <a:rPr lang="en-IN" sz="3200" dirty="0" smtClean="0"/>
              <a:t>After this, 5-fold cross validation was used to provide overall accuracy of the system. </a:t>
            </a:r>
          </a:p>
          <a:p>
            <a:r>
              <a:rPr lang="en-IN" sz="3200" dirty="0" smtClean="0"/>
              <a:t>Overall accuracy was observed to be 82.58, 8.11%, 87.72% and 93.56% using the ANN, SVM, KNN and classifier fusion respectively. </a:t>
            </a:r>
          </a:p>
          <a:p>
            <a:pPr lvl="0">
              <a:buNone/>
            </a:pPr>
            <a:endParaRPr lang="en-US" b="1" i="1" dirty="0" smtClean="0"/>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5"/>
          <p:cNvSpPr>
            <a:spLocks noGrp="1"/>
          </p:cNvSpPr>
          <p:nvPr>
            <p:ph type="title"/>
          </p:nvPr>
        </p:nvSpPr>
        <p:spPr/>
        <p:txBody>
          <a:bodyPr/>
          <a:lstStyle/>
          <a:p>
            <a:pPr eaLnBrk="1" hangingPunct="1"/>
            <a:r>
              <a:rPr lang="en-US" dirty="0" smtClean="0"/>
              <a:t>Questions?</a:t>
            </a:r>
          </a:p>
        </p:txBody>
      </p:sp>
      <p:sp>
        <p:nvSpPr>
          <p:cNvPr id="38916" name="Date Placeholder 2"/>
          <p:cNvSpPr>
            <a:spLocks noGrp="1"/>
          </p:cNvSpPr>
          <p:nvPr>
            <p:ph type="dt" sz="quarter" idx="10"/>
          </p:nvPr>
        </p:nvSpPr>
        <p:spPr>
          <a:noFill/>
        </p:spPr>
        <p:txBody>
          <a:bodyPr/>
          <a:lstStyle/>
          <a:p>
            <a:fld id="{4747CB75-4723-4B89-9EB1-296DC2CF3B93}" type="datetime2">
              <a:rPr lang="en-US" smtClean="0">
                <a:latin typeface="Arial" pitchFamily="34" charset="0"/>
              </a:rPr>
              <a:pPr/>
              <a:t>Monday, May 11, 2026</a:t>
            </a:fld>
            <a:endParaRPr lang="en-US" smtClean="0">
              <a:latin typeface="Arial" pitchFamily="34" charset="0"/>
            </a:endParaRPr>
          </a:p>
        </p:txBody>
      </p:sp>
      <p:sp>
        <p:nvSpPr>
          <p:cNvPr id="38918" name="Slide Number Placeholder 4"/>
          <p:cNvSpPr>
            <a:spLocks noGrp="1"/>
          </p:cNvSpPr>
          <p:nvPr>
            <p:ph type="sldNum" sz="quarter" idx="12"/>
          </p:nvPr>
        </p:nvSpPr>
        <p:spPr>
          <a:noFill/>
        </p:spPr>
        <p:txBody>
          <a:bodyPr>
            <a:normAutofit fontScale="85000" lnSpcReduction="20000"/>
          </a:bodyPr>
          <a:lstStyle/>
          <a:p>
            <a:fld id="{07127FB0-31A5-4EE0-8958-2D117937AE59}" type="slidenum">
              <a:rPr lang="en-US" smtClean="0">
                <a:latin typeface="Arial" pitchFamily="34" charset="0"/>
              </a:rPr>
              <a:pPr/>
              <a:t>37</a:t>
            </a:fld>
            <a:endParaRPr lang="en-US" smtClean="0">
              <a:latin typeface="Arial" pitchFamily="34" charset="0"/>
            </a:endParaRPr>
          </a:p>
        </p:txBody>
      </p:sp>
    </p:spTree>
  </p:cSld>
  <p:clrMapOvr>
    <a:masterClrMapping/>
  </p:clrMapOvr>
  <p:transition>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US" dirty="0" smtClean="0"/>
              <a:t>Thank you</a:t>
            </a:r>
          </a:p>
        </p:txBody>
      </p:sp>
      <p:sp>
        <p:nvSpPr>
          <p:cNvPr id="39939" name="Date Placeholder 3"/>
          <p:cNvSpPr>
            <a:spLocks noGrp="1"/>
          </p:cNvSpPr>
          <p:nvPr>
            <p:ph type="dt" sz="quarter" idx="10"/>
          </p:nvPr>
        </p:nvSpPr>
        <p:spPr>
          <a:noFill/>
        </p:spPr>
        <p:txBody>
          <a:bodyPr/>
          <a:lstStyle/>
          <a:p>
            <a:fld id="{7E7DB668-0CB4-461F-A1F8-383809641629}" type="datetime2">
              <a:rPr lang="en-US" smtClean="0">
                <a:latin typeface="Arial" pitchFamily="34" charset="0"/>
              </a:rPr>
              <a:pPr/>
              <a:t>Monday, May 11, 2026</a:t>
            </a:fld>
            <a:endParaRPr lang="en-US" smtClean="0">
              <a:latin typeface="Arial" pitchFamily="34" charset="0"/>
            </a:endParaRPr>
          </a:p>
        </p:txBody>
      </p:sp>
      <p:sp>
        <p:nvSpPr>
          <p:cNvPr id="39941" name="Slide Number Placeholder 5"/>
          <p:cNvSpPr>
            <a:spLocks noGrp="1"/>
          </p:cNvSpPr>
          <p:nvPr>
            <p:ph type="sldNum" sz="quarter" idx="12"/>
          </p:nvPr>
        </p:nvSpPr>
        <p:spPr>
          <a:noFill/>
        </p:spPr>
        <p:txBody>
          <a:bodyPr>
            <a:normAutofit fontScale="85000" lnSpcReduction="20000"/>
          </a:bodyPr>
          <a:lstStyle/>
          <a:p>
            <a:fld id="{617ECBFD-2DD8-41CD-849B-EF98EB6A567C}" type="slidenum">
              <a:rPr lang="en-US" smtClean="0">
                <a:latin typeface="Arial" pitchFamily="34" charset="0"/>
              </a:rPr>
              <a:pPr/>
              <a:t>38</a:t>
            </a:fld>
            <a:endParaRPr lang="en-US" smtClean="0">
              <a:latin typeface="Arial" pitchFamily="34" charset="0"/>
            </a:endParaRPr>
          </a:p>
        </p:txBody>
      </p:sp>
      <p:sp>
        <p:nvSpPr>
          <p:cNvPr id="10" name="Rounded Rectangle 9"/>
          <p:cNvSpPr/>
          <p:nvPr/>
        </p:nvSpPr>
        <p:spPr>
          <a:xfrm>
            <a:off x="2971800" y="3124200"/>
            <a:ext cx="4038600" cy="14478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t>Have a great day ahead</a:t>
            </a:r>
            <a:endParaRPr lang="en-IN" sz="3600" dirty="0"/>
          </a:p>
        </p:txBody>
      </p:sp>
    </p:spTree>
  </p:cSld>
  <p:clrMapOvr>
    <a:masterClrMapping/>
  </p:clrMapOvr>
  <p:transition>
    <p:random/>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14379</TotalTime>
  <Words>1415</Words>
  <Application>Microsoft Office PowerPoint</Application>
  <PresentationFormat>On-screen Show (4:3)</PresentationFormat>
  <Paragraphs>305</Paragraphs>
  <Slides>38</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Arial</vt:lpstr>
      <vt:lpstr>Arial Unicode MS</vt:lpstr>
      <vt:lpstr>Bookman Old Style</vt:lpstr>
      <vt:lpstr>Calibri</vt:lpstr>
      <vt:lpstr>FreesiaUPC</vt:lpstr>
      <vt:lpstr>Monotype Corsiva</vt:lpstr>
      <vt:lpstr>Times</vt:lpstr>
      <vt:lpstr>Times New Roman</vt:lpstr>
      <vt:lpstr>Tw Cen MT</vt:lpstr>
      <vt:lpstr>Wingdings</vt:lpstr>
      <vt:lpstr>Wingdings 2</vt:lpstr>
      <vt:lpstr>Median</vt:lpstr>
      <vt:lpstr>Classifying Gait Data using different machine learning techniques and finding the optimum technique of classification</vt:lpstr>
      <vt:lpstr>Outline</vt:lpstr>
      <vt:lpstr>PowerPoint Presentation</vt:lpstr>
      <vt:lpstr>PowerPoint Presentation</vt:lpstr>
      <vt:lpstr>PowerPoint Presentation</vt:lpstr>
      <vt:lpstr>PowerPoint Presentation</vt:lpstr>
      <vt:lpstr>PowerPoint Presentation</vt:lpstr>
      <vt:lpstr>PowerPoint Presentation</vt:lpstr>
      <vt:lpstr>Methodology</vt:lpstr>
      <vt:lpstr>Proposed Work</vt:lpstr>
      <vt:lpstr>Methodology</vt:lpstr>
      <vt:lpstr>Data Collection</vt:lpstr>
      <vt:lpstr>Empirical Study of Gait by HMCD </vt:lpstr>
      <vt:lpstr>Analysis of dataset</vt:lpstr>
      <vt:lpstr>Simulation of dataset in openSim</vt:lpstr>
      <vt:lpstr>Values of crouch2 dataset</vt:lpstr>
      <vt:lpstr>Values of crouch3 dataset</vt:lpstr>
      <vt:lpstr>Values of crouch4 dataset</vt:lpstr>
      <vt:lpstr>Values of normal dataset</vt:lpstr>
      <vt:lpstr>Feature Selection</vt:lpstr>
      <vt:lpstr>Classification</vt:lpstr>
      <vt:lpstr>Classification </vt:lpstr>
      <vt:lpstr>Classification </vt:lpstr>
      <vt:lpstr>Artificial Neural Network (Back Propagation)</vt:lpstr>
      <vt:lpstr>Result</vt:lpstr>
      <vt:lpstr>Result</vt:lpstr>
      <vt:lpstr>KNN</vt:lpstr>
      <vt:lpstr>KNN Result</vt:lpstr>
      <vt:lpstr>KNN Result</vt:lpstr>
      <vt:lpstr>SVM</vt:lpstr>
      <vt:lpstr>Result</vt:lpstr>
      <vt:lpstr>Classifier Fusion</vt:lpstr>
      <vt:lpstr>Result</vt:lpstr>
      <vt:lpstr>Comparison of success rate by different classifier using 5–fold cross validation</vt:lpstr>
      <vt:lpstr>PowerPoint Presentation</vt:lpstr>
      <vt:lpstr>Conclusion</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Omni directional ankle strategy for Humanoid Push Recovery based on interpolation</dc:title>
  <dc:creator>shruti</dc:creator>
  <cp:lastModifiedBy>Anubha</cp:lastModifiedBy>
  <cp:revision>1334</cp:revision>
  <dcterms:created xsi:type="dcterms:W3CDTF">2006-08-16T00:00:00Z</dcterms:created>
  <dcterms:modified xsi:type="dcterms:W3CDTF">2026-05-11T04:01:45Z</dcterms:modified>
</cp:coreProperties>
</file>