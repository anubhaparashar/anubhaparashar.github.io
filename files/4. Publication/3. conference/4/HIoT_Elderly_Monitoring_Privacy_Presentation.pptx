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916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medical_telehealth_concept_scene_i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0B1F33">
              <a:alpha val="92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828032" y="0"/>
            <a:ext cx="73152" cy="6858000"/>
          </a:xfrm>
          <a:prstGeom prst="rect">
            <a:avLst/>
          </a:prstGeom>
          <a:solidFill>
            <a:srgbClr val="D72C2C">
              <a:alpha val="95000"/>
            </a:srgbClr>
          </a:solidFill>
          <a:ln w="12700">
            <a:solidFill>
              <a:srgbClr val="D72C2C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1234440"/>
            <a:ext cx="388620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IoT Enabled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Elderly Monitoring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58368" y="327355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of privacy preservation frameworks in e-health applications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658368" y="4096512"/>
            <a:ext cx="2011680" cy="0"/>
          </a:xfrm>
          <a:prstGeom prst="line">
            <a:avLst/>
          </a:prstGeom>
          <a:noFill/>
          <a:ln w="27940">
            <a:solidFill>
              <a:srgbClr val="31C5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407408"/>
            <a:ext cx="38862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6E4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Vidyadhar J. Aski • Vijaypal S. Dhaka • Sunil Kumar • Anubha Parashar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58368" y="6126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B8D7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IoT | Remote vitals monitoring | Security and privacy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2C2C"/>
          </a:solidFill>
          <a:ln w="12700">
            <a:solidFill>
              <a:srgbClr val="D72C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66928"/>
            <a:ext cx="110642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snapshot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17287"/>
                </a:solidFill>
              </a:rPr>
              <a:t>02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875520" y="6565392"/>
            <a:ext cx="1417320" cy="0"/>
          </a:xfrm>
          <a:prstGeom prst="line">
            <a:avLst/>
          </a:prstGeom>
          <a:noFill/>
          <a:ln w="10160">
            <a:solidFill>
              <a:srgbClr val="D8E5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17320"/>
            <a:ext cx="3703320" cy="4370832"/>
          </a:xfrm>
          <a:prstGeom prst="roundRect">
            <a:avLst>
              <a:gd name="adj" fmla="val 4444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  <a:effectLst>
            <a:outerShdw blurRad="2032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31C5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2139696"/>
            <a:ext cx="30632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“IoT enabled elderly monitoring system and the role of privacy preservation frameworks in e-health applications”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96112" y="3246120"/>
            <a:ext cx="306324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8E9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frames Healthcare IoT as an e-health paradigm where biosensors capture body vitals and transfer data through wireless infrastructure to a data center.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96112" y="4572000"/>
            <a:ext cx="30632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BFD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keywords: HIoT, interoperability, e-health, access control, authentication.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96112" y="5175504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C5D99">
              <a:alpha val="95000"/>
            </a:srgbClr>
          </a:solidFill>
          <a:ln w="12700">
            <a:solidFill>
              <a:srgbClr val="1C5D9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5257800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Manipal University Jaipur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2C2C"/>
          </a:solidFill>
          <a:ln w="12700">
            <a:solidFill>
              <a:srgbClr val="D7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72C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 and research gap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work matters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17287"/>
                </a:solidFill>
              </a:rPr>
              <a:t>03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875520" y="6565392"/>
            <a:ext cx="1417320" cy="0"/>
          </a:xfrm>
          <a:prstGeom prst="line">
            <a:avLst/>
          </a:prstGeom>
          <a:noFill/>
          <a:ln w="10160">
            <a:solidFill>
              <a:srgbClr val="D8E5F2"/>
            </a:solidFill>
            <a:prstDash val="solid"/>
          </a:ln>
        </p:spPr>
      </p:sp>
      <p:pic>
        <p:nvPicPr>
          <p:cNvPr id="7" name="Image 0" descr="/mnt/data/a_clean_modern_medical_telehealth_concept_scene_i_batch_1.png"/>
          <p:cNvPicPr>
            <a:picLocks noChangeAspect="1"/>
          </p:cNvPicPr>
          <p:nvPr/>
        </p:nvPicPr>
        <p:blipFill>
          <a:blip r:embed="rId3"/>
          <a:srcRect l="15000" r="28720"/>
          <a:stretch/>
        </p:blipFill>
        <p:spPr>
          <a:xfrm>
            <a:off x="6766560" y="1234440"/>
            <a:ext cx="4892040" cy="4892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37960" y="1115568"/>
            <a:ext cx="5166360" cy="5120640"/>
          </a:xfrm>
          <a:prstGeom prst="roundRect">
            <a:avLst>
              <a:gd name="adj" fmla="val 4464"/>
            </a:avLst>
          </a:prstGeom>
          <a:solidFill>
            <a:srgbClr val="FFFFFF">
              <a:alpha val="0"/>
            </a:srgbClr>
          </a:solidFill>
          <a:ln w="12700">
            <a:solidFill>
              <a:srgbClr val="D8E5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417320"/>
            <a:ext cx="54406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3EBF5"/>
            </a:solidFill>
            <a:prstDash val="solid"/>
          </a:ln>
          <a:effectLst>
            <a:outerShdw blurRad="19050" dist="127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1417320"/>
            <a:ext cx="100584" cy="1143000"/>
          </a:xfrm>
          <a:prstGeom prst="rect">
            <a:avLst/>
          </a:prstGeom>
          <a:solidFill>
            <a:srgbClr val="D72C2C"/>
          </a:solidFill>
          <a:ln w="12700">
            <a:solidFill>
              <a:srgbClr val="D72C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1618488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care is becoming essential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41832" y="1947672"/>
            <a:ext cx="50200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Elderly patients and people with chronic or degenerative conditions need continuous observation outside hospital settings.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5800" y="278892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BF5"/>
            </a:solidFill>
            <a:prstDash val="solid"/>
          </a:ln>
          <a:effectLst>
            <a:outerShdw blurRad="19050" dist="127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" y="2788920"/>
            <a:ext cx="100584" cy="1234440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1832" y="2990088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IoT offers the backbone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41832" y="3319272"/>
            <a:ext cx="50200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Wearable and home-based biosensors can monitor temperature, heart rate, blood pressure, glucose, oxygen and movement patterns.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85800" y="429768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BF5"/>
            </a:solidFill>
            <a:prstDash val="solid"/>
          </a:ln>
          <a:effectLst>
            <a:outerShdw blurRad="19050" dist="127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85800" y="4297680"/>
            <a:ext cx="100584" cy="1234440"/>
          </a:xfrm>
          <a:prstGeom prst="rect">
            <a:avLst/>
          </a:prstGeom>
          <a:solidFill>
            <a:srgbClr val="31C5D7"/>
          </a:solidFill>
          <a:ln w="12700">
            <a:solidFill>
              <a:srgbClr val="31C5D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1832" y="4498848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decides adoption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41832" y="4828032"/>
            <a:ext cx="50200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data is sensitive. Trust depends on authentication, access control, secure transmission and clear governance around sharing.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2C2C"/>
          </a:solidFill>
          <a:ln w="12700">
            <a:solidFill>
              <a:srgbClr val="D7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72C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home vitals to clinical response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HIoT monitoring flow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17287"/>
                </a:solidFill>
              </a:rPr>
              <a:t>04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875520" y="6565392"/>
            <a:ext cx="1417320" cy="0"/>
          </a:xfrm>
          <a:prstGeom prst="line">
            <a:avLst/>
          </a:prstGeom>
          <a:noFill/>
          <a:ln w="10160">
            <a:solidFill>
              <a:srgbClr val="D8E5F2"/>
            </a:solidFill>
            <a:prstDash val="solid"/>
          </a:ln>
        </p:spPr>
      </p:sp>
      <p:pic>
        <p:nvPicPr>
          <p:cNvPr id="7" name="Image 0" descr="/mnt/data/a_clean_isometric_infographic_diagram_illustration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195" y="1216152"/>
            <a:ext cx="6905129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6384" y="5532120"/>
            <a:ext cx="420624" cy="420624"/>
          </a:xfrm>
          <a:prstGeom prst="ellipse">
            <a:avLst/>
          </a:prstGeom>
          <a:solidFill>
            <a:srgbClr val="D72C2C"/>
          </a:solidFill>
          <a:ln w="12700">
            <a:solidFill>
              <a:srgbClr val="D72C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62356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35024" y="55412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35024" y="579729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Vitals from biosensors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37560" y="5532120"/>
            <a:ext cx="420624" cy="420624"/>
          </a:xfrm>
          <a:prstGeom prst="ellipse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37560" y="562356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86200" y="55412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Transmit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886200" y="579729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Wireless gateway + network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79592" y="5532120"/>
            <a:ext cx="420624" cy="420624"/>
          </a:xfrm>
          <a:prstGeom prst="ellipse">
            <a:avLst/>
          </a:prstGeom>
          <a:solidFill>
            <a:srgbClr val="31C5D7"/>
          </a:solidFill>
          <a:ln w="12700">
            <a:solidFill>
              <a:srgbClr val="31C5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79592" y="562356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28232" y="55412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Consolidate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28232" y="579729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/ data center storage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430768" y="5532120"/>
            <a:ext cx="420624" cy="42062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30768" y="562356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979408" y="55412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979408" y="579729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Doctor, caregiver, alerts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curity_leftdark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58368"/>
            <a:ext cx="48463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Privacy preservation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framework: what must be protected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58368" y="1874520"/>
            <a:ext cx="416052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positions security and privacy as a core design requirement, not an add-on after deployment.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58368" y="2788920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09233A">
              <a:alpha val="9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7824" y="2898648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</a:t>
            </a:r>
            <a:endParaRPr lang="en-US" sz="1270" dirty="0"/>
          </a:p>
        </p:txBody>
      </p:sp>
      <p:sp>
        <p:nvSpPr>
          <p:cNvPr id="7" name="Text 4"/>
          <p:cNvSpPr/>
          <p:nvPr/>
        </p:nvSpPr>
        <p:spPr>
          <a:xfrm>
            <a:off x="2395728" y="289864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D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devices, users and care providers before access.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58368" y="3538728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09233A">
              <a:alpha val="9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3648456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1270" dirty="0"/>
          </a:p>
        </p:txBody>
      </p:sp>
      <p:sp>
        <p:nvSpPr>
          <p:cNvPr id="10" name="Text 7"/>
          <p:cNvSpPr/>
          <p:nvPr/>
        </p:nvSpPr>
        <p:spPr>
          <a:xfrm>
            <a:off x="2395728" y="3648456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D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data privileges based on role, consent and need.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4288536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09233A">
              <a:alpha val="9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4398264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data flow</a:t>
            </a:r>
            <a:endParaRPr lang="en-US" sz="1270" dirty="0"/>
          </a:p>
        </p:txBody>
      </p:sp>
      <p:sp>
        <p:nvSpPr>
          <p:cNvPr id="13" name="Text 10"/>
          <p:cNvSpPr/>
          <p:nvPr/>
        </p:nvSpPr>
        <p:spPr>
          <a:xfrm>
            <a:off x="2395728" y="4398264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D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sensor-to-cloud transmission and storage.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58368" y="5038344"/>
            <a:ext cx="4663440" cy="512064"/>
          </a:xfrm>
          <a:prstGeom prst="roundRect">
            <a:avLst>
              <a:gd name="adj" fmla="val 14286"/>
            </a:avLst>
          </a:prstGeom>
          <a:solidFill>
            <a:srgbClr val="09233A">
              <a:alpha val="9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" y="5148072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Interoperability</a:t>
            </a:r>
            <a:endParaRPr lang="en-US" sz="1270" dirty="0"/>
          </a:p>
        </p:txBody>
      </p:sp>
      <p:sp>
        <p:nvSpPr>
          <p:cNvPr id="16" name="Text 13"/>
          <p:cNvSpPr/>
          <p:nvPr/>
        </p:nvSpPr>
        <p:spPr>
          <a:xfrm>
            <a:off x="2395728" y="5148072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DE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safe data exchange across devices and systems.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2C2C"/>
          </a:solidFill>
          <a:ln w="12700">
            <a:solidFill>
              <a:srgbClr val="D7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72C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structure for presenting the paper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contribution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17287"/>
                </a:solidFill>
              </a:rPr>
              <a:t>06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875520" y="6565392"/>
            <a:ext cx="1417320" cy="0"/>
          </a:xfrm>
          <a:prstGeom prst="line">
            <a:avLst/>
          </a:prstGeom>
          <a:noFill/>
          <a:ln w="10160">
            <a:solidFill>
              <a:srgbClr val="D8E5F2"/>
            </a:solidFill>
            <a:prstDash val="solid"/>
          </a:ln>
        </p:spPr>
      </p:sp>
      <p:pic>
        <p:nvPicPr>
          <p:cNvPr id="7" name="Image 0" descr="/mnt/data/a_clean_isometric_infographic_diagram_illustration_batch_3.png"/>
          <p:cNvPicPr>
            <a:picLocks noChangeAspect="1"/>
          </p:cNvPicPr>
          <p:nvPr/>
        </p:nvPicPr>
        <p:blipFill>
          <a:blip r:embed="rId3"/>
          <a:srcRect l="5000" r="30937"/>
          <a:stretch/>
        </p:blipFill>
        <p:spPr>
          <a:xfrm>
            <a:off x="6629400" y="1325880"/>
            <a:ext cx="4892040" cy="4297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92240" y="1207008"/>
            <a:ext cx="5166360" cy="4535424"/>
          </a:xfrm>
          <a:prstGeom prst="roundRect">
            <a:avLst>
              <a:gd name="adj" fmla="val 4032"/>
            </a:avLst>
          </a:prstGeom>
          <a:solidFill>
            <a:srgbClr val="FFFFFF">
              <a:alpha val="0"/>
            </a:srgbClr>
          </a:solidFill>
          <a:ln w="12700">
            <a:solidFill>
              <a:srgbClr val="D8E5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417320"/>
            <a:ext cx="52578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BF5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1417320"/>
            <a:ext cx="475488" cy="932688"/>
          </a:xfrm>
          <a:prstGeom prst="rect">
            <a:avLst/>
          </a:prstGeom>
          <a:solidFill>
            <a:srgbClr val="D72C2C"/>
          </a:solidFill>
          <a:ln w="12700">
            <a:solidFill>
              <a:srgbClr val="D72C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177393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399032" y="15819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 of HIoT trends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99032" y="189280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Summarises how IoT supports e-health sensing, communication and data delivery.</a:t>
            </a:r>
            <a:endParaRPr lang="en-US" sz="1090" dirty="0"/>
          </a:p>
        </p:txBody>
      </p:sp>
      <p:sp>
        <p:nvSpPr>
          <p:cNvPr id="14" name="Shape 11"/>
          <p:cNvSpPr/>
          <p:nvPr/>
        </p:nvSpPr>
        <p:spPr>
          <a:xfrm>
            <a:off x="685800" y="2788920"/>
            <a:ext cx="52578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BF5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5800" y="2788920"/>
            <a:ext cx="475488" cy="932688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" y="314553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399032" y="29535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preservation focus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99032" y="326440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Discusses security issues around healthcare data and connected devices.</a:t>
            </a:r>
            <a:endParaRPr lang="en-US" sz="1090" dirty="0"/>
          </a:p>
        </p:txBody>
      </p:sp>
      <p:sp>
        <p:nvSpPr>
          <p:cNvPr id="19" name="Shape 16"/>
          <p:cNvSpPr/>
          <p:nvPr/>
        </p:nvSpPr>
        <p:spPr>
          <a:xfrm>
            <a:off x="685800" y="4160520"/>
            <a:ext cx="525780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BF5"/>
            </a:solidFill>
            <a:prstDash val="solid"/>
          </a:ln>
          <a:effectLst>
            <a:outerShdw blurRad="1397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85800" y="4160520"/>
            <a:ext cx="475488" cy="932688"/>
          </a:xfrm>
          <a:prstGeom prst="rect">
            <a:avLst/>
          </a:prstGeom>
          <a:solidFill>
            <a:srgbClr val="31C5D7"/>
          </a:solidFill>
          <a:ln w="12700">
            <a:solidFill>
              <a:srgbClr val="31C5D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4672" y="451713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399032" y="432511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proposal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399032" y="463600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Introduces a framework for monitoring vitals of differently abled or chronic-care patients.</a:t>
            </a:r>
            <a:endParaRPr lang="en-US" sz="1090" dirty="0"/>
          </a:p>
        </p:txBody>
      </p:sp>
      <p:sp>
        <p:nvSpPr>
          <p:cNvPr id="24" name="Shape 21"/>
          <p:cNvSpPr/>
          <p:nvPr/>
        </p:nvSpPr>
        <p:spPr>
          <a:xfrm>
            <a:off x="6629400" y="5797296"/>
            <a:ext cx="4892040" cy="384048"/>
          </a:xfrm>
          <a:prstGeom prst="roundRect">
            <a:avLst>
              <a:gd name="adj" fmla="val 1904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76288" y="5907024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Use-case scenarios explain how components interact in real care situations.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2C2C"/>
          </a:solidFill>
          <a:ln w="12700">
            <a:solidFill>
              <a:srgbClr val="D7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72C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Translating the framework into practice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0642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Use-case scenarios and expected outputs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475720" y="64648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17287"/>
                </a:solidFill>
              </a:rPr>
              <a:t>07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875520" y="6565392"/>
            <a:ext cx="1417320" cy="0"/>
          </a:xfrm>
          <a:prstGeom prst="line">
            <a:avLst/>
          </a:prstGeom>
          <a:noFill/>
          <a:ln w="10160">
            <a:solidFill>
              <a:srgbClr val="D8E5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2606040" cy="438912"/>
          </a:xfrm>
          <a:prstGeom prst="rect">
            <a:avLst/>
          </a:prstGeom>
          <a:solidFill>
            <a:srgbClr val="D72C2C"/>
          </a:solidFill>
          <a:ln w="12700">
            <a:solidFill>
              <a:srgbClr val="D72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3619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1417320"/>
            <a:ext cx="2743200" cy="438912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53619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720840" y="1417320"/>
            <a:ext cx="4389120" cy="43891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53619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1975104"/>
            <a:ext cx="10469880" cy="713232"/>
          </a:xfrm>
          <a:prstGeom prst="roundRect">
            <a:avLst>
              <a:gd name="adj" fmla="val 8974"/>
            </a:avLst>
          </a:prstGeom>
          <a:solidFill>
            <a:srgbClr val="EEF6FC"/>
          </a:solidFill>
          <a:ln w="10160">
            <a:solidFill>
              <a:srgbClr val="DFEA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148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Routine monitoring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3703320" y="2148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Vitals stay within range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0" y="2148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trend dashboard and care summary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935224"/>
            <a:ext cx="10469880" cy="713232"/>
          </a:xfrm>
          <a:prstGeom prst="roundRect">
            <a:avLst>
              <a:gd name="adj" fmla="val 8974"/>
            </a:avLst>
          </a:prstGeom>
          <a:solidFill>
            <a:srgbClr val="F8FBFE"/>
          </a:solidFill>
          <a:ln w="10160">
            <a:solidFill>
              <a:srgbClr val="DFEA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1089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alert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3703320" y="3108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Sudden change in vitals or fall signal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0" y="31089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alert to caregiver/doctor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895344"/>
            <a:ext cx="10469880" cy="713232"/>
          </a:xfrm>
          <a:prstGeom prst="roundRect">
            <a:avLst>
              <a:gd name="adj" fmla="val 8974"/>
            </a:avLst>
          </a:prstGeom>
          <a:solidFill>
            <a:srgbClr val="EEF6FC"/>
          </a:solidFill>
          <a:ln w="10160">
            <a:solidFill>
              <a:srgbClr val="DFEA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0690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review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3703320" y="4069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checks patient history securely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0" y="4069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 to relevant records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855464"/>
            <a:ext cx="10469880" cy="713232"/>
          </a:xfrm>
          <a:prstGeom prst="roundRect">
            <a:avLst>
              <a:gd name="adj" fmla="val 8974"/>
            </a:avLst>
          </a:prstGeom>
          <a:solidFill>
            <a:srgbClr val="F8FBFE"/>
          </a:solidFill>
          <a:ln w="10160">
            <a:solidFill>
              <a:srgbClr val="DFEA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0292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escalation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3703320" y="5029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threshold crossed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0" y="5029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2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notification and response workflow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916168"/>
            <a:ext cx="10469880" cy="384048"/>
          </a:xfrm>
          <a:prstGeom prst="roundRect">
            <a:avLst>
              <a:gd name="adj" fmla="val 19048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6016752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message: accurate sensing is only valuable when the data flow is trusted, secure and useful to caregivers.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685800"/>
            <a:ext cx="42062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713232" y="2148840"/>
            <a:ext cx="45262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D7E9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conference presentation on designing trusted Healthcare IoT systems for elderly and chronic-care monitoring.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49808" y="3063240"/>
            <a:ext cx="420624" cy="420624"/>
          </a:xfrm>
          <a:prstGeom prst="ellipse">
            <a:avLst/>
          </a:prstGeom>
          <a:solidFill>
            <a:srgbClr val="D72C2C"/>
          </a:solidFill>
          <a:ln w="12700">
            <a:solidFill>
              <a:srgbClr val="D72C2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315468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307592" y="31546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HIoT connects biosensors, communication networks and care providers.</a:t>
            </a:r>
            <a:endParaRPr lang="en-US" sz="1270" dirty="0"/>
          </a:p>
        </p:txBody>
      </p:sp>
      <p:sp>
        <p:nvSpPr>
          <p:cNvPr id="10" name="Shape 7"/>
          <p:cNvSpPr/>
          <p:nvPr/>
        </p:nvSpPr>
        <p:spPr>
          <a:xfrm>
            <a:off x="749808" y="3666744"/>
            <a:ext cx="420624" cy="420624"/>
          </a:xfrm>
          <a:prstGeom prst="ellipse">
            <a:avLst/>
          </a:prstGeom>
          <a:solidFill>
            <a:srgbClr val="31C5D7"/>
          </a:solidFill>
          <a:ln w="12700">
            <a:solidFill>
              <a:srgbClr val="31C5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3758184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307592" y="375818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preservation is a core requirement for adoption.</a:t>
            </a:r>
            <a:endParaRPr lang="en-US" sz="1270" dirty="0"/>
          </a:p>
        </p:txBody>
      </p:sp>
      <p:sp>
        <p:nvSpPr>
          <p:cNvPr id="13" name="Shape 10"/>
          <p:cNvSpPr/>
          <p:nvPr/>
        </p:nvSpPr>
        <p:spPr>
          <a:xfrm>
            <a:off x="749808" y="4270248"/>
            <a:ext cx="420624" cy="42062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436168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307592" y="436168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EAF3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supports monitoring, alerts and secure clinical review.</a:t>
            </a:r>
            <a:endParaRPr lang="en-US" sz="1270" dirty="0"/>
          </a:p>
        </p:txBody>
      </p:sp>
      <p:sp>
        <p:nvSpPr>
          <p:cNvPr id="16" name="Shape 13"/>
          <p:cNvSpPr/>
          <p:nvPr/>
        </p:nvSpPr>
        <p:spPr>
          <a:xfrm>
            <a:off x="731520" y="5349240"/>
            <a:ext cx="2194560" cy="0"/>
          </a:xfrm>
          <a:prstGeom prst="line">
            <a:avLst/>
          </a:prstGeom>
          <a:noFill/>
          <a:ln w="25400">
            <a:solidFill>
              <a:srgbClr val="D72C2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5577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900" dirty="0"/>
          </a:p>
        </p:txBody>
      </p:sp>
      <p:sp>
        <p:nvSpPr>
          <p:cNvPr id="18" name="Text 15"/>
          <p:cNvSpPr/>
          <p:nvPr/>
        </p:nvSpPr>
        <p:spPr>
          <a:xfrm>
            <a:off x="749808" y="60807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FD7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Anubha Parashar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126480" y="4709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Microsoft Office PowerPoint</Application>
  <PresentationFormat>Widescreen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with 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HIoT Elderly Monitoring &amp; Privacy Preservation</dc:title>
  <dc:subject>IoT enabled elderly monitoring system and privacy preservation in e-health applications</dc:subject>
  <dc:creator>Anubha Parashar</dc:creator>
  <cp:lastModifiedBy>Anubha</cp:lastModifiedBy>
  <cp:revision>2</cp:revision>
  <dcterms:created xsi:type="dcterms:W3CDTF">2026-05-14T15:15:08Z</dcterms:created>
  <dcterms:modified xsi:type="dcterms:W3CDTF">2026-05-14T17:09:06Z</dcterms:modified>
</cp:coreProperties>
</file>