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6"/>
  </p:notesMasterIdLst>
  <p:handoutMasterIdLst>
    <p:handoutMasterId r:id="rId37"/>
  </p:handoutMasterIdLst>
  <p:sldIdLst>
    <p:sldId id="883" r:id="rId2"/>
    <p:sldId id="884" r:id="rId3"/>
    <p:sldId id="945" r:id="rId4"/>
    <p:sldId id="946" r:id="rId5"/>
    <p:sldId id="948" r:id="rId6"/>
    <p:sldId id="817" r:id="rId7"/>
    <p:sldId id="956" r:id="rId8"/>
    <p:sldId id="848" r:id="rId9"/>
    <p:sldId id="902" r:id="rId10"/>
    <p:sldId id="903" r:id="rId11"/>
    <p:sldId id="904" r:id="rId12"/>
    <p:sldId id="910" r:id="rId13"/>
    <p:sldId id="905" r:id="rId14"/>
    <p:sldId id="906" r:id="rId15"/>
    <p:sldId id="907" r:id="rId16"/>
    <p:sldId id="908" r:id="rId17"/>
    <p:sldId id="909" r:id="rId18"/>
    <p:sldId id="912" r:id="rId19"/>
    <p:sldId id="913" r:id="rId20"/>
    <p:sldId id="914" r:id="rId21"/>
    <p:sldId id="915" r:id="rId22"/>
    <p:sldId id="918" r:id="rId23"/>
    <p:sldId id="919" r:id="rId24"/>
    <p:sldId id="920" r:id="rId25"/>
    <p:sldId id="955" r:id="rId26"/>
    <p:sldId id="954" r:id="rId27"/>
    <p:sldId id="957" r:id="rId28"/>
    <p:sldId id="922" r:id="rId29"/>
    <p:sldId id="959" r:id="rId30"/>
    <p:sldId id="960" r:id="rId31"/>
    <p:sldId id="939" r:id="rId32"/>
    <p:sldId id="924" r:id="rId33"/>
    <p:sldId id="958" r:id="rId34"/>
    <p:sldId id="92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inkiSharma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7" autoAdjust="0"/>
    <p:restoredTop sz="86397" autoAdjust="0"/>
  </p:normalViewPr>
  <p:slideViewPr>
    <p:cSldViewPr>
      <p:cViewPr varScale="1">
        <p:scale>
          <a:sx n="74" d="100"/>
          <a:sy n="74" d="100"/>
        </p:scale>
        <p:origin x="14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0" y="617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11-29T20:14:47.069" idx="1">
    <p:pos x="10" y="10"/>
    <p:text>please make simple looks quite abrupt</p:tex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468B7B-1921-4188-893E-AB9EDCDB63E3}" type="doc">
      <dgm:prSet loTypeId="urn:microsoft.com/office/officeart/2005/8/layout/vList2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F11F8F0-D581-4E87-B826-6AE1139E8B3B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GAIT/ Human GAIT</a:t>
          </a:r>
          <a:endParaRPr lang="en-US" sz="1800" dirty="0">
            <a:latin typeface="Arial" pitchFamily="34" charset="0"/>
            <a:cs typeface="Arial" pitchFamily="34" charset="0"/>
          </a:endParaRPr>
        </a:p>
      </dgm:t>
    </dgm:pt>
    <dgm:pt modelId="{F99CDB02-40D4-4B0B-A452-4997DBEC643D}" type="parTrans" cxnId="{2769487D-3511-446B-9E92-3D42BDE7053A}">
      <dgm:prSet/>
      <dgm:spPr/>
      <dgm:t>
        <a:bodyPr/>
        <a:lstStyle/>
        <a:p>
          <a:endParaRPr lang="en-US"/>
        </a:p>
      </dgm:t>
    </dgm:pt>
    <dgm:pt modelId="{90A5063E-DE0C-47D7-967A-90370DE7C31D}" type="sibTrans" cxnId="{2769487D-3511-446B-9E92-3D42BDE7053A}">
      <dgm:prSet/>
      <dgm:spPr/>
      <dgm:t>
        <a:bodyPr/>
        <a:lstStyle/>
        <a:p>
          <a:endParaRPr lang="en-US"/>
        </a:p>
      </dgm:t>
    </dgm:pt>
    <dgm:pt modelId="{CA644C80-7FF7-4B20-87BF-CAC1C6FF9959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AIM</a:t>
          </a:r>
          <a:endParaRPr lang="en-US" sz="1800" dirty="0">
            <a:latin typeface="Arial" pitchFamily="34" charset="0"/>
            <a:cs typeface="Arial" pitchFamily="34" charset="0"/>
          </a:endParaRPr>
        </a:p>
      </dgm:t>
    </dgm:pt>
    <dgm:pt modelId="{B3BD4DDF-FA4E-4654-975F-E338292B4FE7}" type="parTrans" cxnId="{29F398A6-601E-4240-A7DE-E2900A75850E}">
      <dgm:prSet/>
      <dgm:spPr/>
      <dgm:t>
        <a:bodyPr/>
        <a:lstStyle/>
        <a:p>
          <a:endParaRPr lang="en-US"/>
        </a:p>
      </dgm:t>
    </dgm:pt>
    <dgm:pt modelId="{9A5C9BA3-9590-4EF1-AE74-2DB4759F006A}" type="sibTrans" cxnId="{29F398A6-601E-4240-A7DE-E2900A75850E}">
      <dgm:prSet/>
      <dgm:spPr/>
      <dgm:t>
        <a:bodyPr/>
        <a:lstStyle/>
        <a:p>
          <a:endParaRPr lang="en-US"/>
        </a:p>
      </dgm:t>
    </dgm:pt>
    <dgm:pt modelId="{324302BB-853C-4DCB-BB9D-7D4CFC6B5E28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Proposed work and Methodology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3975494C-AD03-4E9B-BFCD-FCA3CA5B0C23}" type="parTrans" cxnId="{7E5C5DA2-508D-4055-A63E-5690C36473DC}">
      <dgm:prSet/>
      <dgm:spPr/>
      <dgm:t>
        <a:bodyPr/>
        <a:lstStyle/>
        <a:p>
          <a:endParaRPr lang="en-US"/>
        </a:p>
      </dgm:t>
    </dgm:pt>
    <dgm:pt modelId="{BA6D1F3E-3CF4-469C-A29E-9210BF7BBF89}" type="sibTrans" cxnId="{7E5C5DA2-508D-4055-A63E-5690C36473DC}">
      <dgm:prSet/>
      <dgm:spPr/>
      <dgm:t>
        <a:bodyPr/>
        <a:lstStyle/>
        <a:p>
          <a:endParaRPr lang="en-US"/>
        </a:p>
      </dgm:t>
    </dgm:pt>
    <dgm:pt modelId="{C57D3FD3-A88A-4B2B-B103-122CEDEC2124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Data Collection &amp; Demos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3218A2D0-D020-4265-B04D-65ED9AC29BD5}" type="parTrans" cxnId="{78E919A7-F920-44C8-B840-9EB8BC054514}">
      <dgm:prSet/>
      <dgm:spPr/>
      <dgm:t>
        <a:bodyPr/>
        <a:lstStyle/>
        <a:p>
          <a:endParaRPr lang="en-US"/>
        </a:p>
      </dgm:t>
    </dgm:pt>
    <dgm:pt modelId="{06468EAE-7EFA-4825-B215-A016570C54D7}" type="sibTrans" cxnId="{78E919A7-F920-44C8-B840-9EB8BC054514}">
      <dgm:prSet/>
      <dgm:spPr/>
      <dgm:t>
        <a:bodyPr/>
        <a:lstStyle/>
        <a:p>
          <a:endParaRPr lang="en-US"/>
        </a:p>
      </dgm:t>
    </dgm:pt>
    <dgm:pt modelId="{7C8E68D7-F2AC-48C6-A423-7E69970A4327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Conclusion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6FFBE517-6EE4-4FE7-AC7D-6D248DDD7B69}" type="parTrans" cxnId="{A0C0B2AE-4FC1-4566-8770-552DC46B2276}">
      <dgm:prSet/>
      <dgm:spPr/>
      <dgm:t>
        <a:bodyPr/>
        <a:lstStyle/>
        <a:p>
          <a:endParaRPr lang="en-US"/>
        </a:p>
      </dgm:t>
    </dgm:pt>
    <dgm:pt modelId="{08764379-3F25-4032-8514-425E2D950377}" type="sibTrans" cxnId="{A0C0B2AE-4FC1-4566-8770-552DC46B2276}">
      <dgm:prSet/>
      <dgm:spPr/>
      <dgm:t>
        <a:bodyPr/>
        <a:lstStyle/>
        <a:p>
          <a:endParaRPr lang="en-US"/>
        </a:p>
      </dgm:t>
    </dgm:pt>
    <dgm:pt modelId="{E25C6E38-5F69-45A0-9D26-1472286B7568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Result analysis 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3B1E5419-B4E0-4D76-8E75-86EB32534D11}" type="parTrans" cxnId="{87AEE6D5-D799-491E-AFD3-796139B7C7A8}">
      <dgm:prSet/>
      <dgm:spPr/>
      <dgm:t>
        <a:bodyPr/>
        <a:lstStyle/>
        <a:p>
          <a:endParaRPr lang="en-US"/>
        </a:p>
      </dgm:t>
    </dgm:pt>
    <dgm:pt modelId="{83928AC9-AB6F-47E5-A4B9-5ACDB804D82D}" type="sibTrans" cxnId="{87AEE6D5-D799-491E-AFD3-796139B7C7A8}">
      <dgm:prSet/>
      <dgm:spPr/>
      <dgm:t>
        <a:bodyPr/>
        <a:lstStyle/>
        <a:p>
          <a:endParaRPr lang="en-US"/>
        </a:p>
      </dgm:t>
    </dgm:pt>
    <dgm:pt modelId="{0D4741D4-5E8A-431B-8CD9-C5413D8D6D95}">
      <dgm:prSet custT="1"/>
      <dgm:spPr/>
      <dgm:t>
        <a:bodyPr/>
        <a:lstStyle/>
        <a:p>
          <a:pPr rtl="0"/>
          <a:r>
            <a:rPr lang="en-US" sz="1600" b="1" dirty="0" smtClean="0">
              <a:latin typeface="Arial" pitchFamily="34" charset="0"/>
              <a:cs typeface="Arial" pitchFamily="34" charset="0"/>
            </a:rPr>
            <a:t>Classification using KNN and Back Propagation </a:t>
          </a:r>
          <a:endParaRPr lang="en-US" sz="1600" b="1" dirty="0">
            <a:latin typeface="Arial" pitchFamily="34" charset="0"/>
            <a:cs typeface="Arial" pitchFamily="34" charset="0"/>
          </a:endParaRPr>
        </a:p>
      </dgm:t>
    </dgm:pt>
    <dgm:pt modelId="{6F1D7530-94AD-40C6-8FC4-9783105394F5}" type="parTrans" cxnId="{D42EA374-7491-4BCA-ACF8-704B1807A45B}">
      <dgm:prSet/>
      <dgm:spPr/>
      <dgm:t>
        <a:bodyPr/>
        <a:lstStyle/>
        <a:p>
          <a:endParaRPr lang="en-US"/>
        </a:p>
      </dgm:t>
    </dgm:pt>
    <dgm:pt modelId="{D0A507A2-7D20-45CF-8E1D-CDCE495A6459}" type="sibTrans" cxnId="{D42EA374-7491-4BCA-ACF8-704B1807A45B}">
      <dgm:prSet/>
      <dgm:spPr/>
      <dgm:t>
        <a:bodyPr/>
        <a:lstStyle/>
        <a:p>
          <a:endParaRPr lang="en-US"/>
        </a:p>
      </dgm:t>
    </dgm:pt>
    <dgm:pt modelId="{0A20204B-ACA3-4F99-A786-A4743B3D8273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Problem Statement</a:t>
          </a:r>
          <a:endParaRPr lang="en-US" sz="1800" b="1" dirty="0">
            <a:latin typeface="Arial" pitchFamily="34" charset="0"/>
            <a:cs typeface="Arial" pitchFamily="34" charset="0"/>
          </a:endParaRPr>
        </a:p>
      </dgm:t>
    </dgm:pt>
    <dgm:pt modelId="{23329794-CA3D-4F72-A54E-3831B2A2ABEF}" type="parTrans" cxnId="{9406FC4B-5CA8-41C1-BDB9-3911C49BAB6F}">
      <dgm:prSet/>
      <dgm:spPr/>
      <dgm:t>
        <a:bodyPr/>
        <a:lstStyle/>
        <a:p>
          <a:endParaRPr lang="en-US"/>
        </a:p>
      </dgm:t>
    </dgm:pt>
    <dgm:pt modelId="{A650C011-EA09-4BC1-8AF3-765A38A62D42}" type="sibTrans" cxnId="{9406FC4B-5CA8-41C1-BDB9-3911C49BAB6F}">
      <dgm:prSet/>
      <dgm:spPr/>
      <dgm:t>
        <a:bodyPr/>
        <a:lstStyle/>
        <a:p>
          <a:endParaRPr lang="en-US"/>
        </a:p>
      </dgm:t>
    </dgm:pt>
    <dgm:pt modelId="{9C06DC36-F13E-43A7-B81D-EE2DD97B90E0}">
      <dgm:prSet custT="1"/>
      <dgm:spPr/>
      <dgm:t>
        <a:bodyPr/>
        <a:lstStyle/>
        <a:p>
          <a:pPr rtl="0"/>
          <a:r>
            <a:rPr lang="en-US" sz="1800" b="1" dirty="0" smtClean="0">
              <a:latin typeface="Arial" pitchFamily="34" charset="0"/>
              <a:cs typeface="Arial" pitchFamily="34" charset="0"/>
            </a:rPr>
            <a:t>Proposed Solution</a:t>
          </a:r>
          <a:endParaRPr lang="en-US" sz="1800" dirty="0">
            <a:latin typeface="Arial" pitchFamily="34" charset="0"/>
            <a:cs typeface="Arial" pitchFamily="34" charset="0"/>
          </a:endParaRPr>
        </a:p>
      </dgm:t>
    </dgm:pt>
    <dgm:pt modelId="{FBE16D1C-3015-42A2-8729-4B56C2E9F3D2}" type="parTrans" cxnId="{1C3F9CB3-02B1-4641-B5B1-21FC7254DC89}">
      <dgm:prSet/>
      <dgm:spPr/>
      <dgm:t>
        <a:bodyPr/>
        <a:lstStyle/>
        <a:p>
          <a:endParaRPr lang="en-US"/>
        </a:p>
      </dgm:t>
    </dgm:pt>
    <dgm:pt modelId="{DCBD336E-C72C-4E4B-B501-7DDC34461F41}" type="sibTrans" cxnId="{1C3F9CB3-02B1-4641-B5B1-21FC7254DC89}">
      <dgm:prSet/>
      <dgm:spPr/>
      <dgm:t>
        <a:bodyPr/>
        <a:lstStyle/>
        <a:p>
          <a:endParaRPr lang="en-US"/>
        </a:p>
      </dgm:t>
    </dgm:pt>
    <dgm:pt modelId="{81DADC67-78C8-4E9B-AAA7-0D0D25848D7B}" type="pres">
      <dgm:prSet presAssocID="{E5468B7B-1921-4188-893E-AB9EDCDB63E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250668-2EC9-4AC5-8D16-9BEFCE4A9902}" type="pres">
      <dgm:prSet presAssocID="{CF11F8F0-D581-4E87-B826-6AE1139E8B3B}" presName="parentText" presStyleLbl="node1" presStyleIdx="0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9308E9-7D77-4790-B3B7-241C40ACFC3C}" type="pres">
      <dgm:prSet presAssocID="{90A5063E-DE0C-47D7-967A-90370DE7C31D}" presName="spacer" presStyleCnt="0"/>
      <dgm:spPr/>
      <dgm:t>
        <a:bodyPr/>
        <a:lstStyle/>
        <a:p>
          <a:endParaRPr lang="en-US"/>
        </a:p>
      </dgm:t>
    </dgm:pt>
    <dgm:pt modelId="{9F78C2A5-E2C8-4896-B9B9-B3B29366520B}" type="pres">
      <dgm:prSet presAssocID="{0A20204B-ACA3-4F99-A786-A4743B3D8273}" presName="parentText" presStyleLbl="node1" presStyleIdx="1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0AD7B7-2A08-447D-91A2-89EAF4200E44}" type="pres">
      <dgm:prSet presAssocID="{A650C011-EA09-4BC1-8AF3-765A38A62D42}" presName="spacer" presStyleCnt="0"/>
      <dgm:spPr/>
      <dgm:t>
        <a:bodyPr/>
        <a:lstStyle/>
        <a:p>
          <a:endParaRPr lang="en-US"/>
        </a:p>
      </dgm:t>
    </dgm:pt>
    <dgm:pt modelId="{7A2AD361-FE1C-4B21-B16B-2342A9710088}" type="pres">
      <dgm:prSet presAssocID="{9C06DC36-F13E-43A7-B81D-EE2DD97B90E0}" presName="parentText" presStyleLbl="node1" presStyleIdx="2" presStyleCnt="9" custLinFactNeighborX="-19820" custLinFactNeighborY="28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A70910-6114-4352-9FDD-9B1A03C720F4}" type="pres">
      <dgm:prSet presAssocID="{DCBD336E-C72C-4E4B-B501-7DDC34461F41}" presName="spacer" presStyleCnt="0"/>
      <dgm:spPr/>
      <dgm:t>
        <a:bodyPr/>
        <a:lstStyle/>
        <a:p>
          <a:endParaRPr lang="en-US"/>
        </a:p>
      </dgm:t>
    </dgm:pt>
    <dgm:pt modelId="{474D8491-AB8C-4FCE-98DB-204CF5F49B62}" type="pres">
      <dgm:prSet presAssocID="{CA644C80-7FF7-4B20-87BF-CAC1C6FF9959}" presName="parentText" presStyleLbl="node1" presStyleIdx="3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EAA6F8-9141-4708-8A61-7493A521449C}" type="pres">
      <dgm:prSet presAssocID="{9A5C9BA3-9590-4EF1-AE74-2DB4759F006A}" presName="spacer" presStyleCnt="0"/>
      <dgm:spPr/>
      <dgm:t>
        <a:bodyPr/>
        <a:lstStyle/>
        <a:p>
          <a:endParaRPr lang="en-US"/>
        </a:p>
      </dgm:t>
    </dgm:pt>
    <dgm:pt modelId="{B4C9C996-4AD6-4F30-8D4A-3983F023938C}" type="pres">
      <dgm:prSet presAssocID="{324302BB-853C-4DCB-BB9D-7D4CFC6B5E28}" presName="parentText" presStyleLbl="node1" presStyleIdx="4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AF6791-EA71-4164-AFE5-7E3BCE9A0796}" type="pres">
      <dgm:prSet presAssocID="{BA6D1F3E-3CF4-469C-A29E-9210BF7BBF89}" presName="spacer" presStyleCnt="0"/>
      <dgm:spPr/>
      <dgm:t>
        <a:bodyPr/>
        <a:lstStyle/>
        <a:p>
          <a:endParaRPr lang="en-US"/>
        </a:p>
      </dgm:t>
    </dgm:pt>
    <dgm:pt modelId="{736D4D8A-2E6F-4C73-9348-11B14E6C9782}" type="pres">
      <dgm:prSet presAssocID="{C57D3FD3-A88A-4B2B-B103-122CEDEC2124}" presName="parentText" presStyleLbl="node1" presStyleIdx="5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C4A88D-4AD4-42D8-A364-D6F3CDE7E02F}" type="pres">
      <dgm:prSet presAssocID="{06468EAE-7EFA-4825-B215-A016570C54D7}" presName="spacer" presStyleCnt="0"/>
      <dgm:spPr/>
      <dgm:t>
        <a:bodyPr/>
        <a:lstStyle/>
        <a:p>
          <a:endParaRPr lang="en-US"/>
        </a:p>
      </dgm:t>
    </dgm:pt>
    <dgm:pt modelId="{62C20B38-F832-412D-9092-6B5448890D7E}" type="pres">
      <dgm:prSet presAssocID="{0D4741D4-5E8A-431B-8CD9-C5413D8D6D95}" presName="parentText" presStyleLbl="node1" presStyleIdx="6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B538BC-A940-4EE5-9216-B0475E415692}" type="pres">
      <dgm:prSet presAssocID="{D0A507A2-7D20-45CF-8E1D-CDCE495A6459}" presName="spacer" presStyleCnt="0"/>
      <dgm:spPr/>
      <dgm:t>
        <a:bodyPr/>
        <a:lstStyle/>
        <a:p>
          <a:endParaRPr lang="en-US"/>
        </a:p>
      </dgm:t>
    </dgm:pt>
    <dgm:pt modelId="{262FFCBE-4A82-43DC-97A0-575BCD6C155D}" type="pres">
      <dgm:prSet presAssocID="{E25C6E38-5F69-45A0-9D26-1472286B7568}" presName="parentText" presStyleLbl="node1" presStyleIdx="7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E4C6AE-C1B8-4EDD-ADED-5BF8BA5E01F3}" type="pres">
      <dgm:prSet presAssocID="{83928AC9-AB6F-47E5-A4B9-5ACDB804D82D}" presName="spacer" presStyleCnt="0"/>
      <dgm:spPr/>
      <dgm:t>
        <a:bodyPr/>
        <a:lstStyle/>
        <a:p>
          <a:endParaRPr lang="en-US"/>
        </a:p>
      </dgm:t>
    </dgm:pt>
    <dgm:pt modelId="{B4C4AB09-8FBD-4B60-97E0-CDEF6CF31B61}" type="pres">
      <dgm:prSet presAssocID="{7C8E68D7-F2AC-48C6-A423-7E69970A4327}" presName="parentText" presStyleLbl="node1" presStyleIdx="8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06FC4B-5CA8-41C1-BDB9-3911C49BAB6F}" srcId="{E5468B7B-1921-4188-893E-AB9EDCDB63E3}" destId="{0A20204B-ACA3-4F99-A786-A4743B3D8273}" srcOrd="1" destOrd="0" parTransId="{23329794-CA3D-4F72-A54E-3831B2A2ABEF}" sibTransId="{A650C011-EA09-4BC1-8AF3-765A38A62D42}"/>
    <dgm:cxn modelId="{78E919A7-F920-44C8-B840-9EB8BC054514}" srcId="{E5468B7B-1921-4188-893E-AB9EDCDB63E3}" destId="{C57D3FD3-A88A-4B2B-B103-122CEDEC2124}" srcOrd="5" destOrd="0" parTransId="{3218A2D0-D020-4265-B04D-65ED9AC29BD5}" sibTransId="{06468EAE-7EFA-4825-B215-A016570C54D7}"/>
    <dgm:cxn modelId="{2769487D-3511-446B-9E92-3D42BDE7053A}" srcId="{E5468B7B-1921-4188-893E-AB9EDCDB63E3}" destId="{CF11F8F0-D581-4E87-B826-6AE1139E8B3B}" srcOrd="0" destOrd="0" parTransId="{F99CDB02-40D4-4B0B-A452-4997DBEC643D}" sibTransId="{90A5063E-DE0C-47D7-967A-90370DE7C31D}"/>
    <dgm:cxn modelId="{4CB9DDBA-56CD-4159-8EF0-5A1483F782F7}" type="presOf" srcId="{CA644C80-7FF7-4B20-87BF-CAC1C6FF9959}" destId="{474D8491-AB8C-4FCE-98DB-204CF5F49B62}" srcOrd="0" destOrd="0" presId="urn:microsoft.com/office/officeart/2005/8/layout/vList2"/>
    <dgm:cxn modelId="{87AEE6D5-D799-491E-AFD3-796139B7C7A8}" srcId="{E5468B7B-1921-4188-893E-AB9EDCDB63E3}" destId="{E25C6E38-5F69-45A0-9D26-1472286B7568}" srcOrd="7" destOrd="0" parTransId="{3B1E5419-B4E0-4D76-8E75-86EB32534D11}" sibTransId="{83928AC9-AB6F-47E5-A4B9-5ACDB804D82D}"/>
    <dgm:cxn modelId="{2C3EEDCE-7B5E-4AFC-BA09-4A50F666AD9D}" type="presOf" srcId="{E5468B7B-1921-4188-893E-AB9EDCDB63E3}" destId="{81DADC67-78C8-4E9B-AAA7-0D0D25848D7B}" srcOrd="0" destOrd="0" presId="urn:microsoft.com/office/officeart/2005/8/layout/vList2"/>
    <dgm:cxn modelId="{2B566BBC-569C-4C87-9E93-B92E001ED364}" type="presOf" srcId="{0D4741D4-5E8A-431B-8CD9-C5413D8D6D95}" destId="{62C20B38-F832-412D-9092-6B5448890D7E}" srcOrd="0" destOrd="0" presId="urn:microsoft.com/office/officeart/2005/8/layout/vList2"/>
    <dgm:cxn modelId="{7E5C5DA2-508D-4055-A63E-5690C36473DC}" srcId="{E5468B7B-1921-4188-893E-AB9EDCDB63E3}" destId="{324302BB-853C-4DCB-BB9D-7D4CFC6B5E28}" srcOrd="4" destOrd="0" parTransId="{3975494C-AD03-4E9B-BFCD-FCA3CA5B0C23}" sibTransId="{BA6D1F3E-3CF4-469C-A29E-9210BF7BBF89}"/>
    <dgm:cxn modelId="{1C3F9CB3-02B1-4641-B5B1-21FC7254DC89}" srcId="{E5468B7B-1921-4188-893E-AB9EDCDB63E3}" destId="{9C06DC36-F13E-43A7-B81D-EE2DD97B90E0}" srcOrd="2" destOrd="0" parTransId="{FBE16D1C-3015-42A2-8729-4B56C2E9F3D2}" sibTransId="{DCBD336E-C72C-4E4B-B501-7DDC34461F41}"/>
    <dgm:cxn modelId="{898DF76C-9546-4E5D-82D1-2311BB12C76D}" type="presOf" srcId="{C57D3FD3-A88A-4B2B-B103-122CEDEC2124}" destId="{736D4D8A-2E6F-4C73-9348-11B14E6C9782}" srcOrd="0" destOrd="0" presId="urn:microsoft.com/office/officeart/2005/8/layout/vList2"/>
    <dgm:cxn modelId="{58BE50AF-6CED-4E8F-9812-F52F72591807}" type="presOf" srcId="{7C8E68D7-F2AC-48C6-A423-7E69970A4327}" destId="{B4C4AB09-8FBD-4B60-97E0-CDEF6CF31B61}" srcOrd="0" destOrd="0" presId="urn:microsoft.com/office/officeart/2005/8/layout/vList2"/>
    <dgm:cxn modelId="{22362573-9A38-44E1-9D84-299ED7B7E8C8}" type="presOf" srcId="{0A20204B-ACA3-4F99-A786-A4743B3D8273}" destId="{9F78C2A5-E2C8-4896-B9B9-B3B29366520B}" srcOrd="0" destOrd="0" presId="urn:microsoft.com/office/officeart/2005/8/layout/vList2"/>
    <dgm:cxn modelId="{CAF2FB94-5E32-4666-85C0-BF8D98A2D99B}" type="presOf" srcId="{324302BB-853C-4DCB-BB9D-7D4CFC6B5E28}" destId="{B4C9C996-4AD6-4F30-8D4A-3983F023938C}" srcOrd="0" destOrd="0" presId="urn:microsoft.com/office/officeart/2005/8/layout/vList2"/>
    <dgm:cxn modelId="{B54661BD-300A-4095-BFBE-6203EF6645F3}" type="presOf" srcId="{9C06DC36-F13E-43A7-B81D-EE2DD97B90E0}" destId="{7A2AD361-FE1C-4B21-B16B-2342A9710088}" srcOrd="0" destOrd="0" presId="urn:microsoft.com/office/officeart/2005/8/layout/vList2"/>
    <dgm:cxn modelId="{29F398A6-601E-4240-A7DE-E2900A75850E}" srcId="{E5468B7B-1921-4188-893E-AB9EDCDB63E3}" destId="{CA644C80-7FF7-4B20-87BF-CAC1C6FF9959}" srcOrd="3" destOrd="0" parTransId="{B3BD4DDF-FA4E-4654-975F-E338292B4FE7}" sibTransId="{9A5C9BA3-9590-4EF1-AE74-2DB4759F006A}"/>
    <dgm:cxn modelId="{A0C0B2AE-4FC1-4566-8770-552DC46B2276}" srcId="{E5468B7B-1921-4188-893E-AB9EDCDB63E3}" destId="{7C8E68D7-F2AC-48C6-A423-7E69970A4327}" srcOrd="8" destOrd="0" parTransId="{6FFBE517-6EE4-4FE7-AC7D-6D248DDD7B69}" sibTransId="{08764379-3F25-4032-8514-425E2D950377}"/>
    <dgm:cxn modelId="{1825FDF3-818A-45C7-8D23-57493C378CC3}" type="presOf" srcId="{CF11F8F0-D581-4E87-B826-6AE1139E8B3B}" destId="{44250668-2EC9-4AC5-8D16-9BEFCE4A9902}" srcOrd="0" destOrd="0" presId="urn:microsoft.com/office/officeart/2005/8/layout/vList2"/>
    <dgm:cxn modelId="{1FAAB60F-FE0E-49F2-B566-BE7EF0E4A958}" type="presOf" srcId="{E25C6E38-5F69-45A0-9D26-1472286B7568}" destId="{262FFCBE-4A82-43DC-97A0-575BCD6C155D}" srcOrd="0" destOrd="0" presId="urn:microsoft.com/office/officeart/2005/8/layout/vList2"/>
    <dgm:cxn modelId="{D42EA374-7491-4BCA-ACF8-704B1807A45B}" srcId="{E5468B7B-1921-4188-893E-AB9EDCDB63E3}" destId="{0D4741D4-5E8A-431B-8CD9-C5413D8D6D95}" srcOrd="6" destOrd="0" parTransId="{6F1D7530-94AD-40C6-8FC4-9783105394F5}" sibTransId="{D0A507A2-7D20-45CF-8E1D-CDCE495A6459}"/>
    <dgm:cxn modelId="{BD71E064-953E-4556-AA2A-BEA036B8F31D}" type="presParOf" srcId="{81DADC67-78C8-4E9B-AAA7-0D0D25848D7B}" destId="{44250668-2EC9-4AC5-8D16-9BEFCE4A9902}" srcOrd="0" destOrd="0" presId="urn:microsoft.com/office/officeart/2005/8/layout/vList2"/>
    <dgm:cxn modelId="{E08E2E81-B195-47A9-A177-A0DE3E1C9A09}" type="presParOf" srcId="{81DADC67-78C8-4E9B-AAA7-0D0D25848D7B}" destId="{989308E9-7D77-4790-B3B7-241C40ACFC3C}" srcOrd="1" destOrd="0" presId="urn:microsoft.com/office/officeart/2005/8/layout/vList2"/>
    <dgm:cxn modelId="{74A3061C-A1E1-495D-9E70-96564E850C86}" type="presParOf" srcId="{81DADC67-78C8-4E9B-AAA7-0D0D25848D7B}" destId="{9F78C2A5-E2C8-4896-B9B9-B3B29366520B}" srcOrd="2" destOrd="0" presId="urn:microsoft.com/office/officeart/2005/8/layout/vList2"/>
    <dgm:cxn modelId="{9231A794-EF90-4B45-B9A4-A3077E8453F4}" type="presParOf" srcId="{81DADC67-78C8-4E9B-AAA7-0D0D25848D7B}" destId="{BB0AD7B7-2A08-447D-91A2-89EAF4200E44}" srcOrd="3" destOrd="0" presId="urn:microsoft.com/office/officeart/2005/8/layout/vList2"/>
    <dgm:cxn modelId="{72766C45-F93C-49D9-8ABB-3956442A627B}" type="presParOf" srcId="{81DADC67-78C8-4E9B-AAA7-0D0D25848D7B}" destId="{7A2AD361-FE1C-4B21-B16B-2342A9710088}" srcOrd="4" destOrd="0" presId="urn:microsoft.com/office/officeart/2005/8/layout/vList2"/>
    <dgm:cxn modelId="{76C10B96-A059-49E2-B144-609A9F3234B9}" type="presParOf" srcId="{81DADC67-78C8-4E9B-AAA7-0D0D25848D7B}" destId="{98A70910-6114-4352-9FDD-9B1A03C720F4}" srcOrd="5" destOrd="0" presId="urn:microsoft.com/office/officeart/2005/8/layout/vList2"/>
    <dgm:cxn modelId="{EB475334-68FE-40AC-9009-7634F3098C93}" type="presParOf" srcId="{81DADC67-78C8-4E9B-AAA7-0D0D25848D7B}" destId="{474D8491-AB8C-4FCE-98DB-204CF5F49B62}" srcOrd="6" destOrd="0" presId="urn:microsoft.com/office/officeart/2005/8/layout/vList2"/>
    <dgm:cxn modelId="{302C4162-8147-47E6-B10D-43916DA97650}" type="presParOf" srcId="{81DADC67-78C8-4E9B-AAA7-0D0D25848D7B}" destId="{E7EAA6F8-9141-4708-8A61-7493A521449C}" srcOrd="7" destOrd="0" presId="urn:microsoft.com/office/officeart/2005/8/layout/vList2"/>
    <dgm:cxn modelId="{22E83221-06A6-485A-AB2C-3A1F21959C33}" type="presParOf" srcId="{81DADC67-78C8-4E9B-AAA7-0D0D25848D7B}" destId="{B4C9C996-4AD6-4F30-8D4A-3983F023938C}" srcOrd="8" destOrd="0" presId="urn:microsoft.com/office/officeart/2005/8/layout/vList2"/>
    <dgm:cxn modelId="{2622284E-34B2-4557-939C-03B3C1370346}" type="presParOf" srcId="{81DADC67-78C8-4E9B-AAA7-0D0D25848D7B}" destId="{E0AF6791-EA71-4164-AFE5-7E3BCE9A0796}" srcOrd="9" destOrd="0" presId="urn:microsoft.com/office/officeart/2005/8/layout/vList2"/>
    <dgm:cxn modelId="{2E46B84D-8DE9-4720-8CE0-8B91DAAF5A46}" type="presParOf" srcId="{81DADC67-78C8-4E9B-AAA7-0D0D25848D7B}" destId="{736D4D8A-2E6F-4C73-9348-11B14E6C9782}" srcOrd="10" destOrd="0" presId="urn:microsoft.com/office/officeart/2005/8/layout/vList2"/>
    <dgm:cxn modelId="{A79CA92B-157C-416A-A5B7-FE786FC9BE9B}" type="presParOf" srcId="{81DADC67-78C8-4E9B-AAA7-0D0D25848D7B}" destId="{9EC4A88D-4AD4-42D8-A364-D6F3CDE7E02F}" srcOrd="11" destOrd="0" presId="urn:microsoft.com/office/officeart/2005/8/layout/vList2"/>
    <dgm:cxn modelId="{BA40BDBB-D036-43F1-B536-D5CB53D407EF}" type="presParOf" srcId="{81DADC67-78C8-4E9B-AAA7-0D0D25848D7B}" destId="{62C20B38-F832-412D-9092-6B5448890D7E}" srcOrd="12" destOrd="0" presId="urn:microsoft.com/office/officeart/2005/8/layout/vList2"/>
    <dgm:cxn modelId="{35BCCFBB-331A-4532-8A18-92C35E64B13C}" type="presParOf" srcId="{81DADC67-78C8-4E9B-AAA7-0D0D25848D7B}" destId="{43B538BC-A940-4EE5-9216-B0475E415692}" srcOrd="13" destOrd="0" presId="urn:microsoft.com/office/officeart/2005/8/layout/vList2"/>
    <dgm:cxn modelId="{8DCAE2D5-D324-4D46-B9E4-1A6AF3E472A0}" type="presParOf" srcId="{81DADC67-78C8-4E9B-AAA7-0D0D25848D7B}" destId="{262FFCBE-4A82-43DC-97A0-575BCD6C155D}" srcOrd="14" destOrd="0" presId="urn:microsoft.com/office/officeart/2005/8/layout/vList2"/>
    <dgm:cxn modelId="{B52C9727-86A1-432E-B285-5858A9CFF547}" type="presParOf" srcId="{81DADC67-78C8-4E9B-AAA7-0D0D25848D7B}" destId="{D9E4C6AE-C1B8-4EDD-ADED-5BF8BA5E01F3}" srcOrd="15" destOrd="0" presId="urn:microsoft.com/office/officeart/2005/8/layout/vList2"/>
    <dgm:cxn modelId="{7CEA951C-3E41-4798-8407-0F9BF0F545D8}" type="presParOf" srcId="{81DADC67-78C8-4E9B-AAA7-0D0D25848D7B}" destId="{B4C4AB09-8FBD-4B60-97E0-CDEF6CF31B61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50668-2EC9-4AC5-8D16-9BEFCE4A9902}">
      <dsp:nvSpPr>
        <dsp:cNvPr id="0" name=""/>
        <dsp:cNvSpPr/>
      </dsp:nvSpPr>
      <dsp:spPr>
        <a:xfrm>
          <a:off x="0" y="423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GAIT/ Human GAIT</a:t>
          </a:r>
          <a:endParaRPr lang="en-US" sz="1800" kern="1200" dirty="0">
            <a:latin typeface="Arial" pitchFamily="34" charset="0"/>
            <a:cs typeface="Arial" pitchFamily="34" charset="0"/>
          </a:endParaRPr>
        </a:p>
      </dsp:txBody>
      <dsp:txXfrm>
        <a:off x="26501" y="68860"/>
        <a:ext cx="8405198" cy="489878"/>
      </dsp:txXfrm>
    </dsp:sp>
    <dsp:sp modelId="{9F78C2A5-E2C8-4896-B9B9-B3B29366520B}">
      <dsp:nvSpPr>
        <dsp:cNvPr id="0" name=""/>
        <dsp:cNvSpPr/>
      </dsp:nvSpPr>
      <dsp:spPr>
        <a:xfrm>
          <a:off x="0" y="6687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Problem Statement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695260"/>
        <a:ext cx="8405198" cy="489878"/>
      </dsp:txXfrm>
    </dsp:sp>
    <dsp:sp modelId="{7A2AD361-FE1C-4B21-B16B-2342A9710088}">
      <dsp:nvSpPr>
        <dsp:cNvPr id="0" name=""/>
        <dsp:cNvSpPr/>
      </dsp:nvSpPr>
      <dsp:spPr>
        <a:xfrm>
          <a:off x="0" y="1295401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Proposed Solution</a:t>
          </a:r>
          <a:endParaRPr lang="en-US" sz="1800" kern="1200" dirty="0">
            <a:latin typeface="Arial" pitchFamily="34" charset="0"/>
            <a:cs typeface="Arial" pitchFamily="34" charset="0"/>
          </a:endParaRPr>
        </a:p>
      </dsp:txBody>
      <dsp:txXfrm>
        <a:off x="26501" y="1321902"/>
        <a:ext cx="8405198" cy="489878"/>
      </dsp:txXfrm>
    </dsp:sp>
    <dsp:sp modelId="{474D8491-AB8C-4FCE-98DB-204CF5F49B62}">
      <dsp:nvSpPr>
        <dsp:cNvPr id="0" name=""/>
        <dsp:cNvSpPr/>
      </dsp:nvSpPr>
      <dsp:spPr>
        <a:xfrm>
          <a:off x="0" y="19215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AIM</a:t>
          </a:r>
          <a:endParaRPr lang="en-US" sz="1800" kern="1200" dirty="0">
            <a:latin typeface="Arial" pitchFamily="34" charset="0"/>
            <a:cs typeface="Arial" pitchFamily="34" charset="0"/>
          </a:endParaRPr>
        </a:p>
      </dsp:txBody>
      <dsp:txXfrm>
        <a:off x="26501" y="1948060"/>
        <a:ext cx="8405198" cy="489878"/>
      </dsp:txXfrm>
    </dsp:sp>
    <dsp:sp modelId="{B4C9C996-4AD6-4F30-8D4A-3983F023938C}">
      <dsp:nvSpPr>
        <dsp:cNvPr id="0" name=""/>
        <dsp:cNvSpPr/>
      </dsp:nvSpPr>
      <dsp:spPr>
        <a:xfrm>
          <a:off x="0" y="25479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Proposed work and Methodology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2574460"/>
        <a:ext cx="8405198" cy="489878"/>
      </dsp:txXfrm>
    </dsp:sp>
    <dsp:sp modelId="{736D4D8A-2E6F-4C73-9348-11B14E6C9782}">
      <dsp:nvSpPr>
        <dsp:cNvPr id="0" name=""/>
        <dsp:cNvSpPr/>
      </dsp:nvSpPr>
      <dsp:spPr>
        <a:xfrm>
          <a:off x="0" y="31743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Data Collection &amp; Demos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3200860"/>
        <a:ext cx="8405198" cy="489878"/>
      </dsp:txXfrm>
    </dsp:sp>
    <dsp:sp modelId="{62C20B38-F832-412D-9092-6B5448890D7E}">
      <dsp:nvSpPr>
        <dsp:cNvPr id="0" name=""/>
        <dsp:cNvSpPr/>
      </dsp:nvSpPr>
      <dsp:spPr>
        <a:xfrm>
          <a:off x="0" y="3800759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Arial" pitchFamily="34" charset="0"/>
              <a:cs typeface="Arial" pitchFamily="34" charset="0"/>
            </a:rPr>
            <a:t>Classification using KNN and Back Propagation </a:t>
          </a:r>
          <a:endParaRPr lang="en-US" sz="1600" b="1" kern="1200" dirty="0">
            <a:latin typeface="Arial" pitchFamily="34" charset="0"/>
            <a:cs typeface="Arial" pitchFamily="34" charset="0"/>
          </a:endParaRPr>
        </a:p>
      </dsp:txBody>
      <dsp:txXfrm>
        <a:off x="26501" y="3827260"/>
        <a:ext cx="8405198" cy="489878"/>
      </dsp:txXfrm>
    </dsp:sp>
    <dsp:sp modelId="{262FFCBE-4A82-43DC-97A0-575BCD6C155D}">
      <dsp:nvSpPr>
        <dsp:cNvPr id="0" name=""/>
        <dsp:cNvSpPr/>
      </dsp:nvSpPr>
      <dsp:spPr>
        <a:xfrm>
          <a:off x="0" y="4427160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Result analysis 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4453661"/>
        <a:ext cx="8405198" cy="489878"/>
      </dsp:txXfrm>
    </dsp:sp>
    <dsp:sp modelId="{B4C4AB09-8FBD-4B60-97E0-CDEF6CF31B61}">
      <dsp:nvSpPr>
        <dsp:cNvPr id="0" name=""/>
        <dsp:cNvSpPr/>
      </dsp:nvSpPr>
      <dsp:spPr>
        <a:xfrm>
          <a:off x="0" y="5053560"/>
          <a:ext cx="8458200" cy="542880"/>
        </a:xfrm>
        <a:prstGeom prst="roundRect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Arial" pitchFamily="34" charset="0"/>
              <a:cs typeface="Arial" pitchFamily="34" charset="0"/>
            </a:rPr>
            <a:t>Conclusion</a:t>
          </a:r>
          <a:endParaRPr lang="en-US" sz="1800" b="1" kern="1200" dirty="0">
            <a:latin typeface="Arial" pitchFamily="34" charset="0"/>
            <a:cs typeface="Arial" pitchFamily="34" charset="0"/>
          </a:endParaRPr>
        </a:p>
      </dsp:txBody>
      <dsp:txXfrm>
        <a:off x="26501" y="5080061"/>
        <a:ext cx="8405198" cy="4898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7C835-0F5D-4F9F-980B-4D41F3475D74}" type="datetimeFigureOut">
              <a:rPr lang="en-IN" smtClean="0"/>
              <a:pPr/>
              <a:t>13-10-2017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B49CEB-2823-4AB5-9C32-0637FE8CD3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911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5530C-C1F7-4031-AD8D-5D6609D27499}" type="datetimeFigureOut">
              <a:rPr lang="en-IN" smtClean="0"/>
              <a:pPr/>
              <a:t>13-10-2017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7B091-E864-4D72-A684-9328F2AA3E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1855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E21025-D49C-4CBF-B5DA-D4C4911FFDDF}" type="slidenum">
              <a:rPr lang="he-IL" smtClean="0">
                <a:latin typeface="Arial" charset="0"/>
                <a:cs typeface="Arial" charset="0"/>
              </a:rPr>
              <a:pPr/>
              <a:t>2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e-IL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99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664233-6103-4F2D-92AA-FFAB75C87514}" type="slidenum">
              <a:rPr lang="en-US"/>
              <a:pPr/>
              <a:t>10</a:t>
            </a:fld>
            <a:endParaRPr lang="en-US"/>
          </a:p>
        </p:txBody>
      </p:sp>
      <p:sp>
        <p:nvSpPr>
          <p:cNvPr id="395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0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093BE5F4-CD5B-4651-80C5-AB65073FABBC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6635-5499-4768-8BF1-0AF47A6B29E7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CAB848A-F356-424F-958F-E263AA427F71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5C95718-3F62-488F-AF67-A9AD7DB538D2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3DA9-CBD8-4486-A5EF-1C42AEC80CC3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A326-5734-44C6-BDC7-D5FF5CEBFFAD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FDFF-E989-4E0B-9D3E-1B5A5180663C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72435D4-3246-4925-9AE2-2777AE4798C9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C221-7440-4E2A-91C8-70BB17D35EF0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34867BED-9E1A-41A8-B9D0-CB86DF5919A7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3D65C4B-61D6-4BF9-AE51-0BC70183D4AB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Push recovery capable Anthropomorphic Bipedal model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nist.gov/itl/iad/image-group/resources/biometric-special-databases-and-softwar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-nearest_neighbors_algorithm" TargetMode="External"/><Relationship Id="rId2" Type="http://schemas.openxmlformats.org/officeDocument/2006/relationships/hyperlink" Target="https://en.wikipedia.org/wiki/Backpropagation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ChangeArrowheads="1"/>
          </p:cNvSpPr>
          <p:nvPr/>
        </p:nvSpPr>
        <p:spPr bwMode="gray">
          <a:xfrm>
            <a:off x="0" y="3657600"/>
            <a:ext cx="9144000" cy="1108075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lIns="540000" tIns="0" rIns="432000" bIns="0" anchor="ctr"/>
          <a:lstStyle/>
          <a:p>
            <a:pPr marL="354013"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ANUBHA PARASHAR</a:t>
            </a:r>
          </a:p>
          <a:p>
            <a:pPr marL="354013"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ASSISTANT PROFESSOR</a:t>
            </a:r>
            <a:endParaRPr lang="en-US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354013"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SCHOOL OF COMPUTING AND INFORMATION TECHNOLOGY</a:t>
            </a:r>
            <a:endParaRPr lang="en-US" b="1" kern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09600" y="4876800"/>
            <a:ext cx="85344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 smtClean="0">
                <a:latin typeface="Bookman Old Style" pitchFamily="18" charset="0"/>
              </a:rPr>
              <a:t>Computer Science and Engineering</a:t>
            </a:r>
          </a:p>
          <a:p>
            <a:pPr algn="ctr"/>
            <a:r>
              <a:rPr lang="en-US" altLang="en-US" sz="2000" b="1" dirty="0" smtClean="0">
                <a:latin typeface="Bookman Old Style" pitchFamily="18" charset="0"/>
              </a:rPr>
              <a:t>MANIPAL UNIVERSITY, JAIPUR.</a:t>
            </a:r>
          </a:p>
          <a:p>
            <a:pPr eaLnBrk="1" hangingPunct="1"/>
            <a:endParaRPr lang="en-US" altLang="en-US" sz="2800" dirty="0">
              <a:latin typeface="Bookman Old Style" pitchFamily="18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just"/>
            <a:fld id="{5E0C4E1B-F6F4-4C4A-8896-F0CDDF9AF9BB}" type="datetime1">
              <a:rPr lang="en-US" smtClean="0"/>
              <a:pPr algn="just"/>
              <a:t>10/13/2017</a:t>
            </a:fld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0" y="1600200"/>
            <a:ext cx="9144000" cy="160020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  <a:sp3d extrusionH="57150">
              <a:bevelT w="38100" h="38100" prst="relaxedInset"/>
            </a:sp3d>
          </a:bodyPr>
          <a:lstStyle/>
          <a:p>
            <a:pPr algn="ctr">
              <a:spcAft>
                <a:spcPts val="300"/>
              </a:spcAft>
            </a:pPr>
            <a:r>
              <a:rPr lang="en-US" sz="3200" b="1" dirty="0">
                <a:solidFill>
                  <a:srgbClr val="00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Identification of Gait Data Using Machine Learning Technique to Categories Human Locomotion</a:t>
            </a:r>
            <a:endParaRPr lang="en-IN" sz="3200" b="1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907379186"/>
              </p:ext>
            </p:extLst>
          </p:nvPr>
        </p:nvGraphicFramePr>
        <p:xfrm>
          <a:off x="381000" y="1219200"/>
          <a:ext cx="84582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96200" y="6492875"/>
            <a:ext cx="1295400" cy="365125"/>
          </a:xfrm>
        </p:spPr>
        <p:txBody>
          <a:bodyPr/>
          <a:lstStyle/>
          <a:p>
            <a:fld id="{2490660B-9F18-4039-93D1-FD225F3823F5}" type="datetime1">
              <a:rPr lang="en-US" smtClean="0"/>
              <a:pPr/>
              <a:t>10/13/2017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Outline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10/13/2017</a:t>
            </a:fld>
            <a:endParaRPr lang="en-US"/>
          </a:p>
        </p:txBody>
      </p:sp>
      <p:grpSp>
        <p:nvGrpSpPr>
          <p:cNvPr id="2" name="Diagram group"/>
          <p:cNvGrpSpPr/>
          <p:nvPr/>
        </p:nvGrpSpPr>
        <p:grpSpPr>
          <a:xfrm>
            <a:off x="152400" y="152400"/>
            <a:ext cx="8991600" cy="981045"/>
            <a:chOff x="0" y="4777"/>
            <a:chExt cx="5562600" cy="9810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4" name="Group 5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p3d extrusionH="152250" prstMaterial="matte">
                <a:bevelT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olidFill>
                <a:srgbClr val="C00000"/>
              </a:solidFill>
              <a:sp3d>
                <a:bevelT/>
              </a:sp3d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400" dirty="0" smtClean="0"/>
                  <a:t>What is GAIT?</a:t>
                </a:r>
                <a:endParaRPr lang="en-US" sz="4300" kern="1200" dirty="0"/>
              </a:p>
            </p:txBody>
          </p:sp>
        </p:grpSp>
      </p:grpSp>
      <p:sp>
        <p:nvSpPr>
          <p:cNvPr id="11" name="Rectangle 10"/>
          <p:cNvSpPr/>
          <p:nvPr/>
        </p:nvSpPr>
        <p:spPr>
          <a:xfrm>
            <a:off x="228600" y="1905000"/>
            <a:ext cx="8915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5400" b="1" dirty="0" smtClean="0"/>
              <a:t>Gait</a:t>
            </a:r>
            <a:endParaRPr lang="en-IN" sz="54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Gait refers to the manner in which a person walks, and is one of the few biometric traits that can be used to recognize people at a distance.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Therefore, this trait is very appropriate in surveillance scenarios and gait recognition system.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10/13/2017</a:t>
            </a:fld>
            <a:endParaRPr lang="en-US"/>
          </a:p>
        </p:txBody>
      </p:sp>
      <p:grpSp>
        <p:nvGrpSpPr>
          <p:cNvPr id="2" name="Diagram group"/>
          <p:cNvGrpSpPr/>
          <p:nvPr/>
        </p:nvGrpSpPr>
        <p:grpSpPr>
          <a:xfrm>
            <a:off x="152400" y="152400"/>
            <a:ext cx="8991600" cy="981045"/>
            <a:chOff x="0" y="4777"/>
            <a:chExt cx="5562600" cy="9810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4" name="Group 5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p3d extrusionH="152250" prstMaterial="matte">
                <a:bevelT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olidFill>
                <a:srgbClr val="C00000"/>
              </a:solidFill>
              <a:sp3d>
                <a:bevelT/>
              </a:sp3d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400" b="1" dirty="0" smtClean="0"/>
                  <a:t>Human gait</a:t>
                </a:r>
                <a:endParaRPr lang="en-US" sz="4300" kern="1200" dirty="0"/>
              </a:p>
            </p:txBody>
          </p:sp>
        </p:grpSp>
      </p:grpSp>
      <p:sp>
        <p:nvSpPr>
          <p:cNvPr id="11" name="Rectangle 10"/>
          <p:cNvSpPr/>
          <p:nvPr/>
        </p:nvSpPr>
        <p:spPr>
          <a:xfrm>
            <a:off x="35417" y="2029757"/>
            <a:ext cx="8915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Human gait analysis refers to the study of human locomotion.</a:t>
            </a: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Applications are in a large variety of domains, including entertainment, </a:t>
            </a:r>
            <a:r>
              <a:rPr lang="en-US" sz="2000" kern="0" dirty="0" smtClean="0">
                <a:latin typeface="Arial"/>
              </a:rPr>
              <a:t>healthcare, security like surveillance</a:t>
            </a:r>
            <a:r>
              <a:rPr lang="en-US" sz="2000" kern="0" dirty="0" smtClean="0">
                <a:latin typeface="Arial"/>
              </a:rPr>
              <a:t> scenario</a:t>
            </a:r>
            <a:r>
              <a:rPr lang="en-US" sz="2000" kern="0" dirty="0" smtClean="0">
                <a:latin typeface="Arial"/>
              </a:rPr>
              <a:t> </a:t>
            </a:r>
            <a:r>
              <a:rPr lang="en-US" sz="2000" kern="0" dirty="0" smtClean="0">
                <a:latin typeface="Arial"/>
              </a:rPr>
              <a:t>and pedestrian </a:t>
            </a:r>
            <a:r>
              <a:rPr lang="en-US" sz="2000" kern="0" dirty="0" smtClean="0">
                <a:latin typeface="Arial"/>
              </a:rPr>
              <a:t>navigation. </a:t>
            </a:r>
            <a:endParaRPr lang="en-US" sz="2000" kern="0" dirty="0" smtClean="0">
              <a:latin typeface="Arial"/>
            </a:endParaRP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The act of walking involves the coordination of different human body parts, such as the skeleton, the muscle and the neural systems. </a:t>
            </a: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Various factors can affect the complex interaction between the body parts, for example any pathological nature will require a distinction between ― </a:t>
            </a:r>
            <a:r>
              <a:rPr lang="en-US" sz="2000" b="1" kern="0" dirty="0" smtClean="0">
                <a:latin typeface="Arial"/>
              </a:rPr>
              <a:t>normal gait</a:t>
            </a:r>
            <a:r>
              <a:rPr lang="en-US" sz="2000" kern="0" dirty="0" smtClean="0">
                <a:latin typeface="Arial"/>
              </a:rPr>
              <a:t> and </a:t>
            </a:r>
            <a:r>
              <a:rPr lang="en-US" sz="2000" b="1" kern="0" dirty="0" smtClean="0">
                <a:latin typeface="Arial"/>
              </a:rPr>
              <a:t>pathological gait</a:t>
            </a:r>
            <a:r>
              <a:rPr lang="en-US" sz="2000" kern="0" dirty="0" smtClean="0">
                <a:latin typeface="Arial"/>
              </a:rPr>
              <a:t>. </a:t>
            </a: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 smtClean="0">
                <a:latin typeface="Arial"/>
              </a:rPr>
              <a:t>Normal gait refers to the general human walking parameters without differentiating the age, sex or physical parameters. </a:t>
            </a:r>
          </a:p>
          <a:p>
            <a:pPr marL="342900" lvl="0" indent="-342900" algn="just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2000" kern="0" dirty="0">
                <a:latin typeface="Arial"/>
              </a:rPr>
              <a:t>P</a:t>
            </a:r>
            <a:r>
              <a:rPr lang="en-US" sz="2000" kern="0" dirty="0" smtClean="0">
                <a:latin typeface="Arial"/>
              </a:rPr>
              <a:t>athological gait refers to an abnormal gait, for example affected by pathologies such as muscle weakness or skeleton </a:t>
            </a:r>
            <a:r>
              <a:rPr lang="en-US" sz="2000" kern="0" dirty="0" smtClean="0">
                <a:latin typeface="Arial"/>
              </a:rPr>
              <a:t>deformities or due to anxiety.</a:t>
            </a:r>
            <a:endParaRPr lang="en-IN" sz="2000" kern="0" dirty="0" smtClean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10/13/2017</a:t>
            </a:fld>
            <a:endParaRPr lang="en-US"/>
          </a:p>
        </p:txBody>
      </p:sp>
      <p:grpSp>
        <p:nvGrpSpPr>
          <p:cNvPr id="2" name="Diagram group"/>
          <p:cNvGrpSpPr/>
          <p:nvPr/>
        </p:nvGrpSpPr>
        <p:grpSpPr>
          <a:xfrm>
            <a:off x="762000" y="152400"/>
            <a:ext cx="5562600" cy="981045"/>
            <a:chOff x="0" y="4777"/>
            <a:chExt cx="5562600" cy="981045"/>
          </a:xfrm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5" name="Group 6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sp>
          <p:sp>
            <p:nvSpPr>
              <p:cNvPr id="9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algn="l" defTabSz="191135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300" kern="1200" dirty="0" smtClean="0"/>
                  <a:t>Problem Statement </a:t>
                </a:r>
                <a:endParaRPr lang="en-US" sz="4300" kern="1200" dirty="0"/>
              </a:p>
            </p:txBody>
          </p:sp>
        </p:grpSp>
      </p:grpSp>
      <p:pic>
        <p:nvPicPr>
          <p:cNvPr id="16" name="Picture 15" descr="C:\Users\Anubha\Desktop\mtech 4th sem thesis\pics\2.2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1524000"/>
            <a:ext cx="44958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0" y="1502689"/>
            <a:ext cx="46482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To verify/validate the identity of people is called as authentication.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And now a day’s authentication is becoming very popular to check whether a person is authentic or not.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Previously authentication was done with secret passwords or PIN codes. The disadvantage of such authentication systems was anyone could crack the password or PIN codes.</a:t>
            </a:r>
            <a:endParaRPr lang="en-IN" sz="20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So, biometric (in fig.) technology came to existence where authentication is done using a particular body part like fingers, iris etc. </a:t>
            </a:r>
            <a:r>
              <a:rPr lang="en-IN" sz="2000" dirty="0" smtClean="0"/>
              <a:t>But now a days these biometrics are not user friendly as people dislike accessing finger print machine or avoid iris scanner as it may weaken or damage their vision. 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676400"/>
            <a:ext cx="8686800" cy="4572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Identifying normal or pathological human gait. Therefore a robust method for detecting and capturing the body, face and/or gait of each individual person has to be found. </a:t>
            </a:r>
          </a:p>
          <a:p>
            <a:pPr algn="just"/>
            <a:r>
              <a:rPr lang="en-US" sz="2400" dirty="0" smtClean="0"/>
              <a:t>Human gait is supposed as unique biometric identification like thumb print. </a:t>
            </a:r>
          </a:p>
          <a:p>
            <a:pPr algn="just"/>
            <a:r>
              <a:rPr lang="en-US" sz="2400" dirty="0" smtClean="0"/>
              <a:t>So in GAIT analysis to examine the human walking moment we collect and analyze the data. </a:t>
            </a:r>
          </a:p>
          <a:p>
            <a:pPr algn="just"/>
            <a:r>
              <a:rPr lang="en-US" sz="2400" dirty="0" smtClean="0"/>
              <a:t>Human gait can be utilized to identify people for diverse security reason and exercised before to detect many abnormalities. </a:t>
            </a:r>
            <a:endParaRPr lang="en-US" sz="2000" dirty="0" smtClean="0"/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</p:txBody>
      </p:sp>
      <p:grpSp>
        <p:nvGrpSpPr>
          <p:cNvPr id="2" name="Diagram group"/>
          <p:cNvGrpSpPr/>
          <p:nvPr/>
        </p:nvGrpSpPr>
        <p:grpSpPr>
          <a:xfrm>
            <a:off x="762000" y="152400"/>
            <a:ext cx="5562600" cy="981045"/>
            <a:chOff x="0" y="4777"/>
            <a:chExt cx="5562600" cy="981045"/>
          </a:xfrm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5" name="Group 6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sp>
          <p:sp>
            <p:nvSpPr>
              <p:cNvPr id="9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400" dirty="0" smtClean="0"/>
                  <a:t>Proposed Solution  </a:t>
                </a:r>
                <a:endParaRPr lang="en-US" sz="44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810500" y="6374918"/>
            <a:ext cx="1181100" cy="365125"/>
          </a:xfrm>
        </p:spPr>
        <p:txBody>
          <a:bodyPr/>
          <a:lstStyle/>
          <a:p>
            <a:fld id="{5A9B8384-26D2-44B7-B750-847CEE8EDC79}" type="datetime1">
              <a:rPr lang="en-US" smtClean="0"/>
              <a:pPr/>
              <a:t>10/13/2017</a:t>
            </a:fld>
            <a:endParaRPr lang="en-US" dirty="0"/>
          </a:p>
        </p:txBody>
      </p:sp>
      <p:grpSp>
        <p:nvGrpSpPr>
          <p:cNvPr id="2" name="Diagram group"/>
          <p:cNvGrpSpPr/>
          <p:nvPr/>
        </p:nvGrpSpPr>
        <p:grpSpPr>
          <a:xfrm>
            <a:off x="762000" y="152400"/>
            <a:ext cx="5562600" cy="981045"/>
            <a:chOff x="0" y="4777"/>
            <a:chExt cx="5562600" cy="981045"/>
          </a:xfrm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grpSp>
          <p:nvGrpSpPr>
            <p:cNvPr id="5" name="Group 6"/>
            <p:cNvGrpSpPr/>
            <p:nvPr/>
          </p:nvGrpSpPr>
          <p:grpSpPr>
            <a:xfrm>
              <a:off x="0" y="4777"/>
              <a:ext cx="5562600" cy="981045"/>
              <a:chOff x="0" y="4777"/>
              <a:chExt cx="5562600" cy="981045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0" y="4777"/>
                <a:ext cx="5562600" cy="981045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sp>
          <p:sp>
            <p:nvSpPr>
              <p:cNvPr id="9" name="Rounded Rectangle 4"/>
              <p:cNvSpPr/>
              <p:nvPr/>
            </p:nvSpPr>
            <p:spPr>
              <a:xfrm>
                <a:off x="47891" y="52668"/>
                <a:ext cx="5466818" cy="885263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63830" tIns="163830" rIns="163830" bIns="163830" numCol="1" spcCol="1270" anchor="ctr" anchorCtr="0">
                <a:noAutofit/>
                <a:sp3d extrusionH="28000" prstMaterial="matte"/>
              </a:bodyPr>
              <a:lstStyle/>
              <a:p>
                <a:pPr lvl="0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4000" dirty="0" smtClean="0"/>
                  <a:t>Proposed Solution  </a:t>
                </a:r>
                <a:endParaRPr lang="en-US" sz="4000" dirty="0"/>
              </a:p>
            </p:txBody>
          </p:sp>
        </p:grpSp>
      </p:grp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0" y="39481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0" y="455771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0" y="5619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0" y="5467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57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57325" algn="l"/>
              </a:tabLst>
            </a:pP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444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57325" algn="l"/>
              </a:tabLst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" name="Picture 28" descr="fi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70049"/>
            <a:ext cx="5848668" cy="5013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947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0"/>
            <a:ext cx="1752600" cy="1676400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0" y="1828800"/>
            <a:ext cx="9144000" cy="5410200"/>
          </a:xfrm>
        </p:spPr>
        <p:txBody>
          <a:bodyPr>
            <a:normAutofit/>
          </a:bodyPr>
          <a:lstStyle/>
          <a:p>
            <a:pPr algn="just"/>
            <a:r>
              <a:rPr lang="en-US" sz="4000" dirty="0" smtClean="0"/>
              <a:t>The aim of the paper is to evaluate and implement robust and accurate method to identify whether it’s a </a:t>
            </a:r>
            <a:r>
              <a:rPr lang="en-US" sz="4000" b="1" dirty="0" smtClean="0"/>
              <a:t>normal gait</a:t>
            </a:r>
            <a:r>
              <a:rPr lang="en-US" sz="4000" dirty="0" smtClean="0"/>
              <a:t> or </a:t>
            </a:r>
            <a:r>
              <a:rPr lang="en-US" sz="4000" b="1" dirty="0" smtClean="0"/>
              <a:t>pathological </a:t>
            </a:r>
            <a:r>
              <a:rPr lang="en-US" sz="4000" b="1" dirty="0" smtClean="0"/>
              <a:t>gait </a:t>
            </a:r>
            <a:r>
              <a:rPr lang="en-US" sz="4000" dirty="0"/>
              <a:t>for healthcare and pedestrian </a:t>
            </a:r>
            <a:r>
              <a:rPr lang="en-US" sz="4000" dirty="0" smtClean="0"/>
              <a:t>navigation and for security purpose like surveillance.</a:t>
            </a:r>
            <a:endParaRPr lang="en-IN" sz="40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1D90-76AF-4FAE-AC6A-7E544818C926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657600" y="304800"/>
            <a:ext cx="3962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0040" lvl="0" indent="-320040">
              <a:spcBef>
                <a:spcPts val="700"/>
              </a:spcBef>
              <a:buClr>
                <a:srgbClr val="C0504D"/>
              </a:buClr>
              <a:buSzPct val="60000"/>
            </a:pPr>
            <a:r>
              <a:rPr lang="en-US" sz="4000" b="1" dirty="0" smtClean="0">
                <a:solidFill>
                  <a:srgbClr val="C00000"/>
                </a:solidFill>
              </a:rPr>
              <a:t>AIM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6019800" cy="2209800"/>
          </a:xfrm>
        </p:spPr>
        <p:txBody>
          <a:bodyPr/>
          <a:lstStyle/>
          <a:p>
            <a:r>
              <a:rPr lang="en-US" b="1" cap="small" dirty="0" smtClean="0"/>
              <a:t>Methodology</a:t>
            </a:r>
            <a:endParaRPr lang="en-IN" b="1" cap="small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0" y="5257800"/>
            <a:ext cx="2514600" cy="685800"/>
          </a:xfrm>
        </p:spPr>
        <p:txBody>
          <a:bodyPr/>
          <a:lstStyle/>
          <a:p>
            <a:endParaRPr lang="en-US" sz="3200" dirty="0">
              <a:latin typeface="Monotype Corsiva" pitchFamily="66" charset="0"/>
            </a:endParaRPr>
          </a:p>
          <a:p>
            <a:endParaRPr lang="en-US" sz="1800" dirty="0"/>
          </a:p>
        </p:txBody>
      </p:sp>
      <p:sp>
        <p:nvSpPr>
          <p:cNvPr id="6" name="Date Placeholder 4"/>
          <p:cNvSpPr txBox="1">
            <a:spLocks/>
          </p:cNvSpPr>
          <p:nvPr/>
        </p:nvSpPr>
        <p:spPr bwMode="auto">
          <a:xfrm>
            <a:off x="3581400" y="6400800"/>
            <a:ext cx="2544762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1D258A-2AF9-43B9-BDAD-2FB9542B700C}" type="datetime2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Friday, October 13, 2017</a:t>
            </a:fld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cap="small" dirty="0" smtClean="0"/>
              <a:t>Methodology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828800"/>
            <a:ext cx="8458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sz="2800" dirty="0" smtClean="0"/>
              <a:t>Firstly we collect the GAIT data then features are extracted and we classify the GAIT dataset. </a:t>
            </a:r>
          </a:p>
          <a:p>
            <a:pPr algn="just"/>
            <a:endParaRPr lang="en-IN" sz="2800" dirty="0" smtClean="0"/>
          </a:p>
          <a:p>
            <a:pPr algn="just">
              <a:buFont typeface="Wingdings" pitchFamily="2" charset="2"/>
              <a:buChar char="Ø"/>
            </a:pPr>
            <a:r>
              <a:rPr lang="en-IN" sz="2800" dirty="0" smtClean="0"/>
              <a:t>Training and testing of system is done. </a:t>
            </a:r>
          </a:p>
          <a:p>
            <a:pPr algn="just"/>
            <a:endParaRPr lang="en-IN" sz="2800" dirty="0" smtClean="0"/>
          </a:p>
          <a:p>
            <a:pPr algn="just">
              <a:buFont typeface="Wingdings" pitchFamily="2" charset="2"/>
              <a:buChar char="Ø"/>
            </a:pPr>
            <a:r>
              <a:rPr lang="en-IN" sz="2800" dirty="0" smtClean="0"/>
              <a:t>After the </a:t>
            </a:r>
            <a:r>
              <a:rPr lang="en-IN" sz="2800" dirty="0" smtClean="0"/>
              <a:t>Classification  </a:t>
            </a:r>
            <a:r>
              <a:rPr lang="en-IN" sz="2800" dirty="0" smtClean="0"/>
              <a:t>is done result is shown as normal or pathological GAIT. </a:t>
            </a:r>
          </a:p>
          <a:p>
            <a:pPr algn="just"/>
            <a:endParaRPr lang="en-IN" sz="2800" dirty="0" smtClean="0"/>
          </a:p>
          <a:p>
            <a:pPr algn="just">
              <a:buFont typeface="Wingdings" pitchFamily="2" charset="2"/>
              <a:buChar char="Ø"/>
            </a:pPr>
            <a:r>
              <a:rPr lang="en-IN" sz="2800" dirty="0" smtClean="0"/>
              <a:t>Then </a:t>
            </a:r>
            <a:r>
              <a:rPr lang="en-US" sz="2800" dirty="0" smtClean="0"/>
              <a:t>10 fold cross-validation test is also conducted to validate the statistical significance of the results.</a:t>
            </a:r>
            <a:endParaRPr lang="en-IN" sz="2800" dirty="0"/>
          </a:p>
        </p:txBody>
      </p:sp>
      <p:sp>
        <p:nvSpPr>
          <p:cNvPr id="21" name="Date Placeholder 4"/>
          <p:cNvSpPr>
            <a:spLocks noGrp="1"/>
          </p:cNvSpPr>
          <p:nvPr>
            <p:ph type="dt" sz="quarter" idx="10"/>
          </p:nvPr>
        </p:nvSpPr>
        <p:spPr>
          <a:xfrm>
            <a:off x="3856038" y="6553200"/>
            <a:ext cx="2544762" cy="225425"/>
          </a:xfrm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64363" y="6518275"/>
            <a:ext cx="2133600" cy="244475"/>
          </a:xfrm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10</a:t>
            </a:fld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3200" b="1" dirty="0" smtClean="0"/>
              <a:t>Data Collection</a:t>
            </a:r>
            <a:endParaRPr lang="th-TH" sz="3200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The data set is collected from following link</a:t>
            </a:r>
          </a:p>
          <a:p>
            <a:pPr algn="just"/>
            <a:r>
              <a:rPr lang="en-US" b="1" dirty="0" smtClean="0">
                <a:hlinkClick r:id="rId2"/>
              </a:rPr>
              <a:t>https</a:t>
            </a:r>
            <a:r>
              <a:rPr lang="en-US" b="1" dirty="0">
                <a:hlinkClick r:id="rId2"/>
              </a:rPr>
              <a:t>://</a:t>
            </a:r>
            <a:r>
              <a:rPr lang="en-US" b="1" dirty="0" smtClean="0">
                <a:hlinkClick r:id="rId2"/>
              </a:rPr>
              <a:t>www.nist.gov/itl/iad/image-group/resources/biometric-special-databases-and-software</a:t>
            </a:r>
            <a:endParaRPr lang="en-US" b="1" dirty="0" smtClean="0"/>
          </a:p>
          <a:p>
            <a:pPr algn="just"/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11</a:t>
            </a:fld>
            <a:endParaRPr lang="en-US" dirty="0" smtClean="0">
              <a:latin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618" t="23958" r="17789" b="36777"/>
          <a:stretch/>
        </p:blipFill>
        <p:spPr>
          <a:xfrm>
            <a:off x="228600" y="3505200"/>
            <a:ext cx="8534400" cy="274320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 of dataset</a:t>
            </a:r>
            <a:endParaRPr lang="en-US" sz="5400" dirty="0" smtClean="0"/>
          </a:p>
        </p:txBody>
      </p:sp>
      <p:sp>
        <p:nvSpPr>
          <p:cNvPr id="348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ED87B881-D1E2-478F-9EBD-423906902938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48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420A6A98-A546-4019-A9C9-E0D413348357}" type="slidenum">
              <a:rPr lang="en-US" smtClean="0">
                <a:latin typeface="Arial" pitchFamily="34" charset="0"/>
              </a:rPr>
              <a:pPr/>
              <a:t>12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84582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 smtClean="0"/>
              <a:t>When the dataset is simulated, then the coordinates of the human GAIT data set is captured and shown in figure for crouch2, crouch3, crouch4, normal datasets respectively.</a:t>
            </a:r>
            <a:endParaRPr lang="en-IN" sz="4400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eaLnBrk="1" hangingPunct="1"/>
            <a:r>
              <a:rPr lang="en-US" dirty="0" smtClean="0"/>
              <a:t>Simulation of dataset in </a:t>
            </a:r>
            <a:r>
              <a:rPr lang="en-US" dirty="0" err="1" smtClean="0"/>
              <a:t>openSim</a:t>
            </a:r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13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6" name="Picture 5" descr="fig1"/>
          <p:cNvPicPr/>
          <p:nvPr/>
        </p:nvPicPr>
        <p:blipFill>
          <a:blip r:embed="rId2">
            <a:biLevel thresh="25000"/>
          </a:blip>
          <a:srcRect/>
          <a:stretch>
            <a:fillRect/>
          </a:stretch>
        </p:blipFill>
        <p:spPr bwMode="auto">
          <a:xfrm>
            <a:off x="2362200" y="2008162"/>
            <a:ext cx="4174807" cy="3470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Values of crouch2 dataset</a:t>
            </a:r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14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48130" name="Picture 13" descr="fig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524703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Values of crouch3 dataset</a:t>
            </a:r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15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49154" name="Picture 14" descr="fig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8077200" cy="4700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Values of crouch4 dataset</a:t>
            </a:r>
            <a:endParaRPr lang="th-TH" dirty="0" smtClean="0"/>
          </a:p>
        </p:txBody>
      </p:sp>
      <p:sp>
        <p:nvSpPr>
          <p:cNvPr id="28677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B1D258A-2AF9-43B9-BDAD-2FB9542B700C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DC1B73F0-0209-41B0-9CD2-2EFAE975F811}" type="slidenum">
              <a:rPr lang="en-US" smtClean="0">
                <a:latin typeface="Arial" pitchFamily="34" charset="0"/>
              </a:rPr>
              <a:pPr/>
              <a:t>16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50178" name="Picture 15" descr="fig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1" y="1676400"/>
            <a:ext cx="7906104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 smtClean="0"/>
              <a:t>Values of normal dataset</a:t>
            </a:r>
          </a:p>
        </p:txBody>
      </p:sp>
      <p:sp>
        <p:nvSpPr>
          <p:cNvPr id="348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ED87B881-D1E2-478F-9EBD-423906902938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48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420A6A98-A546-4019-A9C9-E0D413348357}" type="slidenum">
              <a:rPr lang="en-US" smtClean="0">
                <a:latin typeface="Arial" pitchFamily="34" charset="0"/>
              </a:rPr>
              <a:pPr/>
              <a:t>17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26625" name="Picture 15" descr="fig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00200"/>
            <a:ext cx="7696200" cy="4648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/>
              <a:t>Feature Selection</a:t>
            </a:r>
            <a:endParaRPr lang="en-IN" sz="4800" dirty="0"/>
          </a:p>
        </p:txBody>
      </p:sp>
      <p:sp>
        <p:nvSpPr>
          <p:cNvPr id="348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ED87B881-D1E2-478F-9EBD-423906902938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48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420A6A98-A546-4019-A9C9-E0D413348357}" type="slidenum">
              <a:rPr lang="en-US" smtClean="0">
                <a:latin typeface="Arial" pitchFamily="34" charset="0"/>
              </a:rPr>
              <a:pPr/>
              <a:t>18</a:t>
            </a:fld>
            <a:endParaRPr lang="en-US" smtClean="0">
              <a:latin typeface="Arial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76600" y="1600200"/>
          <a:ext cx="2637948" cy="4394194"/>
        </p:xfrm>
        <a:graphic>
          <a:graphicData uri="http://schemas.openxmlformats.org/drawingml/2006/table">
            <a:tbl>
              <a:tblPr/>
              <a:tblGrid>
                <a:gridCol w="1286212"/>
                <a:gridCol w="1351736"/>
              </a:tblGrid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/>
                          <a:ea typeface="Times New Roman"/>
                        </a:rPr>
                        <a:t>Feature Category</a:t>
                      </a:r>
                      <a:endParaRPr lang="en-IN" sz="1000" dirty="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Feature Name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Pelvis_tilt 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F2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Pelvis_list 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F3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Pelvis_rotation 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F4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Pelvis_tx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F5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Pelvis_ty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F6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Pelvis_tz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F7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hip_flexion_r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F8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hip_adduction_r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F9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hip_rotation_r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F10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knee_angle_r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F11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ankle_angle_r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F12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ankle_angle_l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F13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knee_angle_l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F14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hip_flexion_l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F15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hip_adduction_l 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4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</a:rPr>
                        <a:t>F16</a:t>
                      </a:r>
                      <a:endParaRPr lang="en-IN" sz="100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/>
                          <a:ea typeface="Times New Roman"/>
                        </a:rPr>
                        <a:t>hip_rotation_l </a:t>
                      </a:r>
                      <a:endParaRPr lang="en-IN" sz="1000" dirty="0">
                        <a:latin typeface="Times New Roman"/>
                        <a:ea typeface="Times New Roman"/>
                      </a:endParaRPr>
                    </a:p>
                  </a:txBody>
                  <a:tcPr marL="59765" marR="59765" marT="0" marB="0">
                    <a:lnL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1828800"/>
            <a:ext cx="8229600" cy="1981200"/>
          </a:xfrm>
        </p:spPr>
        <p:txBody>
          <a:bodyPr/>
          <a:lstStyle/>
          <a:p>
            <a:r>
              <a:rPr lang="en-US" b="1" dirty="0" smtClean="0"/>
              <a:t>Classification</a:t>
            </a:r>
            <a:endParaRPr lang="en-IN" dirty="0"/>
          </a:p>
        </p:txBody>
      </p:sp>
      <p:sp>
        <p:nvSpPr>
          <p:cNvPr id="3584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</a:rPr>
              <a:t>KNN, BACK PROPOGATION  </a:t>
            </a:r>
            <a:endParaRPr lang="th-TH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4000" b="1" dirty="0" smtClean="0"/>
              <a:t>CLASSIFICATION  </a:t>
            </a:r>
            <a:endParaRPr lang="th-TH" sz="4000" b="1" dirty="0" smtClean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  <a:buFont typeface="Wingdings" pitchFamily="2" charset="2"/>
              <a:buChar char="Ø"/>
            </a:pPr>
            <a:r>
              <a:rPr lang="en-IN" sz="4000" b="1" dirty="0"/>
              <a:t>C</a:t>
            </a:r>
            <a:r>
              <a:rPr lang="en-IN" sz="4000" b="1" dirty="0" smtClean="0"/>
              <a:t>lassification</a:t>
            </a:r>
            <a:r>
              <a:rPr lang="en-IN" sz="4000" dirty="0"/>
              <a:t> is the problem of identifying to </a:t>
            </a:r>
            <a:r>
              <a:rPr lang="en-IN" sz="4000" dirty="0" smtClean="0"/>
              <a:t>which </a:t>
            </a:r>
            <a:r>
              <a:rPr lang="en-IN" sz="4000" dirty="0"/>
              <a:t>set of categories (sub-populations) a new observation belongs, on the basis of a training set of data containing observations (or instances) whose category membership is known</a:t>
            </a:r>
            <a:r>
              <a:rPr lang="en-IN" sz="4000" dirty="0" smtClean="0"/>
              <a:t>.</a:t>
            </a:r>
            <a:endParaRPr lang="en-US" sz="4000" dirty="0" smtClean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20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543800" cy="9906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000" b="1" dirty="0" smtClean="0"/>
              <a:t>CLASSIFICATION TECHNIQUES USED   </a:t>
            </a:r>
            <a:endParaRPr lang="th-TH" sz="4000" b="1" dirty="0" smtClean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/>
              <a:t>CLASSIFICATION  of GAIT data is done using two following techniques:</a:t>
            </a:r>
            <a:endParaRPr lang="en-IN" sz="2800" dirty="0" smtClean="0"/>
          </a:p>
          <a:p>
            <a:pPr lvl="0"/>
            <a:r>
              <a:rPr lang="en-US" sz="2800" dirty="0" smtClean="0"/>
              <a:t>K</a:t>
            </a:r>
            <a:r>
              <a:rPr lang="en-IN" sz="2800" dirty="0" smtClean="0"/>
              <a:t>NN</a:t>
            </a:r>
          </a:p>
          <a:p>
            <a:pPr lvl="0"/>
            <a:r>
              <a:rPr lang="en-US" sz="2800" smtClean="0"/>
              <a:t>BACK PROPOGATION</a:t>
            </a:r>
            <a:endParaRPr lang="en-US" sz="2800" dirty="0" smtClean="0"/>
          </a:p>
          <a:p>
            <a:pPr marL="0" lvl="0" indent="0">
              <a:buNone/>
            </a:pPr>
            <a:endParaRPr lang="en-IN" sz="2800" dirty="0" smtClean="0"/>
          </a:p>
          <a:p>
            <a:pPr marL="0" lvl="0" indent="0">
              <a:buNone/>
            </a:pPr>
            <a:r>
              <a:rPr lang="en-US" sz="2800" dirty="0" smtClean="0"/>
              <a:t> </a:t>
            </a:r>
            <a:endParaRPr lang="en-IN" sz="2800" dirty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21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114800" y="228600"/>
            <a:ext cx="1597152" cy="9906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KNN</a:t>
            </a:r>
            <a:endParaRPr lang="en-IN" sz="36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IN" sz="2400" dirty="0"/>
              <a:t>KNN can be used for both classification and regression predictive </a:t>
            </a:r>
            <a:r>
              <a:rPr lang="en-IN" sz="2400" dirty="0" smtClean="0"/>
              <a:t>problems</a:t>
            </a:r>
            <a:r>
              <a:rPr lang="en-IN" sz="2400" dirty="0"/>
              <a:t> </a:t>
            </a:r>
            <a:r>
              <a:rPr lang="en-IN" sz="2400" dirty="0" smtClean="0"/>
              <a:t>[1].</a:t>
            </a:r>
            <a:endParaRPr lang="en-IN" sz="2400" dirty="0" smtClean="0"/>
          </a:p>
          <a:p>
            <a:pPr algn="just"/>
            <a:r>
              <a:rPr lang="en-IN" sz="2400" dirty="0" smtClean="0"/>
              <a:t>It </a:t>
            </a:r>
            <a:r>
              <a:rPr lang="en-IN" sz="2400" dirty="0"/>
              <a:t>is very much sensitive for outlier and noise. </a:t>
            </a:r>
            <a:endParaRPr lang="en-IN" sz="2400" dirty="0" smtClean="0"/>
          </a:p>
          <a:p>
            <a:pPr algn="just"/>
            <a:r>
              <a:rPr lang="en-IN" sz="2400" dirty="0" smtClean="0"/>
              <a:t>It </a:t>
            </a:r>
            <a:r>
              <a:rPr lang="en-IN" sz="2400" dirty="0"/>
              <a:t>is applicable only for numerical data. </a:t>
            </a:r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22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" b="3966"/>
          <a:stretch/>
        </p:blipFill>
        <p:spPr bwMode="auto">
          <a:xfrm>
            <a:off x="2057400" y="3352800"/>
            <a:ext cx="4343400" cy="27432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0" y="228600"/>
            <a:ext cx="3810000" cy="9906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KNN </a:t>
            </a:r>
            <a:r>
              <a:rPr lang="en-US" sz="4000" b="1" dirty="0" smtClean="0"/>
              <a:t>Result</a:t>
            </a:r>
            <a:endParaRPr lang="th-TH" sz="4000" b="1" dirty="0" smtClean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23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86000" y="22955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5" name="Picture 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0"/>
          <a:stretch>
            <a:fillRect/>
          </a:stretch>
        </p:blipFill>
        <p:spPr bwMode="auto">
          <a:xfrm>
            <a:off x="1371600" y="2057400"/>
            <a:ext cx="5568327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678806" y="5181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Accuracy of classification of KNN when k=1,2,3,4,5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116356"/>
              </p:ext>
            </p:extLst>
          </p:nvPr>
        </p:nvGraphicFramePr>
        <p:xfrm>
          <a:off x="152401" y="5442013"/>
          <a:ext cx="8610599" cy="841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4951"/>
                <a:gridCol w="3242824"/>
                <a:gridCol w="3242824"/>
              </a:tblGrid>
              <a:tr h="4056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ACCURACY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</a:rPr>
                        <a:t>Training accuracy (%)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>
                          <a:effectLst/>
                        </a:rPr>
                        <a:t>Test accuracy (%)</a:t>
                      </a:r>
                      <a:endParaRPr lang="en-IN" sz="24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976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100%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87.32 %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6324600" cy="990600"/>
          </a:xfrm>
        </p:spPr>
        <p:txBody>
          <a:bodyPr>
            <a:normAutofit/>
          </a:bodyPr>
          <a:lstStyle/>
          <a:p>
            <a:r>
              <a:rPr lang="en-US" b="1" dirty="0" smtClean="0"/>
              <a:t>BACK PROPOGATION </a:t>
            </a:r>
            <a:endParaRPr lang="en-IN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12624"/>
            <a:ext cx="9144000" cy="4495800"/>
          </a:xfrm>
        </p:spPr>
        <p:txBody>
          <a:bodyPr>
            <a:noAutofit/>
          </a:bodyPr>
          <a:lstStyle/>
          <a:p>
            <a:pPr lvl="0"/>
            <a:r>
              <a:rPr lang="en-IN" sz="3200" b="1" dirty="0" smtClean="0"/>
              <a:t>Backpropagation</a:t>
            </a:r>
            <a:r>
              <a:rPr lang="en-IN" sz="3200" dirty="0" smtClean="0"/>
              <a:t>, short for "backward</a:t>
            </a:r>
            <a:r>
              <a:rPr lang="en-IN" sz="3200" dirty="0"/>
              <a:t> </a:t>
            </a:r>
            <a:r>
              <a:rPr lang="en-IN" sz="3200" b="1" dirty="0" smtClean="0"/>
              <a:t>propagation </a:t>
            </a:r>
            <a:r>
              <a:rPr lang="en-IN" sz="3200" dirty="0" smtClean="0"/>
              <a:t>of </a:t>
            </a:r>
            <a:r>
              <a:rPr lang="en-IN" sz="3200" dirty="0"/>
              <a:t>errors", is an algorithm for supervised learning of artificial neural networks using gradient </a:t>
            </a:r>
            <a:r>
              <a:rPr lang="en-IN" sz="3200" dirty="0" smtClean="0"/>
              <a:t>descent [2].</a:t>
            </a:r>
          </a:p>
          <a:p>
            <a:pPr lvl="0" algn="just"/>
            <a:r>
              <a:rPr lang="en-IN" sz="3200" dirty="0" smtClean="0"/>
              <a:t> </a:t>
            </a:r>
            <a:r>
              <a:rPr lang="en-IN" sz="3200" dirty="0"/>
              <a:t>Given an artificial neural network and an error function, the method calculates the gradient of the error function with respect to the neural network's weights.</a:t>
            </a:r>
            <a:endParaRPr lang="en-IN" sz="3200" dirty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24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6324600" cy="990600"/>
          </a:xfrm>
        </p:spPr>
        <p:txBody>
          <a:bodyPr>
            <a:normAutofit/>
          </a:bodyPr>
          <a:lstStyle/>
          <a:p>
            <a:r>
              <a:rPr lang="en-US" b="1" dirty="0" smtClean="0"/>
              <a:t>BACK PROPOGATION </a:t>
            </a:r>
            <a:endParaRPr lang="en-IN" dirty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25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7" name="Picture 6" descr="fig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76962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685800" y="4267200"/>
            <a:ext cx="7696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 this technique we train the system with 16 input neurons in the input layer and we get 4 neurons in the output layer. For adjusting the weights of the network, training is done by back-propagation algorithm.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56238982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228600"/>
            <a:ext cx="6096000" cy="9906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Back Propagation </a:t>
            </a:r>
            <a:r>
              <a:rPr lang="en-US" sz="4000" b="1" dirty="0"/>
              <a:t>Result</a:t>
            </a:r>
            <a:endParaRPr lang="th-TH" sz="4000" b="1" dirty="0" smtClean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26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76400"/>
            <a:ext cx="5486400" cy="35661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89845"/>
              </p:ext>
            </p:extLst>
          </p:nvPr>
        </p:nvGraphicFramePr>
        <p:xfrm>
          <a:off x="152401" y="5442013"/>
          <a:ext cx="8610599" cy="841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4951"/>
                <a:gridCol w="3242824"/>
                <a:gridCol w="3242824"/>
              </a:tblGrid>
              <a:tr h="4056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ACCURACY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</a:rPr>
                        <a:t>Training accuracy (%)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>
                          <a:effectLst/>
                        </a:rPr>
                        <a:t>Test accuracy (%)</a:t>
                      </a:r>
                      <a:endParaRPr lang="en-IN" sz="24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976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100%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94.01 %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2542250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0" y="228600"/>
            <a:ext cx="2740152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1" dirty="0" smtClean="0"/>
              <a:t>Result</a:t>
            </a:r>
            <a:endParaRPr lang="th-TH" sz="4000" b="1" dirty="0" smtClean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27</a:t>
            </a:fld>
            <a:endParaRPr lang="en-US" smtClean="0">
              <a:latin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048374"/>
              </p:ext>
            </p:extLst>
          </p:nvPr>
        </p:nvGraphicFramePr>
        <p:xfrm>
          <a:off x="937546" y="5059566"/>
          <a:ext cx="7010399" cy="9632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000"/>
                <a:gridCol w="2971800"/>
                <a:gridCol w="2420619"/>
                <a:gridCol w="93980"/>
              </a:tblGrid>
              <a:tr h="3643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smtClean="0">
                          <a:effectLst/>
                        </a:rPr>
                        <a:t>ACCURACY</a:t>
                      </a:r>
                      <a:endParaRPr lang="en-IN" sz="2000" dirty="0" smtClean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BACK</a:t>
                      </a:r>
                      <a:r>
                        <a:rPr lang="en-IN" baseline="0" dirty="0" smtClean="0"/>
                        <a:t> PROPAGATION</a:t>
                      </a:r>
                      <a:endParaRPr lang="en-IN" dirty="0"/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KNN</a:t>
                      </a:r>
                      <a:endParaRPr lang="en-IN" dirty="0"/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5988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2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smtClean="0">
                          <a:effectLst/>
                          <a:latin typeface="+mn-lt"/>
                        </a:rPr>
                        <a:t>94.01%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87.32%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44145"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 </a:t>
                      </a:r>
                      <a:endParaRPr lang="en-IN" sz="20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736" y="1600200"/>
            <a:ext cx="5964020" cy="323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249107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170590"/>
            <a:ext cx="8531352" cy="990600"/>
          </a:xfrm>
        </p:spPr>
        <p:txBody>
          <a:bodyPr/>
          <a:lstStyle/>
          <a:p>
            <a:pPr lvl="0"/>
            <a:r>
              <a:rPr lang="en-IN" sz="2400" b="1" dirty="0" smtClean="0"/>
              <a:t>Comparison of success rate by different algorithms using 10–fold cross validation</a:t>
            </a:r>
            <a:endParaRPr lang="en-IN" sz="2400" b="1" dirty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xfrm>
            <a:off x="6082048" y="6430962"/>
            <a:ext cx="2667000" cy="365125"/>
          </a:xfrm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28</a:t>
            </a:fld>
            <a:endParaRPr lang="en-US" smtClean="0">
              <a:latin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406841"/>
              </p:ext>
            </p:extLst>
          </p:nvPr>
        </p:nvGraphicFramePr>
        <p:xfrm>
          <a:off x="5638800" y="1992787"/>
          <a:ext cx="3428238" cy="16031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0525"/>
                <a:gridCol w="1357713"/>
              </a:tblGrid>
              <a:tr h="5956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Classifier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Rate of Success (%)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53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 smtClean="0">
                          <a:effectLst/>
                        </a:rPr>
                        <a:t>KNN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 smtClean="0">
                          <a:effectLst/>
                          <a:latin typeface="+mn-lt"/>
                        </a:rPr>
                        <a:t>87.32 %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58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 smtClean="0">
                          <a:effectLst/>
                          <a:latin typeface="+mn-lt"/>
                        </a:rPr>
                        <a:t>Back</a:t>
                      </a:r>
                      <a:r>
                        <a:rPr lang="en-IN" sz="1800" baseline="0" dirty="0" smtClean="0">
                          <a:effectLst/>
                          <a:latin typeface="+mn-lt"/>
                        </a:rPr>
                        <a:t> Propagation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 smtClean="0">
                          <a:effectLst/>
                        </a:rPr>
                        <a:t>94.01 %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3023" y="1580647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/>
              <a:t>After this, 10-fold cross validation was used to </a:t>
            </a:r>
            <a:r>
              <a:rPr lang="en-IN" dirty="0" smtClean="0"/>
              <a:t>check </a:t>
            </a:r>
            <a:r>
              <a:rPr lang="en-IN" dirty="0"/>
              <a:t>overall accuracy of the system.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010248"/>
            <a:ext cx="3580639" cy="2420714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953104"/>
              </p:ext>
            </p:extLst>
          </p:nvPr>
        </p:nvGraphicFramePr>
        <p:xfrm>
          <a:off x="152400" y="2026983"/>
          <a:ext cx="5219700" cy="476910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247900"/>
                <a:gridCol w="1676400"/>
                <a:gridCol w="1295400"/>
              </a:tblGrid>
              <a:tr h="556578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FACTORS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BACK PROPAGATION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KNN</a:t>
                      </a:r>
                      <a:endParaRPr lang="en-IN" dirty="0"/>
                    </a:p>
                  </a:txBody>
                  <a:tcPr/>
                </a:tc>
              </a:tr>
              <a:tr h="4340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/>
                        <a:t>Correlation coefficient 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/>
                        <a:t>0.9955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1.232</a:t>
                      </a:r>
                      <a:endParaRPr lang="en-IN" sz="1600" dirty="0"/>
                    </a:p>
                  </a:txBody>
                  <a:tcPr/>
                </a:tc>
              </a:tr>
              <a:tr h="403542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Mean absolute error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 smtClean="0"/>
                        <a:t>8.2394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9.4324</a:t>
                      </a:r>
                      <a:endParaRPr lang="en-IN" sz="1600" dirty="0"/>
                    </a:p>
                  </a:txBody>
                  <a:tcPr/>
                </a:tc>
              </a:tr>
              <a:tr h="54006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Root mean squared error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 smtClean="0"/>
                        <a:t>117.3938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132.3233</a:t>
                      </a:r>
                      <a:endParaRPr lang="en-IN" sz="1600" dirty="0"/>
                    </a:p>
                  </a:txBody>
                  <a:tcPr/>
                </a:tc>
              </a:tr>
              <a:tr h="54006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Relative absolute error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 smtClean="0"/>
                        <a:t>0.741 %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0.841%</a:t>
                      </a:r>
                      <a:endParaRPr lang="en-IN" sz="1600" dirty="0"/>
                    </a:p>
                  </a:txBody>
                  <a:tcPr/>
                </a:tc>
              </a:tr>
              <a:tr h="394716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Root relative squared error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 smtClean="0"/>
                        <a:t>9.4381 %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10.4322%</a:t>
                      </a:r>
                      <a:endParaRPr lang="en-IN" sz="1600" dirty="0"/>
                    </a:p>
                  </a:txBody>
                  <a:tcPr/>
                </a:tc>
              </a:tr>
              <a:tr h="427708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Total Number of Instances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/>
                        <a:t>204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/>
                        <a:t>204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170590"/>
            <a:ext cx="8531352" cy="990600"/>
          </a:xfrm>
        </p:spPr>
        <p:txBody>
          <a:bodyPr/>
          <a:lstStyle/>
          <a:p>
            <a:pPr lvl="0" algn="ctr"/>
            <a:r>
              <a:rPr lang="en-IN" sz="2400" b="1" dirty="0" smtClean="0"/>
              <a:t>Classifier </a:t>
            </a:r>
            <a:r>
              <a:rPr lang="en-IN" sz="2400" b="1" dirty="0" err="1" smtClean="0"/>
              <a:t>Fussion</a:t>
            </a:r>
            <a:endParaRPr lang="en-IN" sz="2400" b="1" dirty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xfrm>
            <a:off x="6082048" y="6430962"/>
            <a:ext cx="2667000" cy="365125"/>
          </a:xfrm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29</a:t>
            </a:fld>
            <a:endParaRPr lang="en-US" smtClean="0">
              <a:latin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392230"/>
              </p:ext>
            </p:extLst>
          </p:nvPr>
        </p:nvGraphicFramePr>
        <p:xfrm>
          <a:off x="990601" y="1992787"/>
          <a:ext cx="8076438" cy="18864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90999"/>
                <a:gridCol w="3885439"/>
              </a:tblGrid>
              <a:tr h="5956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 smtClean="0">
                          <a:effectLst/>
                        </a:rPr>
                        <a:t>Classifier </a:t>
                      </a:r>
                      <a:r>
                        <a:rPr lang="en-IN" sz="1800" dirty="0" err="1" smtClean="0">
                          <a:effectLst/>
                        </a:rPr>
                        <a:t>Fussion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Rate of Success (%)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833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>
                          <a:effectLst/>
                        </a:rPr>
                        <a:t>KNN              </a:t>
                      </a:r>
                      <a:r>
                        <a:rPr lang="en-IN" sz="1800" dirty="0" smtClean="0">
                          <a:effectLst/>
                          <a:latin typeface="+mn-lt"/>
                        </a:rPr>
                        <a:t>Back</a:t>
                      </a:r>
                      <a:r>
                        <a:rPr lang="en-IN" sz="1800" baseline="0" dirty="0" smtClean="0">
                          <a:effectLst/>
                          <a:latin typeface="+mn-lt"/>
                        </a:rPr>
                        <a:t> Propagation</a:t>
                      </a:r>
                      <a:endParaRPr lang="en-IN" sz="1800" dirty="0" smtClean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 smtClean="0">
                          <a:effectLst/>
                          <a:latin typeface="+mn-lt"/>
                        </a:rPr>
                        <a:t>93.82 %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58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 smtClean="0">
                          <a:effectLst/>
                          <a:latin typeface="+mn-lt"/>
                        </a:rPr>
                        <a:t>Back</a:t>
                      </a:r>
                      <a:r>
                        <a:rPr lang="en-IN" sz="1800" baseline="0" dirty="0" smtClean="0">
                          <a:effectLst/>
                          <a:latin typeface="+mn-lt"/>
                        </a:rPr>
                        <a:t> Propagation              </a:t>
                      </a:r>
                      <a:r>
                        <a:rPr lang="en-IN" sz="1800" dirty="0" smtClean="0">
                          <a:effectLst/>
                        </a:rPr>
                        <a:t>KNN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 smtClean="0">
                          <a:effectLst/>
                        </a:rPr>
                        <a:t>94.13 %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1676400" y="27432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819400" y="35052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5775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170590"/>
            <a:ext cx="8531352" cy="990600"/>
          </a:xfrm>
        </p:spPr>
        <p:txBody>
          <a:bodyPr/>
          <a:lstStyle/>
          <a:p>
            <a:pPr lvl="0" algn="ctr"/>
            <a:r>
              <a:rPr lang="en-IN" sz="2400" b="1" dirty="0" smtClean="0"/>
              <a:t>ROC CURVE</a:t>
            </a:r>
            <a:endParaRPr lang="en-IN" sz="2400" b="1" dirty="0"/>
          </a:p>
        </p:txBody>
      </p:sp>
      <p:sp>
        <p:nvSpPr>
          <p:cNvPr id="4101" name="Date Placeholder 4"/>
          <p:cNvSpPr>
            <a:spLocks noGrp="1"/>
          </p:cNvSpPr>
          <p:nvPr>
            <p:ph type="dt" sz="quarter" idx="10"/>
          </p:nvPr>
        </p:nvSpPr>
        <p:spPr>
          <a:xfrm>
            <a:off x="6082048" y="6430962"/>
            <a:ext cx="2667000" cy="365125"/>
          </a:xfrm>
          <a:noFill/>
        </p:spPr>
        <p:txBody>
          <a:bodyPr/>
          <a:lstStyle/>
          <a:p>
            <a:fld id="{053F8EAF-6FEB-488D-8ABD-8D961527C892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CFC53ABB-0BE3-46F4-A347-7D2E4A7E59BA}" type="slidenum">
              <a:rPr lang="en-US" smtClean="0">
                <a:latin typeface="Arial" pitchFamily="34" charset="0"/>
              </a:rPr>
              <a:pPr/>
              <a:t>30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828800"/>
            <a:ext cx="5769879" cy="432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122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Conclusion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B8384-26D2-44B7-B750-847CEE8EDC79}" type="datetime1">
              <a:rPr lang="en-US" smtClean="0"/>
              <a:pPr/>
              <a:t>10/13/2017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5029200"/>
          </a:xfrm>
        </p:spPr>
        <p:txBody>
          <a:bodyPr>
            <a:normAutofit/>
          </a:bodyPr>
          <a:lstStyle/>
          <a:p>
            <a:pPr algn="just"/>
            <a:r>
              <a:rPr lang="en-IN" sz="3200" dirty="0" smtClean="0"/>
              <a:t>The proposed system can be used for developing a gesture controlled hexadecimal keyboard making human-computer interaction easier, </a:t>
            </a:r>
            <a:r>
              <a:rPr lang="en-IN" sz="3200" dirty="0"/>
              <a:t>surveillance </a:t>
            </a:r>
            <a:r>
              <a:rPr lang="en-IN" sz="3200" dirty="0" smtClean="0"/>
              <a:t>scenarios for security purposes, </a:t>
            </a:r>
            <a:r>
              <a:rPr lang="en-IN" sz="3200" dirty="0" smtClean="0"/>
              <a:t>in detecting disease of sports perso</a:t>
            </a:r>
            <a:r>
              <a:rPr lang="en-IN" sz="3200" dirty="0"/>
              <a:t>n</a:t>
            </a:r>
            <a:r>
              <a:rPr lang="en-IN" sz="3200" dirty="0" smtClean="0"/>
              <a:t> </a:t>
            </a:r>
            <a:r>
              <a:rPr lang="en-IN" sz="3200" dirty="0"/>
              <a:t>and gait recognition system. </a:t>
            </a:r>
            <a:endParaRPr lang="en-IN" sz="3200" dirty="0" smtClean="0"/>
          </a:p>
          <a:p>
            <a:pPr algn="just"/>
            <a:r>
              <a:rPr lang="en-IN" sz="3200" dirty="0" smtClean="0"/>
              <a:t>Overall </a:t>
            </a:r>
            <a:r>
              <a:rPr lang="en-IN" sz="3200" dirty="0" smtClean="0"/>
              <a:t>accuracy was observed to be </a:t>
            </a:r>
            <a:r>
              <a:rPr lang="en-IN" sz="3200" dirty="0" smtClean="0"/>
              <a:t>94.01%, 87.32% </a:t>
            </a:r>
            <a:r>
              <a:rPr lang="en-IN" sz="3200" dirty="0" smtClean="0"/>
              <a:t>using the </a:t>
            </a:r>
            <a:r>
              <a:rPr lang="en-IN" sz="3200" dirty="0" smtClean="0"/>
              <a:t>KNN </a:t>
            </a:r>
            <a:r>
              <a:rPr lang="en-IN" sz="3200" dirty="0" smtClean="0"/>
              <a:t>and </a:t>
            </a:r>
            <a:r>
              <a:rPr lang="en-IN" sz="3200" dirty="0" smtClean="0"/>
              <a:t>Back Propagation. </a:t>
            </a:r>
            <a:endParaRPr lang="en-IN" sz="3200" dirty="0" smtClean="0"/>
          </a:p>
          <a:p>
            <a:pPr lvl="0">
              <a:buNone/>
            </a:pPr>
            <a:endParaRPr lang="en-US" b="1" i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References </a:t>
            </a:r>
            <a:endParaRPr lang="en-US" dirty="0" smtClean="0"/>
          </a:p>
        </p:txBody>
      </p:sp>
      <p:sp>
        <p:nvSpPr>
          <p:cNvPr id="38916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4747CB75-4723-4B89-9EB1-296DC2CF3B93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89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07127FB0-31A5-4EE0-8958-2D117937AE59}" type="slidenum">
              <a:rPr lang="en-US" smtClean="0">
                <a:latin typeface="Arial" pitchFamily="34" charset="0"/>
              </a:rPr>
              <a:pPr/>
              <a:t>32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2648" y="1981200"/>
            <a:ext cx="62600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[1]. </a:t>
            </a:r>
            <a:r>
              <a:rPr lang="en-IN" dirty="0" smtClean="0">
                <a:hlinkClick r:id="rId2"/>
              </a:rPr>
              <a:t>https</a:t>
            </a:r>
            <a:r>
              <a:rPr lang="en-IN" dirty="0">
                <a:hlinkClick r:id="rId2"/>
              </a:rPr>
              <a:t>://</a:t>
            </a:r>
            <a:r>
              <a:rPr lang="en-IN" dirty="0" smtClean="0">
                <a:hlinkClick r:id="rId2"/>
              </a:rPr>
              <a:t>en.wikipedia.org/wiki/Backpropagation</a:t>
            </a:r>
            <a:endParaRPr lang="en-IN" dirty="0" smtClean="0"/>
          </a:p>
          <a:p>
            <a:r>
              <a:rPr lang="en-IN" dirty="0"/>
              <a:t>[2]. </a:t>
            </a:r>
            <a:r>
              <a:rPr lang="en-IN" dirty="0">
                <a:hlinkClick r:id="rId3"/>
              </a:rPr>
              <a:t>https://</a:t>
            </a:r>
            <a:r>
              <a:rPr lang="en-IN" dirty="0" smtClean="0">
                <a:hlinkClick r:id="rId3"/>
              </a:rPr>
              <a:t>en.wikipedia.org/wiki/K-nearest_neighbors_algorithm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Questions?</a:t>
            </a:r>
          </a:p>
        </p:txBody>
      </p:sp>
      <p:sp>
        <p:nvSpPr>
          <p:cNvPr id="38916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4747CB75-4723-4B89-9EB1-296DC2CF3B93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89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07127FB0-31A5-4EE0-8958-2D117937AE59}" type="slidenum">
              <a:rPr lang="en-US" smtClean="0">
                <a:latin typeface="Arial" pitchFamily="34" charset="0"/>
              </a:rPr>
              <a:pPr/>
              <a:t>33</a:t>
            </a:fld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83379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</a:t>
            </a:r>
          </a:p>
        </p:txBody>
      </p:sp>
      <p:sp>
        <p:nvSpPr>
          <p:cNvPr id="3993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E7DB668-0CB4-461F-A1F8-383809641629}" type="datetime2">
              <a:rPr lang="en-US" smtClean="0">
                <a:latin typeface="Arial" pitchFamily="34" charset="0"/>
              </a:rPr>
              <a:pPr/>
              <a:t>Friday, October 13, 2017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fld id="{617ECBFD-2DD8-41CD-849B-EF98EB6A567C}" type="slidenum">
              <a:rPr lang="en-US" smtClean="0">
                <a:latin typeface="Arial" pitchFamily="34" charset="0"/>
              </a:rPr>
              <a:pPr/>
              <a:t>34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71800" y="3124200"/>
            <a:ext cx="4038600" cy="14478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Have a great day ahead</a:t>
            </a:r>
            <a:endParaRPr lang="en-IN" sz="36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16278</TotalTime>
  <Words>1026</Words>
  <Application>Microsoft Office PowerPoint</Application>
  <PresentationFormat>On-screen Show (4:3)</PresentationFormat>
  <Paragraphs>239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Bookman Old Style</vt:lpstr>
      <vt:lpstr>Calibri</vt:lpstr>
      <vt:lpstr>FreesiaUPC</vt:lpstr>
      <vt:lpstr>Helvetica</vt:lpstr>
      <vt:lpstr>Monotype Corsiva</vt:lpstr>
      <vt:lpstr>Times</vt:lpstr>
      <vt:lpstr>Times New Roman</vt:lpstr>
      <vt:lpstr>Tw Cen MT</vt:lpstr>
      <vt:lpstr>Wingdings</vt:lpstr>
      <vt:lpstr>Wingdings 2</vt:lpstr>
      <vt:lpstr>Median</vt:lpstr>
      <vt:lpstr>Identification of Gait Data Using Machine Learning Technique to Categories Human Locomotion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Methodology</vt:lpstr>
      <vt:lpstr>Data Collection</vt:lpstr>
      <vt:lpstr>Analysis of dataset</vt:lpstr>
      <vt:lpstr>Simulation of dataset in openSim</vt:lpstr>
      <vt:lpstr>Values of crouch2 dataset</vt:lpstr>
      <vt:lpstr>Values of crouch3 dataset</vt:lpstr>
      <vt:lpstr>Values of crouch4 dataset</vt:lpstr>
      <vt:lpstr>Values of normal dataset</vt:lpstr>
      <vt:lpstr>Feature Selection</vt:lpstr>
      <vt:lpstr>Classification</vt:lpstr>
      <vt:lpstr>CLASSIFICATION  </vt:lpstr>
      <vt:lpstr>CLASSIFICATION TECHNIQUES USED   </vt:lpstr>
      <vt:lpstr>KNN</vt:lpstr>
      <vt:lpstr>KNN Result</vt:lpstr>
      <vt:lpstr>BACK PROPOGATION </vt:lpstr>
      <vt:lpstr>BACK PROPOGATION </vt:lpstr>
      <vt:lpstr>Back Propagation Result</vt:lpstr>
      <vt:lpstr>Result</vt:lpstr>
      <vt:lpstr>Comparison of success rate by different algorithms using 10–fold cross validation</vt:lpstr>
      <vt:lpstr>Classifier Fussion</vt:lpstr>
      <vt:lpstr>ROC CURVE</vt:lpstr>
      <vt:lpstr>Conclusion</vt:lpstr>
      <vt:lpstr>References </vt:lpstr>
      <vt:lpstr>Questions?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Omni directional ankle strategy for Humanoid Push Recovery based on interpolation</dc:title>
  <dc:creator>shruti</dc:creator>
  <cp:lastModifiedBy>Anubha Parashar [MU - Jaipur]</cp:lastModifiedBy>
  <cp:revision>1412</cp:revision>
  <dcterms:created xsi:type="dcterms:W3CDTF">2006-08-16T00:00:00Z</dcterms:created>
  <dcterms:modified xsi:type="dcterms:W3CDTF">2017-10-13T11:57:03Z</dcterms:modified>
</cp:coreProperties>
</file>