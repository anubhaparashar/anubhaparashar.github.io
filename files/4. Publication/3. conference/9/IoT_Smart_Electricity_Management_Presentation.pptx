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monitoring</c:v>
                </c:pt>
              </c:strCache>
            </c:strRef>
          </c:tx>
          <c:spPr>
            <a:solidFill>
              <a:srgbClr val="F7A35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78</c:v>
                </c:pt>
                <c:pt idx="3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1E-43D8-8720-B14A3BE142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E‑monitoring</c:v>
                </c:pt>
              </c:strCache>
            </c:strRef>
          </c:tx>
          <c:spPr>
            <a:solidFill>
              <a:srgbClr val="00A5A8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Afternoon</c:v>
                </c:pt>
                <c:pt idx="2">
                  <c:v>Evening</c:v>
                </c:pt>
                <c:pt idx="3">
                  <c:v>Night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79</c:v>
                </c:pt>
                <c:pt idx="1">
                  <c:v>70.099999999999994</c:v>
                </c:pt>
                <c:pt idx="2">
                  <c:v>77.099999999999994</c:v>
                </c:pt>
                <c:pt idx="3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1E-43D8-8720-B14A3BE142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  <c:min val="60"/>
        </c:scaling>
        <c:delete val="0"/>
        <c:axPos val="l"/>
        <c:majorGridlines>
          <c:spPr>
            <a:ln w="12700" cap="flat">
              <a:solidFill>
                <a:srgbClr val="E6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43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777240"/>
            <a:ext cx="5806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 Based Cloud-Enabled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Electricity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System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58368" y="2852928"/>
            <a:ext cx="5303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94452"/>
                </a:solidFill>
              </a:rPr>
              <a:t>A presentation-ready overview of the project, methodology, hardware architecture, cloud visualization, and results.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3703320"/>
            <a:ext cx="3566160" cy="310896"/>
          </a:xfrm>
          <a:prstGeom prst="rect">
            <a:avLst/>
          </a:prstGeom>
          <a:solidFill>
            <a:srgbClr val="DFF7F5"/>
          </a:solidFill>
          <a:ln>
            <a:solidFill>
              <a:srgbClr val="DFF7F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3"/>
                </a:solidFill>
              </a:rPr>
              <a:t>Energy Metering • IoT • Cloud • ThingSpeak</a:t>
            </a:r>
            <a:endParaRPr lang="en-US" sz="1050" dirty="0"/>
          </a:p>
        </p:txBody>
      </p:sp>
      <p:pic>
        <p:nvPicPr>
          <p:cNvPr id="7" name="Image 1" descr="/mnt/data/iot_assets/prototype_full_photo.png"/>
          <p:cNvPicPr>
            <a:picLocks noChangeAspect="1"/>
          </p:cNvPicPr>
          <p:nvPr/>
        </p:nvPicPr>
        <p:blipFill>
          <a:blip r:embed="rId3"/>
          <a:srcRect t="17684" b="17684"/>
          <a:stretch/>
        </p:blipFill>
        <p:spPr>
          <a:xfrm>
            <a:off x="7223760" y="3429000"/>
            <a:ext cx="425196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223760" y="5989320"/>
            <a:ext cx="4251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 at SSIC-2019 • Springer proceedings context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58368" y="4279392"/>
            <a:ext cx="1463040" cy="0"/>
          </a:xfrm>
          <a:prstGeom prst="line">
            <a:avLst/>
          </a:prstGeom>
          <a:noFill/>
          <a:ln w="33020">
            <a:solidFill>
              <a:srgbClr val="00A5A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Problem: manual electricity monitoring is slow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Traditional meter reading creates delay, effort, and reduced transparency for users.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Why a smarter system is needed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029968"/>
            <a:ext cx="4572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011680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visits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53312" y="2322576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must physically check meters or wait for operator readings.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13232" y="2990088"/>
            <a:ext cx="4572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uncertainty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353312" y="3282696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visibility into what was consumed and how cost was calculated.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713232" y="3950208"/>
            <a:ext cx="4572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real-time awareness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353312" y="4242816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 patterns are not visible until after usage has already happened.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713232" y="4910328"/>
            <a:ext cx="4572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53312" y="4892040"/>
            <a:ext cx="2194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efficiency gap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53312" y="5202936"/>
            <a:ext cx="4526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detect waste, misuse, abnormal loads, or device-level consumption.</a:t>
            </a:r>
            <a:endParaRPr lang="en-US" sz="1220" dirty="0"/>
          </a:p>
        </p:txBody>
      </p:sp>
      <p:pic>
        <p:nvPicPr>
          <p:cNvPr id="18" name="Image 0" descr="/mnt/data/iot_assets/electric_me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51272"/>
            <a:ext cx="2011680" cy="1835217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9144000" y="2450592"/>
            <a:ext cx="1051560" cy="0"/>
          </a:xfrm>
          <a:prstGeom prst="line">
            <a:avLst/>
          </a:prstGeom>
          <a:noFill/>
          <a:ln w="38100">
            <a:solidFill>
              <a:srgbClr val="F7A35C"/>
            </a:solidFill>
            <a:prstDash val="solid"/>
            <a:headEnd type="none"/>
            <a:tailEnd type="triangle"/>
          </a:ln>
        </p:spPr>
      </p:sp>
      <p:pic>
        <p:nvPicPr>
          <p:cNvPr id="20" name="Image 1" descr="/mnt/data/iot_assets/prototype_full_photo.png"/>
          <p:cNvPicPr>
            <a:picLocks noChangeAspect="1"/>
          </p:cNvPicPr>
          <p:nvPr/>
        </p:nvPicPr>
        <p:blipFill>
          <a:blip r:embed="rId4"/>
          <a:srcRect l="11111" r="11111"/>
          <a:stretch/>
        </p:blipFill>
        <p:spPr>
          <a:xfrm>
            <a:off x="9646920" y="1417320"/>
            <a:ext cx="2011680" cy="21945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86600" y="4160520"/>
            <a:ext cx="4526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</a:rPr>
              <a:t>Move from meter reading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B1F33"/>
                </a:solidFill>
              </a:rPr>
              <a:t>to connected monitoring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995160" y="5029200"/>
            <a:ext cx="45720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394452"/>
                </a:solidFill>
              </a:rPr>
              <a:t>The project digitizes consumption capture and sends readings to the cloud for remote access and visualization.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02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concept: meter data becomes cloud insight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 connected measurement chain captures readings, processes them, and visualizes them online.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2660904"/>
            <a:ext cx="3657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0" y="2660904"/>
            <a:ext cx="3657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20840" y="2660904"/>
            <a:ext cx="3657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69680" y="2660904"/>
            <a:ext cx="3657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2331720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Electric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Meter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31720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Current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Sensor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331720"/>
            <a:ext cx="1600200" cy="658368"/>
          </a:xfrm>
          <a:prstGeom prst="rect">
            <a:avLst/>
          </a:prstGeom>
          <a:solidFill>
            <a:srgbClr val="DFF7F5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Arduino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2331720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Wi‑Fi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Module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0" y="2331720"/>
            <a:ext cx="1600200" cy="658368"/>
          </a:xfrm>
          <a:prstGeom prst="rect">
            <a:avLst/>
          </a:prstGeom>
          <a:solidFill>
            <a:srgbClr val="FFF2E7"/>
          </a:solidFill>
          <a:ln w="12700">
            <a:solidFill>
              <a:srgbClr val="D7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ThingSpeak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Cloud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LCD display gives local visibility while cloud graphs enable remote monitoring.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343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94452"/>
                </a:solidFill>
              </a:rPr>
              <a:t>Outputs: units consumed, IRMS, calculated cost, and usage trends.</a:t>
            </a:r>
            <a:endParaRPr lang="en-US" sz="1350" dirty="0"/>
          </a:p>
        </p:txBody>
      </p:sp>
      <p:pic>
        <p:nvPicPr>
          <p:cNvPr id="16" name="Image 0" descr="/mnt/data/iot_assets/lcd_result_close.png"/>
          <p:cNvPicPr>
            <a:picLocks noChangeAspect="1"/>
          </p:cNvPicPr>
          <p:nvPr/>
        </p:nvPicPr>
        <p:blipFill>
          <a:blip r:embed="rId3"/>
          <a:srcRect l="11705" r="11705"/>
          <a:stretch/>
        </p:blipFill>
        <p:spPr>
          <a:xfrm>
            <a:off x="6355080" y="3749040"/>
            <a:ext cx="2103120" cy="1508760"/>
          </a:xfrm>
          <a:prstGeom prst="rect">
            <a:avLst/>
          </a:prstGeom>
        </p:spPr>
      </p:pic>
      <p:pic>
        <p:nvPicPr>
          <p:cNvPr id="17" name="Image 1" descr="/mnt/data/iot_assets/irms_chart.png"/>
          <p:cNvPicPr>
            <a:picLocks noChangeAspect="1"/>
          </p:cNvPicPr>
          <p:nvPr/>
        </p:nvPicPr>
        <p:blipFill>
          <a:blip r:embed="rId4"/>
          <a:srcRect l="7143" r="7143"/>
          <a:stretch/>
        </p:blipFill>
        <p:spPr>
          <a:xfrm>
            <a:off x="8823960" y="3657600"/>
            <a:ext cx="2194560" cy="1600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03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Core components used for E-monitoring of energy meter readings.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pic>
        <p:nvPicPr>
          <p:cNvPr id="5" name="Image 0" descr="/mnt/data/iot_assets/architecture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56" y="1325880"/>
            <a:ext cx="5116664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5961888"/>
            <a:ext cx="4754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 from the project paper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6446520" y="1481328"/>
            <a:ext cx="4480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The controller collects meter pulses, calculates readings, displays them locally, and transmits data through Wi‑Fi to the cloud.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46520" y="2651760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360" dirty="0"/>
          </a:p>
        </p:txBody>
      </p:sp>
      <p:sp>
        <p:nvSpPr>
          <p:cNvPr id="9" name="Text 6"/>
          <p:cNvSpPr/>
          <p:nvPr/>
        </p:nvSpPr>
        <p:spPr>
          <a:xfrm>
            <a:off x="8092440" y="2633472"/>
            <a:ext cx="3246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Arduino Uno processes sensor readings and controls display/network flow.</a:t>
            </a:r>
            <a:endParaRPr lang="en-US" sz="1160" dirty="0"/>
          </a:p>
        </p:txBody>
      </p:sp>
      <p:sp>
        <p:nvSpPr>
          <p:cNvPr id="10" name="Text 7"/>
          <p:cNvSpPr/>
          <p:nvPr/>
        </p:nvSpPr>
        <p:spPr>
          <a:xfrm>
            <a:off x="6446520" y="3310128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Connectivity</a:t>
            </a:r>
            <a:endParaRPr lang="en-US" sz="1360" dirty="0"/>
          </a:p>
        </p:txBody>
      </p:sp>
      <p:sp>
        <p:nvSpPr>
          <p:cNvPr id="11" name="Text 8"/>
          <p:cNvSpPr/>
          <p:nvPr/>
        </p:nvSpPr>
        <p:spPr>
          <a:xfrm>
            <a:off x="8092440" y="3291840"/>
            <a:ext cx="3246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ESP8266 Wi‑Fi module enables IoT communication with the cloud.</a:t>
            </a:r>
            <a:endParaRPr lang="en-US" sz="1160" dirty="0"/>
          </a:p>
        </p:txBody>
      </p:sp>
      <p:sp>
        <p:nvSpPr>
          <p:cNvPr id="12" name="Text 9"/>
          <p:cNvSpPr/>
          <p:nvPr/>
        </p:nvSpPr>
        <p:spPr>
          <a:xfrm>
            <a:off x="6446520" y="3968496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layer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8092440" y="3950208"/>
            <a:ext cx="3246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ThingSpeak stores and visualizes readings as live charts.</a:t>
            </a:r>
            <a:endParaRPr lang="en-US" sz="1160" dirty="0"/>
          </a:p>
        </p:txBody>
      </p:sp>
      <p:sp>
        <p:nvSpPr>
          <p:cNvPr id="14" name="Text 11"/>
          <p:cNvSpPr/>
          <p:nvPr/>
        </p:nvSpPr>
        <p:spPr>
          <a:xfrm>
            <a:off x="6446520" y="4626864"/>
            <a:ext cx="15087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00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output</a:t>
            </a:r>
            <a:endParaRPr lang="en-US" sz="1360" dirty="0"/>
          </a:p>
        </p:txBody>
      </p:sp>
      <p:sp>
        <p:nvSpPr>
          <p:cNvPr id="15" name="Text 12"/>
          <p:cNvSpPr/>
          <p:nvPr/>
        </p:nvSpPr>
        <p:spPr>
          <a:xfrm>
            <a:off x="8092440" y="4608576"/>
            <a:ext cx="3246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LCD shows units and cost for immediate user feedback.</a:t>
            </a:r>
            <a:endParaRPr lang="en-US" sz="1160" dirty="0"/>
          </a:p>
        </p:txBody>
      </p:sp>
      <p:pic>
        <p:nvPicPr>
          <p:cNvPr id="16" name="Image 1" descr="/mnt/data/iot_assets/arduino_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515" y="5074920"/>
            <a:ext cx="677570" cy="713232"/>
          </a:xfrm>
          <a:prstGeom prst="rect">
            <a:avLst/>
          </a:prstGeom>
        </p:spPr>
      </p:pic>
      <p:pic>
        <p:nvPicPr>
          <p:cNvPr id="17" name="Image 2" descr="/mnt/data/iot_assets/wifi_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661" y="5074920"/>
            <a:ext cx="967958" cy="713232"/>
          </a:xfrm>
          <a:prstGeom prst="rect">
            <a:avLst/>
          </a:prstGeom>
        </p:spPr>
      </p:pic>
      <p:pic>
        <p:nvPicPr>
          <p:cNvPr id="18" name="Image 3" descr="/mnt/data/iot_assets/lcd_dis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5080064"/>
            <a:ext cx="1097280" cy="70294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04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and software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The implementation combines metering hardware, embedded control, connectivity, and cloud analytics.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pic>
        <p:nvPicPr>
          <p:cNvPr id="5" name="Image 0" descr="/mnt/data/iot_assets/prototype_full_photo.png"/>
          <p:cNvPicPr>
            <a:picLocks noChangeAspect="1"/>
          </p:cNvPicPr>
          <p:nvPr/>
        </p:nvPicPr>
        <p:blipFill>
          <a:blip r:embed="rId3"/>
          <a:srcRect t="8082" b="8082"/>
          <a:stretch/>
        </p:blipFill>
        <p:spPr>
          <a:xfrm>
            <a:off x="731520" y="1417320"/>
            <a:ext cx="443484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736592"/>
            <a:ext cx="4297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board with meter, Arduino, LCD, load, and wiring</a:t>
            </a:r>
            <a:endParaRPr lang="en-US" sz="920" dirty="0"/>
          </a:p>
        </p:txBody>
      </p:sp>
      <p:sp>
        <p:nvSpPr>
          <p:cNvPr id="7" name="Text 4"/>
          <p:cNvSpPr/>
          <p:nvPr/>
        </p:nvSpPr>
        <p:spPr>
          <a:xfrm>
            <a:off x="589788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Hardware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897880" y="1920240"/>
            <a:ext cx="242316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394452"/>
                </a:solidFill>
              </a:rPr>
              <a:t>Arduino Uno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ESP8266 Wi‑Fi module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LCD panel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Electric meter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Transformer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Bulb/load, jumper wires, breadboard, resistors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854964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Software / platform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49640" y="1920240"/>
            <a:ext cx="26060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40" dirty="0">
                <a:solidFill>
                  <a:srgbClr val="394452"/>
                </a:solidFill>
              </a:rPr>
              <a:t>Arduino IDE for programming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ThingSpeak API for visualization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ThingSpeak cloud services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Linux/Ubuntu test environment</a:t>
            </a:r>
            <a:endParaRPr lang="en-US" sz="1340" dirty="0"/>
          </a:p>
          <a:p>
            <a:r>
              <a:rPr lang="en-US" sz="1340" dirty="0">
                <a:solidFill>
                  <a:srgbClr val="394452"/>
                </a:solidFill>
              </a:rPr>
              <a:t>Wi‑Fi local network</a:t>
            </a:r>
            <a:endParaRPr lang="en-US" sz="1340" dirty="0"/>
          </a:p>
        </p:txBody>
      </p:sp>
      <p:pic>
        <p:nvPicPr>
          <p:cNvPr id="11" name="Image 1" descr="/mnt/data/iot_assets/electric_me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998896"/>
            <a:ext cx="1005840" cy="917608"/>
          </a:xfrm>
          <a:prstGeom prst="rect">
            <a:avLst/>
          </a:prstGeom>
        </p:spPr>
      </p:pic>
      <p:pic>
        <p:nvPicPr>
          <p:cNvPr id="12" name="Image 2" descr="/mnt/data/iot_assets/transform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3459" y="3977640"/>
            <a:ext cx="903642" cy="960120"/>
          </a:xfrm>
          <a:prstGeom prst="rect">
            <a:avLst/>
          </a:prstGeom>
        </p:spPr>
      </p:pic>
      <p:pic>
        <p:nvPicPr>
          <p:cNvPr id="13" name="Image 3" descr="/mnt/data/iot_assets/wifi_modu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4053439"/>
            <a:ext cx="1097280" cy="808522"/>
          </a:xfrm>
          <a:prstGeom prst="rect">
            <a:avLst/>
          </a:prstGeom>
        </p:spPr>
      </p:pic>
      <p:pic>
        <p:nvPicPr>
          <p:cNvPr id="14" name="Image 4" descr="/mnt/data/iot_assets/lcd_disp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7000" y="4091583"/>
            <a:ext cx="1143000" cy="7322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05</a:t>
            </a:r>
            <a:endParaRPr lang="en-US" sz="800" dirty="0"/>
          </a:p>
        </p:txBody>
      </p:sp>
      <p:sp>
        <p:nvSpPr>
          <p:cNvPr id="17" name="Shape 10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From circuit assembly to cloud visualization and system testing.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103120"/>
            <a:ext cx="411480" cy="0"/>
          </a:xfrm>
          <a:prstGeom prst="line">
            <a:avLst/>
          </a:prstGeom>
          <a:noFill/>
          <a:ln w="2032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5A8"/>
                </a:solidFill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6002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3"/>
                </a:solidFill>
              </a:rPr>
              <a:t>Understand Arduino and meter operation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498848" y="2103120"/>
            <a:ext cx="411480" cy="0"/>
          </a:xfrm>
          <a:prstGeom prst="line">
            <a:avLst/>
          </a:prstGeom>
          <a:noFill/>
          <a:ln w="2032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898648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5A8"/>
                </a:solidFill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52928" y="2057400"/>
            <a:ext cx="16002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3"/>
                </a:solidFill>
              </a:rPr>
              <a:t>Collect components and connect circuit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711696" y="2103120"/>
            <a:ext cx="411480" cy="0"/>
          </a:xfrm>
          <a:prstGeom prst="line">
            <a:avLst/>
          </a:prstGeom>
          <a:noFill/>
          <a:ln w="2032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111496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5A8"/>
                </a:solidFill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65776" y="2057400"/>
            <a:ext cx="16002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3"/>
                </a:solidFill>
              </a:rPr>
              <a:t>Program Arduino and integrate Wi‑Fi module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924544" y="2103120"/>
            <a:ext cx="411480" cy="0"/>
          </a:xfrm>
          <a:prstGeom prst="line">
            <a:avLst/>
          </a:prstGeom>
          <a:noFill/>
          <a:ln w="20320">
            <a:solidFill>
              <a:srgbClr val="00A5A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24344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5A8"/>
                </a:solidFill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78624" y="2057400"/>
            <a:ext cx="16002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3"/>
                </a:solidFill>
              </a:rPr>
              <a:t>Send readings to ThingSpeak cloud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9537192" y="16002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A5A8"/>
                </a:solidFill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91472" y="2057400"/>
            <a:ext cx="160020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B1F33"/>
                </a:solidFill>
              </a:rPr>
              <a:t>Visualize, test, and validate readings</a:t>
            </a:r>
            <a:endParaRPr lang="en-US" sz="1180" dirty="0"/>
          </a:p>
        </p:txBody>
      </p:sp>
      <p:pic>
        <p:nvPicPr>
          <p:cNvPr id="19" name="Image 0" descr="/mnt/data/iot_assets/prototype_result_off.png"/>
          <p:cNvPicPr>
            <a:picLocks noChangeAspect="1"/>
          </p:cNvPicPr>
          <p:nvPr/>
        </p:nvPicPr>
        <p:blipFill>
          <a:blip r:embed="rId3"/>
          <a:srcRect t="3423" b="3423"/>
          <a:stretch/>
        </p:blipFill>
        <p:spPr>
          <a:xfrm>
            <a:off x="777240" y="3794760"/>
            <a:ext cx="3108960" cy="1920240"/>
          </a:xfrm>
          <a:prstGeom prst="rect">
            <a:avLst/>
          </a:prstGeom>
        </p:spPr>
      </p:pic>
      <p:pic>
        <p:nvPicPr>
          <p:cNvPr id="20" name="Image 1" descr="/mnt/data/iot_assets/prototype_result_on.png"/>
          <p:cNvPicPr>
            <a:picLocks noChangeAspect="1"/>
          </p:cNvPicPr>
          <p:nvPr/>
        </p:nvPicPr>
        <p:blipFill>
          <a:blip r:embed="rId4"/>
          <a:srcRect l="2484" r="2484"/>
          <a:stretch/>
        </p:blipFill>
        <p:spPr>
          <a:xfrm>
            <a:off x="4434840" y="3794760"/>
            <a:ext cx="3108960" cy="1920240"/>
          </a:xfrm>
          <a:prstGeom prst="rect">
            <a:avLst/>
          </a:prstGeom>
        </p:spPr>
      </p:pic>
      <p:pic>
        <p:nvPicPr>
          <p:cNvPr id="21" name="Image 2" descr="/mnt/data/iot_assets/units_chart.png"/>
          <p:cNvPicPr>
            <a:picLocks noChangeAspect="1"/>
          </p:cNvPicPr>
          <p:nvPr/>
        </p:nvPicPr>
        <p:blipFill>
          <a:blip r:embed="rId5"/>
          <a:srcRect t="6167" b="6167"/>
          <a:stretch/>
        </p:blipFill>
        <p:spPr>
          <a:xfrm>
            <a:off x="8092440" y="3794760"/>
            <a:ext cx="3108960" cy="19202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4400" y="5870448"/>
            <a:ext cx="10058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→ Wi‑Fi connected load → cloud reading visualization</a:t>
            </a:r>
            <a:endParaRPr lang="en-US" sz="1020" dirty="0"/>
          </a:p>
        </p:txBody>
      </p:sp>
      <p:sp>
        <p:nvSpPr>
          <p:cNvPr id="23" name="Text 18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06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Results: lower consumption and cloud visibility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The project reported successful unit calculation, Wi‑Fi transmission, and ThingSpeak analysis.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85800" y="150876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960120" y="49560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</a:rPr>
              <a:t>Reported comparison from project Table 1</a:t>
            </a:r>
            <a:endParaRPr lang="en-US" sz="950" dirty="0"/>
          </a:p>
        </p:txBody>
      </p:sp>
      <p:pic>
        <p:nvPicPr>
          <p:cNvPr id="7" name="Image 0" descr="/mnt/data/iot_assets/irms_chart.png"/>
          <p:cNvPicPr>
            <a:picLocks noChangeAspect="1"/>
          </p:cNvPicPr>
          <p:nvPr/>
        </p:nvPicPr>
        <p:blipFill>
          <a:blip r:embed="rId4"/>
          <a:srcRect l="5645" r="5645"/>
          <a:stretch/>
        </p:blipFill>
        <p:spPr>
          <a:xfrm>
            <a:off x="6629400" y="1417320"/>
            <a:ext cx="2011680" cy="1417320"/>
          </a:xfrm>
          <a:prstGeom prst="rect">
            <a:avLst/>
          </a:prstGeom>
        </p:spPr>
      </p:pic>
      <p:pic>
        <p:nvPicPr>
          <p:cNvPr id="8" name="Image 1" descr="/mnt/data/iot_assets/units_char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89720" y="1417320"/>
            <a:ext cx="2011680" cy="1417320"/>
          </a:xfrm>
          <a:prstGeom prst="rect">
            <a:avLst/>
          </a:prstGeom>
        </p:spPr>
      </p:pic>
      <p:pic>
        <p:nvPicPr>
          <p:cNvPr id="9" name="Image 2" descr="/mnt/data/iot_assets/lcd_result_close.png"/>
          <p:cNvPicPr>
            <a:picLocks noChangeAspect="1"/>
          </p:cNvPicPr>
          <p:nvPr/>
        </p:nvPicPr>
        <p:blipFill>
          <a:blip r:embed="rId6"/>
          <a:srcRect l="206" r="206"/>
          <a:stretch/>
        </p:blipFill>
        <p:spPr>
          <a:xfrm>
            <a:off x="7543800" y="3703320"/>
            <a:ext cx="2651760" cy="1463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20840" y="5349240"/>
            <a:ext cx="4389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3"/>
                </a:solidFill>
              </a:rPr>
              <a:t>Cloud dashboard captures IRMS and units while LCD provides on-device feedback.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12" name="Text 6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07</a:t>
            </a:r>
            <a:endParaRPr lang="en-US" sz="800" dirty="0"/>
          </a:p>
        </p:txBody>
      </p:sp>
      <p:sp>
        <p:nvSpPr>
          <p:cNvPr id="13" name="Shape 7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presentation certificate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778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 smart meter prototype that improves access, accountability, and reliability.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30352" y="1170432"/>
            <a:ext cx="1280160" cy="0"/>
          </a:xfrm>
          <a:prstGeom prst="line">
            <a:avLst/>
          </a:prstGeom>
          <a:noFill/>
          <a:ln w="27940">
            <a:solidFill>
              <a:srgbClr val="00A5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Key takeaways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8096" y="2066544"/>
            <a:ext cx="292608" cy="0"/>
          </a:xfrm>
          <a:prstGeom prst="line">
            <a:avLst/>
          </a:prstGeom>
          <a:noFill/>
          <a:ln w="25400">
            <a:solidFill>
              <a:srgbClr val="00A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Remote access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1143000" y="2249424"/>
            <a:ext cx="3931920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can monitor readings through cloud visualization.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768096" y="2871216"/>
            <a:ext cx="292608" cy="0"/>
          </a:xfrm>
          <a:prstGeom prst="line">
            <a:avLst/>
          </a:prstGeom>
          <a:noFill/>
          <a:ln w="25400">
            <a:solidFill>
              <a:srgbClr val="00A5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743200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transparency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1143000" y="3054096"/>
            <a:ext cx="3931920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and cost are visible instead of hidden in delayed billing.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68096" y="3675888"/>
            <a:ext cx="292608" cy="0"/>
          </a:xfrm>
          <a:prstGeom prst="line">
            <a:avLst/>
          </a:prstGeom>
          <a:noFill/>
          <a:ln w="25400">
            <a:solidFill>
              <a:srgbClr val="00A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monitoring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1143000" y="3858768"/>
            <a:ext cx="3931920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reduces manual effort and improves responsiveness.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768096" y="4480560"/>
            <a:ext cx="292608" cy="0"/>
          </a:xfrm>
          <a:prstGeom prst="line">
            <a:avLst/>
          </a:prstGeom>
          <a:noFill/>
          <a:ln w="25400">
            <a:solidFill>
              <a:srgbClr val="00A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352544"/>
            <a:ext cx="1828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Extendable design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3931920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394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Applicable to homes, industries, and maintenance monitoring.</a:t>
            </a:r>
            <a:endParaRPr lang="en-US" sz="118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 Smart Electricity Management System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92840" y="641908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7280"/>
                </a:solidFill>
              </a:rPr>
              <a:t>08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02920" y="6345936"/>
            <a:ext cx="11201400" cy="0"/>
          </a:xfrm>
          <a:prstGeom prst="line">
            <a:avLst/>
          </a:prstGeom>
          <a:noFill/>
          <a:ln w="7620">
            <a:solidFill>
              <a:srgbClr val="D7DEE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</Words>
  <Application>Microsoft Office PowerPoint</Application>
  <PresentationFormat>Widescreen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Based Cloud-Enabled Smart Electricity Management System</dc:title>
  <dc:subject>IoT Based Cloud Enabled Smart Electricity Management System</dc:subject>
  <dc:creator>OpenAI</dc:creator>
  <cp:lastModifiedBy>Anubha</cp:lastModifiedBy>
  <cp:revision>2</cp:revision>
  <dcterms:created xsi:type="dcterms:W3CDTF">2026-05-14T15:17:50Z</dcterms:created>
  <dcterms:modified xsi:type="dcterms:W3CDTF">2026-05-14T16:58:36Z</dcterms:modified>
</cp:coreProperties>
</file>