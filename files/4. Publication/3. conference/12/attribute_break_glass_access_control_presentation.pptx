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77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8">
              <a:alpha val="80000"/>
            </a:srgbClr>
          </a:solidFill>
          <a:ln w="12700">
            <a:solidFill>
              <a:srgbClr val="0B17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B1728">
              <a:alpha val="93000"/>
            </a:srgbClr>
          </a:solidFill>
          <a:ln w="12700">
            <a:solidFill>
              <a:srgbClr val="0B1728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658368"/>
            <a:ext cx="3703320" cy="310896"/>
          </a:xfrm>
          <a:prstGeom prst="roundRect">
            <a:avLst>
              <a:gd name="adj" fmla="val 17647"/>
            </a:avLst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731520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1728"/>
                </a:solidFill>
              </a:rPr>
              <a:t>ICICV 2020 • Springer • Manipal University Jaipur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85800" y="1417320"/>
            <a:ext cx="4343400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Attribute-Based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Break-Glass Access Control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713232" y="31821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5DFB6"/>
                </a:solidFill>
              </a:rPr>
              <a:t>Framework for Medical Emergencies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13232" y="3767328"/>
            <a:ext cx="20116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16052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8F4EC"/>
                </a:solidFill>
              </a:rPr>
              <a:t>Paper presented by Anubha Parashar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4EC"/>
                </a:solidFill>
              </a:rPr>
              <a:t>School of Computing &amp; Information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 w="12700">
            <a:solidFill>
              <a:srgbClr val="F8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work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65D"/>
                </a:solidFill>
              </a:rPr>
              <a:t>ICICV 2020 • Attribute-Based Break-Glass Access Control •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0223D"/>
                </a:solidFill>
              </a:rPr>
              <a:t>IoT healthcare needs fast access and strong protection at the same time.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719072"/>
            <a:ext cx="5074920" cy="1298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r>
              <a:rPr lang="en-US" sz="1530" dirty="0">
                <a:solidFill>
                  <a:srgbClr val="0B1728"/>
                </a:solidFill>
              </a:rPr>
              <a:t>Wearable sensors and medical devices collect patient data continuously.</a:t>
            </a:r>
            <a:endParaRPr lang="en-US" sz="1530" dirty="0"/>
          </a:p>
          <a:p>
            <a:r>
              <a:rPr lang="en-US" sz="1530" dirty="0">
                <a:solidFill>
                  <a:srgbClr val="0B1728"/>
                </a:solidFill>
              </a:rPr>
              <a:t>Cloud infrastructure enables doctors to review EHR data and support remote care.</a:t>
            </a:r>
            <a:endParaRPr lang="en-US" sz="1530" dirty="0"/>
          </a:p>
          <a:p>
            <a:r>
              <a:rPr lang="en-US" sz="1530" dirty="0">
                <a:solidFill>
                  <a:srgbClr val="0B1728"/>
                </a:solidFill>
              </a:rPr>
              <a:t>Security failures in healthcare can expose sensitive data or delay treatment.</a:t>
            </a:r>
            <a:endParaRPr lang="en-US" sz="1530" dirty="0"/>
          </a:p>
        </p:txBody>
      </p:sp>
      <p:sp>
        <p:nvSpPr>
          <p:cNvPr id="8" name="Shape 6"/>
          <p:cNvSpPr/>
          <p:nvPr/>
        </p:nvSpPr>
        <p:spPr>
          <a:xfrm>
            <a:off x="6446520" y="2788920"/>
            <a:ext cx="1188720" cy="0"/>
          </a:xfrm>
          <a:prstGeom prst="line">
            <a:avLst/>
          </a:prstGeom>
          <a:noFill/>
          <a:ln w="26670">
            <a:solidFill>
              <a:srgbClr val="D8C9A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0" y="2788920"/>
            <a:ext cx="1188720" cy="0"/>
          </a:xfrm>
          <a:prstGeom prst="line">
            <a:avLst/>
          </a:prstGeom>
          <a:noFill/>
          <a:ln w="26670">
            <a:solidFill>
              <a:srgbClr val="D8C9A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985248" y="2788920"/>
            <a:ext cx="1124712" cy="0"/>
          </a:xfrm>
          <a:prstGeom prst="line">
            <a:avLst/>
          </a:prstGeom>
          <a:noFill/>
          <a:ln w="26670">
            <a:solidFill>
              <a:srgbClr val="D8C9A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06440" y="2148840"/>
            <a:ext cx="1234440" cy="1234440"/>
          </a:xfrm>
          <a:prstGeom prst="ellipse">
            <a:avLst/>
          </a:prstGeom>
          <a:solidFill>
            <a:srgbClr val="F7D9D4"/>
          </a:solidFill>
          <a:ln w="12700">
            <a:solidFill>
              <a:srgbClr val="F7D9D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420417"/>
            <a:ext cx="12344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28"/>
                </a:solidFill>
              </a:rPr>
              <a:t>Patient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2148840"/>
            <a:ext cx="1234440" cy="1234440"/>
          </a:xfrm>
          <a:prstGeom prst="ellipse">
            <a:avLst/>
          </a:prstGeom>
          <a:solidFill>
            <a:srgbClr val="CFE8E7"/>
          </a:solidFill>
          <a:ln w="12700">
            <a:solidFill>
              <a:srgbClr val="CFE8E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2420417"/>
            <a:ext cx="12344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28"/>
                </a:solidFill>
              </a:rPr>
              <a:t>Sensor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6840" y="2148840"/>
            <a:ext cx="1234440" cy="1234440"/>
          </a:xfrm>
          <a:prstGeom prst="ellipse">
            <a:avLst/>
          </a:prstGeom>
          <a:solidFill>
            <a:srgbClr val="DCE5F3"/>
          </a:solidFill>
          <a:ln w="12700">
            <a:solidFill>
              <a:srgbClr val="DCE5F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06840" y="2420417"/>
            <a:ext cx="12344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28"/>
                </a:solidFill>
              </a:rPr>
              <a:t>Cloud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588752" y="2148840"/>
            <a:ext cx="1234440" cy="1234440"/>
          </a:xfrm>
          <a:prstGeom prst="ellipse">
            <a:avLst/>
          </a:prstGeom>
          <a:solidFill>
            <a:srgbClr val="F7E4B9"/>
          </a:solidFill>
          <a:ln w="12700">
            <a:solidFill>
              <a:srgbClr val="F7E4B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88752" y="2420417"/>
            <a:ext cx="1234440" cy="5184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728"/>
                </a:solidFill>
              </a:rPr>
              <a:t>Doctor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23D"/>
                </a:solidFill>
              </a:rPr>
              <a:t>Connected care pipeline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83680" y="4224528"/>
            <a:ext cx="4315968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0D7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441655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403F"/>
                </a:solidFill>
              </a:rPr>
              <a:t>Core tension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475488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B1728"/>
                </a:solidFill>
              </a:rPr>
              <a:t>Routine access requires strict authentication; emergency care requires immediate access.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emergency access challenge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65D"/>
                </a:solidFill>
              </a:rPr>
              <a:t>ICICV 2020 • Attribute-Based Break-Glass Access Control • 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0223D"/>
                </a:solidFill>
              </a:rPr>
              <a:t>Normal security policies are essential — but in emergencies, they can become a bottleneck.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4892040" cy="333756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15240">
            <a:solidFill>
              <a:srgbClr val="E5D8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23D"/>
                </a:solidFill>
              </a:rPr>
              <a:t>Normal access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17320" y="3794760"/>
            <a:ext cx="1051560" cy="0"/>
          </a:xfrm>
          <a:prstGeom prst="line">
            <a:avLst/>
          </a:prstGeom>
          <a:noFill/>
          <a:ln w="26670">
            <a:solidFill>
              <a:srgbClr val="36465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54680" y="3794760"/>
            <a:ext cx="1051560" cy="0"/>
          </a:xfrm>
          <a:prstGeom prst="line">
            <a:avLst/>
          </a:prstGeom>
          <a:noFill/>
          <a:ln w="26670">
            <a:solidFill>
              <a:srgbClr val="36465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05840" y="3246120"/>
            <a:ext cx="822960" cy="822960"/>
          </a:xfrm>
          <a:prstGeom prst="ellipse">
            <a:avLst/>
          </a:prstGeom>
          <a:solidFill>
            <a:srgbClr val="CFE8E7"/>
          </a:solidFill>
          <a:ln w="12700">
            <a:solidFill>
              <a:srgbClr val="CFE8E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27171"/>
            <a:ext cx="822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728"/>
                </a:solidFill>
              </a:rPr>
              <a:t>User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3246120"/>
            <a:ext cx="822960" cy="822960"/>
          </a:xfrm>
          <a:prstGeom prst="ellipse">
            <a:avLst/>
          </a:prstGeom>
          <a:solidFill>
            <a:srgbClr val="EAECEF"/>
          </a:solidFill>
          <a:ln w="12700">
            <a:solidFill>
              <a:srgbClr val="EAECE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3427171"/>
            <a:ext cx="822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728"/>
                </a:solidFill>
              </a:rPr>
              <a:t>Policy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0" y="3246120"/>
            <a:ext cx="822960" cy="822960"/>
          </a:xfrm>
          <a:prstGeom prst="ellipse">
            <a:avLst/>
          </a:prstGeom>
          <a:solidFill>
            <a:srgbClr val="F7E4B9"/>
          </a:solidFill>
          <a:ln w="12700">
            <a:solidFill>
              <a:srgbClr val="F7E4B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427171"/>
            <a:ext cx="822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728"/>
                </a:solidFill>
              </a:rPr>
              <a:t>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526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36465D"/>
                </a:solidFill>
              </a:rPr>
              <a:t>Attribute-based checks enforce who can decrypt and access sensitive data.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92240" y="1828800"/>
            <a:ext cx="4892040" cy="3337560"/>
          </a:xfrm>
          <a:prstGeom prst="roundRect">
            <a:avLst>
              <a:gd name="adj" fmla="val 4110"/>
            </a:avLst>
          </a:prstGeom>
          <a:solidFill>
            <a:srgbClr val="10223D"/>
          </a:solidFill>
          <a:ln w="12700">
            <a:solidFill>
              <a:srgbClr val="10223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2084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Emergency break-glass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0" y="3794760"/>
            <a:ext cx="1005840" cy="0"/>
          </a:xfrm>
          <a:prstGeom prst="line">
            <a:avLst/>
          </a:prstGeom>
          <a:noFill/>
          <a:ln w="2667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851392" y="3794760"/>
            <a:ext cx="978408" cy="0"/>
          </a:xfrm>
          <a:prstGeom prst="line">
            <a:avLst/>
          </a:prstGeom>
          <a:noFill/>
          <a:ln w="2667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20840" y="3246120"/>
            <a:ext cx="822960" cy="82296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427171"/>
            <a:ext cx="822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28"/>
                </a:solidFill>
              </a:rPr>
              <a:t>ESH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19872" y="3246120"/>
            <a:ext cx="822960" cy="822960"/>
          </a:xfrm>
          <a:prstGeom prst="ellipse">
            <a:avLst/>
          </a:prstGeom>
          <a:solidFill>
            <a:srgbClr val="F1C1C1"/>
          </a:solidFill>
          <a:ln w="12700">
            <a:solidFill>
              <a:srgbClr val="F1C1C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9872" y="3427171"/>
            <a:ext cx="822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728"/>
                </a:solidFill>
              </a:rPr>
              <a:t>ESK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528048" y="324612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28048" y="3427171"/>
            <a:ext cx="8229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23D"/>
                </a:solidFill>
              </a:rPr>
              <a:t>EHR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84848" y="452628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F7E4B9"/>
                </a:solidFill>
              </a:rPr>
              <a:t>Emergency Situation Handlers need controlled bypass after verification and false-alarm screening.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423160" y="57150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403F"/>
                </a:solidFill>
              </a:rPr>
              <a:t>Design goal: reduce delay without removing accountability.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 w="12700">
            <a:solidFill>
              <a:srgbClr val="F8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Proposed framework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65D"/>
                </a:solidFill>
              </a:rPr>
              <a:t>ICICV 2020 • Attribute-Based Break-Glass Access Control • 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23D"/>
                </a:solidFill>
              </a:rPr>
              <a:t>Four cooperating actors create normal and emergency access pathways.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550408" y="1408176"/>
            <a:ext cx="5952744" cy="4416552"/>
          </a:xfrm>
          <a:prstGeom prst="roundRect">
            <a:avLst>
              <a:gd name="adj" fmla="val 1656"/>
            </a:avLst>
          </a:prstGeom>
          <a:solidFill>
            <a:srgbClr val="FFFFFF"/>
          </a:solidFill>
          <a:ln w="12700">
            <a:solidFill>
              <a:srgbClr val="E2D6BF"/>
            </a:solidFill>
            <a:prstDash val="solid"/>
          </a:ln>
        </p:spPr>
      </p:sp>
      <p:pic>
        <p:nvPicPr>
          <p:cNvPr id="8" name="Image 0" descr="/mnt/data/ppt_assets/fig1_architectur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463" y="1481328"/>
            <a:ext cx="5796635" cy="42702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1773936"/>
            <a:ext cx="4297680" cy="17007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80" dirty="0">
                <a:solidFill>
                  <a:srgbClr val="0B1728"/>
                </a:solidFill>
              </a:rPr>
              <a:t>Medical Service Provider manages healthcare resources and devices.</a:t>
            </a:r>
            <a:endParaRPr lang="en-US" sz="1380" dirty="0"/>
          </a:p>
          <a:p>
            <a:r>
              <a:rPr lang="en-US" sz="1380" dirty="0">
                <a:solidFill>
                  <a:srgbClr val="0B1728"/>
                </a:solidFill>
              </a:rPr>
              <a:t>Cloud Infrastructure stores encrypted medical information.</a:t>
            </a:r>
            <a:endParaRPr lang="en-US" sz="1380" dirty="0"/>
          </a:p>
          <a:p>
            <a:r>
              <a:rPr lang="en-US" sz="1380" dirty="0">
                <a:solidFill>
                  <a:srgbClr val="0B1728"/>
                </a:solidFill>
              </a:rPr>
              <a:t>Medical Service Consumer receives care through IoT-enabled monitoring.</a:t>
            </a:r>
            <a:endParaRPr lang="en-US" sz="1380" dirty="0"/>
          </a:p>
          <a:p>
            <a:r>
              <a:rPr lang="en-US" sz="1380" dirty="0">
                <a:solidFill>
                  <a:srgbClr val="0B1728"/>
                </a:solidFill>
              </a:rPr>
              <a:t>Emergency Situation Handler can access data/device only in verified emergency mode.</a:t>
            </a:r>
            <a:endParaRPr lang="en-US" sz="1380" dirty="0"/>
          </a:p>
        </p:txBody>
      </p:sp>
      <p:sp>
        <p:nvSpPr>
          <p:cNvPr id="10" name="Shape 7"/>
          <p:cNvSpPr/>
          <p:nvPr/>
        </p:nvSpPr>
        <p:spPr>
          <a:xfrm>
            <a:off x="713232" y="5257800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10223D"/>
          </a:solidFill>
          <a:ln w="12700">
            <a:solidFill>
              <a:srgbClr val="10223D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5449824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</a:rPr>
              <a:t>Key idea: normal attribute access + controlled break-glass access in one lightweight scheme.</a:t>
            </a:r>
            <a:endParaRPr lang="en-US" sz="12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23D"/>
          </a:solidFill>
          <a:ln w="12700">
            <a:solidFill>
              <a:srgbClr val="1022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Emergency key extraction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65D"/>
                </a:solidFill>
              </a:rPr>
              <a:t>ICICV 2020 • Attribute-Based Break-Glass Access Control • 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7E4B9"/>
                </a:solidFill>
              </a:rPr>
              <a:t>The workflow verifies the handler, creates an Emergency Session Key, and grants bounded access.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76656" y="1499616"/>
            <a:ext cx="6638544" cy="4855464"/>
          </a:xfrm>
          <a:prstGeom prst="roundRect">
            <a:avLst>
              <a:gd name="adj" fmla="val 1507"/>
            </a:avLst>
          </a:prstGeom>
          <a:solidFill>
            <a:srgbClr val="FFFFFF"/>
          </a:solidFill>
          <a:ln w="12700">
            <a:solidFill>
              <a:srgbClr val="E2D6BF"/>
            </a:solidFill>
            <a:prstDash val="solid"/>
          </a:ln>
        </p:spPr>
      </p:sp>
      <p:pic>
        <p:nvPicPr>
          <p:cNvPr id="8" name="Image 0" descr="/mnt/data/ppt_assets/fig2_key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91" y="1572768"/>
            <a:ext cx="6264674" cy="4709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26680" y="1572768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8105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D"/>
                </a:solidFill>
              </a:rPr>
              <a:t>1  Verify ESH credentials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26680" y="2670048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F7E4B9"/>
          </a:solidFill>
          <a:ln w="12700">
            <a:solidFill>
              <a:srgbClr val="F7E4B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29077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D"/>
                </a:solidFill>
              </a:rPr>
              <a:t>2  Build emergency session key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26680" y="3767328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EAC6CB"/>
          </a:solidFill>
          <a:ln w="12700">
            <a:solidFill>
              <a:srgbClr val="EAC6CB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4005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D"/>
                </a:solidFill>
              </a:rPr>
              <a:t>3  Screen false alarms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26680" y="4864608"/>
            <a:ext cx="3611880" cy="777240"/>
          </a:xfrm>
          <a:prstGeom prst="roundRect">
            <a:avLst>
              <a:gd name="adj" fmla="val 14118"/>
            </a:avLst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955280" y="510235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D"/>
                </a:solidFill>
              </a:rPr>
              <a:t>4  Decrypt EHR + device access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 w="12700">
            <a:solidFill>
              <a:srgbClr val="F8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65D"/>
                </a:solidFill>
              </a:rPr>
              <a:t>ICICV 2020 • Attribute-Based Break-Glass Access Control • 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23D"/>
                </a:solidFill>
              </a:rPr>
              <a:t>BG.KeyExt keeps the emergency pathway controlled: authenticate first, then decrypt.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1527048"/>
            <a:ext cx="4855464" cy="4608576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2D6BF"/>
            </a:solidFill>
            <a:prstDash val="solid"/>
          </a:ln>
        </p:spPr>
      </p:sp>
      <p:pic>
        <p:nvPicPr>
          <p:cNvPr id="8" name="Image 0" descr="/mnt/data/ppt_assets/algorithm_block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314582"/>
            <a:ext cx="4709160" cy="303350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2148840"/>
            <a:ext cx="0" cy="393192"/>
          </a:xfrm>
          <a:prstGeom prst="line">
            <a:avLst/>
          </a:prstGeom>
          <a:noFill/>
          <a:ln w="2667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400800" y="3090672"/>
            <a:ext cx="0" cy="393192"/>
          </a:xfrm>
          <a:prstGeom prst="line">
            <a:avLst/>
          </a:prstGeom>
          <a:noFill/>
          <a:ln w="2667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400800" y="4032504"/>
            <a:ext cx="0" cy="393192"/>
          </a:xfrm>
          <a:prstGeom prst="line">
            <a:avLst/>
          </a:prstGeom>
          <a:noFill/>
          <a:ln w="2667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00800" y="4974336"/>
            <a:ext cx="0" cy="393192"/>
          </a:xfrm>
          <a:prstGeom prst="line">
            <a:avLst/>
          </a:prstGeom>
          <a:noFill/>
          <a:ln w="26670">
            <a:solidFill>
              <a:srgbClr val="D9A441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715000" y="1627632"/>
            <a:ext cx="516636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D5B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16168" y="1764792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03F"/>
                </a:solidFill>
              </a:rPr>
              <a:t>Input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14032" y="17647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728"/>
                </a:solidFill>
              </a:rPr>
              <a:t>ESH credentials + patient password</a:t>
            </a:r>
            <a:endParaRPr lang="en-US" sz="1420" dirty="0"/>
          </a:p>
        </p:txBody>
      </p:sp>
      <p:sp>
        <p:nvSpPr>
          <p:cNvPr id="16" name="Shape 13"/>
          <p:cNvSpPr/>
          <p:nvPr/>
        </p:nvSpPr>
        <p:spPr>
          <a:xfrm>
            <a:off x="5715000" y="2569464"/>
            <a:ext cx="516636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D5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16168" y="2706624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03F"/>
                </a:solidFill>
              </a:rPr>
              <a:t>Validate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114032" y="27066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728"/>
                </a:solidFill>
              </a:rPr>
              <a:t>Reject invalid handler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5715000" y="3511296"/>
            <a:ext cx="516636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D5B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16168" y="364845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03F"/>
                </a:solidFill>
              </a:rPr>
              <a:t>Check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114032" y="364845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728"/>
                </a:solidFill>
              </a:rPr>
              <a:t>Stop if false emergency</a:t>
            </a:r>
            <a:endParaRPr lang="en-US" sz="1420" dirty="0"/>
          </a:p>
        </p:txBody>
      </p:sp>
      <p:sp>
        <p:nvSpPr>
          <p:cNvPr id="22" name="Shape 19"/>
          <p:cNvSpPr/>
          <p:nvPr/>
        </p:nvSpPr>
        <p:spPr>
          <a:xfrm>
            <a:off x="5715000" y="4453128"/>
            <a:ext cx="516636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3D5B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16168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403F"/>
                </a:solidFill>
              </a:rPr>
              <a:t>Authorize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14032" y="45902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0B1728"/>
                </a:solidFill>
              </a:rPr>
              <a:t>Load role and ESH policies</a:t>
            </a:r>
            <a:endParaRPr lang="en-US" sz="1420" dirty="0"/>
          </a:p>
        </p:txBody>
      </p:sp>
      <p:sp>
        <p:nvSpPr>
          <p:cNvPr id="25" name="Shape 22"/>
          <p:cNvSpPr/>
          <p:nvPr/>
        </p:nvSpPr>
        <p:spPr>
          <a:xfrm>
            <a:off x="5715000" y="5394960"/>
            <a:ext cx="5166360" cy="603504"/>
          </a:xfrm>
          <a:prstGeom prst="roundRect">
            <a:avLst>
              <a:gd name="adj" fmla="val 18182"/>
            </a:avLst>
          </a:prstGeom>
          <a:solidFill>
            <a:srgbClr val="10223D"/>
          </a:solidFill>
          <a:ln w="12700">
            <a:solidFill>
              <a:srgbClr val="1022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16168" y="553212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A441"/>
                </a:solidFill>
              </a:rPr>
              <a:t>Output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14032" y="55321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20" b="1" dirty="0">
                <a:solidFill>
                  <a:srgbClr val="FFFFFF"/>
                </a:solidFill>
              </a:rPr>
              <a:t>Break-glass key and access rights</a:t>
            </a:r>
            <a:endParaRPr lang="en-US" sz="14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 w="12700">
            <a:solidFill>
              <a:srgbClr val="FBF8F1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 analysis: computational cost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65D"/>
                </a:solidFill>
              </a:rPr>
              <a:t>ICICV 2020 • Attribute-Based Break-Glass Access Control • 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818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23D"/>
                </a:solidFill>
              </a:rPr>
              <a:t>Execution-time comparison across increasing numbers of healthcare sensors.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6729984" cy="4105656"/>
          </a:xfrm>
          <a:prstGeom prst="roundRect">
            <a:avLst>
              <a:gd name="adj" fmla="val 1782"/>
            </a:avLst>
          </a:prstGeom>
          <a:solidFill>
            <a:srgbClr val="FFFFFF"/>
          </a:solidFill>
          <a:ln w="12700">
            <a:solidFill>
              <a:srgbClr val="E2D6BF"/>
            </a:solidFill>
            <a:prstDash val="solid"/>
          </a:ln>
        </p:spPr>
      </p:sp>
      <p:pic>
        <p:nvPicPr>
          <p:cNvPr id="8" name="Image 0" descr="/mnt/data/ppt_assets/fig4_char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07" y="1600200"/>
            <a:ext cx="6582546" cy="39593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909560" y="1691640"/>
            <a:ext cx="3493008" cy="950976"/>
          </a:xfrm>
          <a:prstGeom prst="roundRect">
            <a:avLst>
              <a:gd name="adj" fmla="val 12500"/>
            </a:avLst>
          </a:prstGeom>
          <a:solidFill>
            <a:srgbClr val="10223D"/>
          </a:solidFill>
          <a:ln w="12700">
            <a:solidFill>
              <a:srgbClr val="10223D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19202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A441"/>
                </a:solidFill>
              </a:rPr>
              <a:t>Observed trend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0" y="2212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F8F4EC"/>
                </a:solidFill>
              </a:rPr>
              <a:t>Multilayer authentication grows slower under low resource counts but scales poorly as sensors increase.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909560" y="2971800"/>
            <a:ext cx="3493008" cy="95097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5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0" y="32095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403F"/>
                </a:solidFill>
              </a:rPr>
              <a:t>Key efficiency point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0" y="3474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728"/>
                </a:solidFill>
              </a:rPr>
              <a:t>The proposed scheme is presented as lightweight, with minimal calculations at device and storage levels.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7909560" y="4251960"/>
            <a:ext cx="3493008" cy="950976"/>
          </a:xfrm>
          <a:prstGeom prst="roundRect">
            <a:avLst>
              <a:gd name="adj" fmla="val 12500"/>
            </a:avLst>
          </a:prstGeom>
          <a:solidFill>
            <a:srgbClr val="F7E4B9"/>
          </a:solidFill>
          <a:ln w="12700">
            <a:solidFill>
              <a:srgbClr val="F7E4B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4489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23D"/>
                </a:solidFill>
              </a:rPr>
              <a:t>Practical impact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29600" y="47548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0B1728"/>
                </a:solidFill>
              </a:rPr>
              <a:t>Lower latency supports emergency handling in resource-constrained IoT healthcare settings.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C"/>
          </a:solidFill>
          <a:ln w="12700">
            <a:solidFill>
              <a:srgbClr val="F8F4E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7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contribution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92024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7395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6465D"/>
                </a:solidFill>
              </a:rPr>
              <a:t>ICICV 2020 • Attribute-Based Break-Glass Access Control • 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23D"/>
                </a:solidFill>
              </a:rPr>
              <a:t>The design balances availability, authorization, and confidentiality.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057400" y="3246120"/>
            <a:ext cx="1115568" cy="1115568"/>
          </a:xfrm>
          <a:prstGeom prst="ellipse">
            <a:avLst/>
          </a:prstGeom>
          <a:solidFill>
            <a:srgbClr val="F7D9D4"/>
          </a:solidFill>
          <a:ln w="12700">
            <a:solidFill>
              <a:srgbClr val="F7D9D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3491545"/>
            <a:ext cx="1115568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728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919472" y="2103120"/>
            <a:ext cx="1115568" cy="1115568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2348545"/>
            <a:ext cx="1115568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728"/>
                </a:solidFill>
              </a:rPr>
              <a:t>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26680" y="3246120"/>
            <a:ext cx="1115568" cy="1115568"/>
          </a:xfrm>
          <a:prstGeom prst="ellipse">
            <a:avLst/>
          </a:prstGeom>
          <a:solidFill>
            <a:srgbClr val="CFE8E7"/>
          </a:solidFill>
          <a:ln w="12700">
            <a:solidFill>
              <a:srgbClr val="CFE8E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491545"/>
            <a:ext cx="1115568" cy="4685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1728"/>
                </a:solidFill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81328" y="4617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3D"/>
                </a:solidFill>
              </a:rPr>
              <a:t>Verified handler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91947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6465D"/>
                </a:solidFill>
              </a:rPr>
              <a:t>Credentials are checked before emergency access begins.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34840" y="3520440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3D"/>
                </a:solidFill>
              </a:rPr>
              <a:t>False-alarm guard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69080" y="3822192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6465D"/>
                </a:solidFill>
              </a:rPr>
              <a:t>Emergency access is refused when the event is flagged as false.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96912" y="461772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23D"/>
                </a:solidFill>
              </a:rPr>
              <a:t>Encrypted EHR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84848" y="49194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36465D"/>
                </a:solidFill>
              </a:rPr>
              <a:t>Model argues resistance under DBDH-based security assumptions.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806440"/>
            <a:ext cx="10561320" cy="502920"/>
          </a:xfrm>
          <a:prstGeom prst="roundRect">
            <a:avLst>
              <a:gd name="adj" fmla="val 23636"/>
            </a:avLst>
          </a:prstGeom>
          <a:solidFill>
            <a:srgbClr val="10223D"/>
          </a:solidFill>
          <a:ln w="12700">
            <a:solidFill>
              <a:srgbClr val="10223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5961888"/>
            <a:ext cx="10104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Contribution: a lightweight access-control path that handles normal data decryption and verified emergency override.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assets/certificate_16x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28">
              <a:alpha val="87000"/>
            </a:srgbClr>
          </a:solidFill>
          <a:ln w="12700">
            <a:solidFill>
              <a:srgbClr val="0B17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594360"/>
            <a:ext cx="10835640" cy="5669280"/>
          </a:xfrm>
          <a:prstGeom prst="rect">
            <a:avLst/>
          </a:prstGeom>
          <a:solidFill>
            <a:srgbClr val="0B1728">
              <a:alpha val="88000"/>
            </a:srgbClr>
          </a:solidFill>
          <a:ln w="15240">
            <a:solidFill>
              <a:srgbClr val="D9A441">
                <a:alpha val="7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4128" y="960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114300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691640" y="20482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</a:rPr>
              <a:t>Medical emergencies need availability, not just confidentiality.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143000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</a:rPr>
              <a:t>2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691640" y="287121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</a:rPr>
              <a:t>Break-glass access must be verified, policy-bound, and auditable.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4300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A441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1691640" y="3694176"/>
            <a:ext cx="8915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</a:rPr>
              <a:t>The proposed framework targets fast, lightweight emergency access for IoT healthcare.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1051560" y="4892040"/>
            <a:ext cx="219456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528523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5DFB6"/>
                </a:solidFill>
              </a:rPr>
              <a:t>Presented at ICICV-2020 • Manipal University Jaipur • Springer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5614416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F8F4EC"/>
                </a:solidFill>
              </a:rPr>
              <a:t>Paper: “An Attribute Based Break-Glass Access Control Framework for Medical Emergencies”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PresentationFormat>Widescreen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Attribute-Based Break-Glass Access Control for Medical Emergencies</dc:title>
  <dc:subject>Presentation on Attribute-Based Break-Glass Access Control Framework for Medical Emergencies</dc:subject>
  <dc:creator>OpenAI</dc:creator>
  <cp:lastModifiedBy>Anubha</cp:lastModifiedBy>
  <cp:revision>3</cp:revision>
  <dcterms:created xsi:type="dcterms:W3CDTF">2026-05-14T15:22:20Z</dcterms:created>
  <dcterms:modified xsi:type="dcterms:W3CDTF">2026-05-14T17:05:29Z</dcterms:modified>
</cp:coreProperties>
</file>