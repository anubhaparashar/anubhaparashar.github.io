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7" d="100"/>
          <a:sy n="87" d="100"/>
        </p:scale>
        <p:origin x="499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94743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88E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4592" y="0"/>
            <a:ext cx="36576" cy="6858000"/>
          </a:xfrm>
          <a:prstGeom prst="rect">
            <a:avLst/>
          </a:prstGeom>
          <a:solidFill>
            <a:srgbClr val="00A6A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01168" y="0"/>
            <a:ext cx="5486400" cy="6858000"/>
          </a:xfrm>
          <a:prstGeom prst="rect">
            <a:avLst/>
          </a:prstGeom>
          <a:solidFill>
            <a:srgbClr val="0B1F3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5836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DD3FC"/>
                </a:solidFill>
              </a:rPr>
              <a:t>RESEARCH PRESENTATION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94360" y="1234440"/>
            <a:ext cx="4617720" cy="2148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3500" b="1" dirty="0">
                <a:solidFill>
                  <a:srgbClr val="FFFFFF"/>
                </a:solidFill>
              </a:rPr>
              <a:t>Smart Autonomous</a:t>
            </a:r>
            <a:endParaRPr lang="en-US" sz="3500" dirty="0"/>
          </a:p>
          <a:p>
            <a:pPr marL="0" indent="0">
              <a:buNone/>
            </a:pPr>
            <a:r>
              <a:rPr lang="en-US" sz="3500" b="1" dirty="0">
                <a:solidFill>
                  <a:srgbClr val="FFFFFF"/>
                </a:solidFill>
              </a:rPr>
              <a:t>Vehicle Using</a:t>
            </a:r>
            <a:endParaRPr lang="en-US" sz="3500" dirty="0"/>
          </a:p>
          <a:p>
            <a:pPr marL="0" indent="0">
              <a:buNone/>
            </a:pPr>
            <a:r>
              <a:rPr lang="en-US" sz="3500" b="1" dirty="0">
                <a:solidFill>
                  <a:srgbClr val="FFFFFF"/>
                </a:solidFill>
              </a:rPr>
              <a:t>End-to-End Learning</a:t>
            </a:r>
            <a:endParaRPr lang="en-US" sz="3500" dirty="0"/>
          </a:p>
        </p:txBody>
      </p:sp>
      <p:sp>
        <p:nvSpPr>
          <p:cNvPr id="8" name="Shape 6"/>
          <p:cNvSpPr/>
          <p:nvPr/>
        </p:nvSpPr>
        <p:spPr>
          <a:xfrm>
            <a:off x="612648" y="3675888"/>
            <a:ext cx="1737360" cy="0"/>
          </a:xfrm>
          <a:prstGeom prst="line">
            <a:avLst/>
          </a:prstGeom>
          <a:noFill/>
          <a:ln w="38100">
            <a:solidFill>
              <a:srgbClr val="00A6A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03504" y="3977640"/>
            <a:ext cx="448056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DDEAF7"/>
                </a:solidFill>
              </a:rPr>
              <a:t>A low-cost RC-car platform that maps camera pixels directly to driving commands through a CNN.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12648" y="4864608"/>
            <a:ext cx="4480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FD7EE"/>
                </a:solidFill>
              </a:rPr>
              <a:t>Pranav Gupta • Vaibhav Singh • Anubha Parashar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12648" y="5230368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8DB7D8"/>
                </a:solidFill>
              </a:rPr>
              <a:t>Journal of Innovation in Computer Science and Engineering, Vol. 9(2), Jan–June 2020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355080" y="777240"/>
            <a:ext cx="4480560" cy="2423160"/>
          </a:xfrm>
          <a:prstGeom prst="roundRect">
            <a:avLst>
              <a:gd name="adj" fmla="val 3774"/>
            </a:avLst>
          </a:prstGeom>
          <a:solidFill>
            <a:srgbClr val="FFFFFF"/>
          </a:solidFill>
          <a:ln w="7620">
            <a:solidFill>
              <a:srgbClr val="E7EDF6"/>
            </a:solidFill>
            <a:prstDash val="solid"/>
          </a:ln>
          <a:effectLst>
            <a:outerShdw blurRad="12700" dist="12700" dir="2700000" algn="bl" rotWithShape="0">
              <a:srgbClr val="0B1F3A">
                <a:alpha val="16000"/>
              </a:srgbClr>
            </a:outerShdw>
          </a:effectLst>
        </p:spPr>
      </p:sp>
      <p:pic>
        <p:nvPicPr>
          <p:cNvPr id="13" name="Image 0" descr="/mnt/data/slide_assets/crops/sim_prediction.png"/>
          <p:cNvPicPr>
            <a:picLocks noChangeAspect="1"/>
          </p:cNvPicPr>
          <p:nvPr/>
        </p:nvPicPr>
        <p:blipFill>
          <a:blip r:embed="rId3"/>
          <a:srcRect t="15634" b="15634"/>
          <a:stretch/>
        </p:blipFill>
        <p:spPr>
          <a:xfrm>
            <a:off x="6400800" y="822960"/>
            <a:ext cx="4389120" cy="2331720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6355080" y="3611880"/>
            <a:ext cx="448056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7620">
            <a:solidFill>
              <a:srgbClr val="E7EDF6"/>
            </a:solidFill>
            <a:prstDash val="solid"/>
          </a:ln>
          <a:effectLst>
            <a:outerShdw blurRad="12700" dist="12700" dir="2700000" algn="bl" rotWithShape="0">
              <a:srgbClr val="0B1F3A">
                <a:alpha val="16000"/>
              </a:srgbClr>
            </a:outerShdw>
          </a:effectLst>
        </p:spPr>
      </p:sp>
      <p:pic>
        <p:nvPicPr>
          <p:cNvPr id="15" name="Image 1" descr="/mnt/data/slide_assets/crops/system_architecture.png"/>
          <p:cNvPicPr>
            <a:picLocks noChangeAspect="1"/>
          </p:cNvPicPr>
          <p:nvPr/>
        </p:nvPicPr>
        <p:blipFill>
          <a:blip r:embed="rId4"/>
          <a:srcRect t="5167" b="5167"/>
          <a:stretch/>
        </p:blipFill>
        <p:spPr>
          <a:xfrm>
            <a:off x="6400800" y="3657600"/>
            <a:ext cx="4389120" cy="2057400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502920" y="6446520"/>
            <a:ext cx="11064240" cy="0"/>
          </a:xfrm>
          <a:prstGeom prst="line">
            <a:avLst/>
          </a:prstGeom>
          <a:noFill/>
          <a:ln w="7620">
            <a:solidFill>
              <a:srgbClr val="D8E2F0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502920" y="6547104"/>
            <a:ext cx="4754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64748B"/>
                </a:solidFill>
              </a:rPr>
              <a:t>Smart Autonomous Vehicle Using End-to-End Learning</a:t>
            </a:r>
            <a:endParaRPr lang="en-US" sz="680" dirty="0"/>
          </a:p>
        </p:txBody>
      </p:sp>
      <p:sp>
        <p:nvSpPr>
          <p:cNvPr id="18" name="Text 14"/>
          <p:cNvSpPr/>
          <p:nvPr/>
        </p:nvSpPr>
        <p:spPr>
          <a:xfrm>
            <a:off x="11201400" y="6473952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1E88E5"/>
                </a:solidFill>
              </a:rPr>
              <a:t>01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88E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4592" y="0"/>
            <a:ext cx="36576" cy="6858000"/>
          </a:xfrm>
          <a:prstGeom prst="rect">
            <a:avLst/>
          </a:prstGeom>
          <a:solidFill>
            <a:srgbClr val="00A6A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74320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88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SMART AUTONOMOUS VEHICLE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02920" y="530352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end-to-end learning?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502920" y="1024128"/>
            <a:ext cx="2011680" cy="0"/>
          </a:xfrm>
          <a:prstGeom prst="line">
            <a:avLst/>
          </a:prstGeom>
          <a:noFill/>
          <a:ln w="25400">
            <a:solidFill>
              <a:srgbClr val="00A6A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1417320"/>
            <a:ext cx="5166360" cy="7498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B2430"/>
                </a:solidFill>
              </a:rPr>
              <a:t>Traditional self-driving systems rely on several separate modules and many sensors. The paper proposes a simpler path: use a single front-facing camera and learn the steering decision directly.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85800" y="2788920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0A6A6"/>
                </a:solidFill>
              </a:rPr>
              <a:t>1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777240" y="3456432"/>
            <a:ext cx="164592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2430"/>
                </a:solidFill>
              </a:rPr>
              <a:t>front-facing camera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743200" y="2788920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E88E5"/>
                </a:solidFill>
              </a:rPr>
              <a:t>3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2834640" y="3456432"/>
            <a:ext cx="164592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2430"/>
                </a:solidFill>
              </a:rPr>
              <a:t>driving commands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800600" y="2788920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D8334A"/>
                </a:solidFill>
              </a:rPr>
              <a:t>98%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4892040" y="3456432"/>
            <a:ext cx="164592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2430"/>
                </a:solidFill>
              </a:rPr>
              <a:t>reported accuracy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452360" y="1124712"/>
            <a:ext cx="3566160" cy="4315968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7620">
            <a:solidFill>
              <a:srgbClr val="E7EDF6"/>
            </a:solidFill>
            <a:prstDash val="solid"/>
          </a:ln>
          <a:effectLst>
            <a:outerShdw blurRad="12700" dist="12700" dir="2700000" algn="bl" rotWithShape="0">
              <a:srgbClr val="0B1F3A">
                <a:alpha val="16000"/>
              </a:srgbClr>
            </a:outerShdw>
          </a:effectLst>
        </p:spPr>
      </p:sp>
      <p:pic>
        <p:nvPicPr>
          <p:cNvPr id="16" name="Image 0" descr="/mnt/data/slide_assets/paper-1.png"/>
          <p:cNvPicPr>
            <a:picLocks noChangeAspect="1"/>
          </p:cNvPicPr>
          <p:nvPr/>
        </p:nvPicPr>
        <p:blipFill>
          <a:blip r:embed="rId3"/>
          <a:srcRect t="7015" b="7015"/>
          <a:stretch/>
        </p:blipFill>
        <p:spPr>
          <a:xfrm>
            <a:off x="7498080" y="1170432"/>
            <a:ext cx="3474720" cy="4224528"/>
          </a:xfrm>
          <a:prstGeom prst="rect">
            <a:avLst/>
          </a:prstGeom>
        </p:spPr>
      </p:pic>
      <p:sp>
        <p:nvSpPr>
          <p:cNvPr id="17" name="Shape 14"/>
          <p:cNvSpPr/>
          <p:nvPr/>
        </p:nvSpPr>
        <p:spPr>
          <a:xfrm>
            <a:off x="594360" y="4681728"/>
            <a:ext cx="1353312" cy="310896"/>
          </a:xfrm>
          <a:prstGeom prst="roundRect">
            <a:avLst>
              <a:gd name="adj" fmla="val 26471"/>
            </a:avLst>
          </a:prstGeom>
          <a:solidFill>
            <a:srgbClr val="0B1F3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04088" y="4759452"/>
            <a:ext cx="113385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Core motivation</a:t>
            </a:r>
            <a:endParaRPr lang="en-US" sz="750" dirty="0"/>
          </a:p>
        </p:txBody>
      </p:sp>
      <p:sp>
        <p:nvSpPr>
          <p:cNvPr id="19" name="Shape 16"/>
          <p:cNvSpPr/>
          <p:nvPr/>
        </p:nvSpPr>
        <p:spPr>
          <a:xfrm>
            <a:off x="685800" y="5257800"/>
            <a:ext cx="100584" cy="100584"/>
          </a:xfrm>
          <a:prstGeom prst="ellipse">
            <a:avLst/>
          </a:prstGeom>
          <a:solidFill>
            <a:srgbClr val="00A6A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914400" y="5166360"/>
            <a:ext cx="557784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B2430"/>
                </a:solidFill>
              </a:rPr>
              <a:t>Reduce sensor complexity and cost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685800" y="5641848"/>
            <a:ext cx="100584" cy="100584"/>
          </a:xfrm>
          <a:prstGeom prst="ellipse">
            <a:avLst/>
          </a:prstGeom>
          <a:solidFill>
            <a:srgbClr val="00A6A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914400" y="5550408"/>
            <a:ext cx="557784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B2430"/>
                </a:solidFill>
              </a:rPr>
              <a:t>Avoid hand-engineered perception and lane modules</a:t>
            </a:r>
            <a:endParaRPr lang="en-US" sz="1250" dirty="0"/>
          </a:p>
        </p:txBody>
      </p:sp>
      <p:sp>
        <p:nvSpPr>
          <p:cNvPr id="23" name="Shape 20"/>
          <p:cNvSpPr/>
          <p:nvPr/>
        </p:nvSpPr>
        <p:spPr>
          <a:xfrm>
            <a:off x="685800" y="6025896"/>
            <a:ext cx="100584" cy="100584"/>
          </a:xfrm>
          <a:prstGeom prst="ellipse">
            <a:avLst/>
          </a:prstGeom>
          <a:solidFill>
            <a:srgbClr val="00A6A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914400" y="5934456"/>
            <a:ext cx="557784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B2430"/>
                </a:solidFill>
              </a:rPr>
              <a:t>Enable a reproducible autonomous RC-car setup</a:t>
            </a:r>
            <a:endParaRPr lang="en-US" sz="1250" dirty="0"/>
          </a:p>
        </p:txBody>
      </p:sp>
      <p:sp>
        <p:nvSpPr>
          <p:cNvPr id="25" name="Text 22"/>
          <p:cNvSpPr/>
          <p:nvPr/>
        </p:nvSpPr>
        <p:spPr>
          <a:xfrm>
            <a:off x="7680960" y="6547104"/>
            <a:ext cx="3474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20" i="1" dirty="0">
                <a:solidFill>
                  <a:srgbClr val="8A96A8"/>
                </a:solidFill>
              </a:rPr>
              <a:t>Source: paper abstract and methodology</a:t>
            </a:r>
            <a:endParaRPr lang="en-US" sz="620" dirty="0"/>
          </a:p>
        </p:txBody>
      </p:sp>
      <p:sp>
        <p:nvSpPr>
          <p:cNvPr id="26" name="Shape 23"/>
          <p:cNvSpPr/>
          <p:nvPr/>
        </p:nvSpPr>
        <p:spPr>
          <a:xfrm>
            <a:off x="502920" y="6446520"/>
            <a:ext cx="11064240" cy="0"/>
          </a:xfrm>
          <a:prstGeom prst="line">
            <a:avLst/>
          </a:prstGeom>
          <a:noFill/>
          <a:ln w="7620">
            <a:solidFill>
              <a:srgbClr val="D8E2F0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02920" y="6547104"/>
            <a:ext cx="4754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64748B"/>
                </a:solidFill>
              </a:rPr>
              <a:t>Smart Autonomous Vehicle Using End-to-End Learning</a:t>
            </a:r>
            <a:endParaRPr lang="en-US" sz="680" dirty="0"/>
          </a:p>
        </p:txBody>
      </p:sp>
      <p:sp>
        <p:nvSpPr>
          <p:cNvPr id="28" name="Text 25"/>
          <p:cNvSpPr/>
          <p:nvPr/>
        </p:nvSpPr>
        <p:spPr>
          <a:xfrm>
            <a:off x="11201400" y="6473952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1E88E5"/>
                </a:solidFill>
              </a:rPr>
              <a:t>02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88E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4592" y="0"/>
            <a:ext cx="36576" cy="6858000"/>
          </a:xfrm>
          <a:prstGeom prst="rect">
            <a:avLst/>
          </a:prstGeom>
          <a:solidFill>
            <a:srgbClr val="00A6A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74320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88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SMART AUTONOMOUS VEHICLE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02920" y="530352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System idea: pixels to driving commands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502920" y="1024128"/>
            <a:ext cx="2011680" cy="0"/>
          </a:xfrm>
          <a:prstGeom prst="line">
            <a:avLst/>
          </a:prstGeom>
          <a:noFill/>
          <a:ln w="25400">
            <a:solidFill>
              <a:srgbClr val="00A6A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1298448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4748B"/>
                </a:solidFill>
              </a:rPr>
              <a:t>The full pipeline converts camera frames into low-level commands for the RC vehicle.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31520" y="1965960"/>
            <a:ext cx="141732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5240">
            <a:solidFill>
              <a:srgbClr val="00A6A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41248" y="2249424"/>
            <a:ext cx="11978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1F3A"/>
                </a:solidFill>
              </a:rPr>
              <a:t>Camera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0B1F3A"/>
                </a:solidFill>
              </a:rPr>
              <a:t>Module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560320" y="1965960"/>
            <a:ext cx="141732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5240">
            <a:solidFill>
              <a:srgbClr val="00A6A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70048" y="2249424"/>
            <a:ext cx="11978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1F3A"/>
                </a:solidFill>
              </a:rPr>
              <a:t>Raspberry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0B1F3A"/>
                </a:solidFill>
              </a:rPr>
              <a:t>Pi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389120" y="1856232"/>
            <a:ext cx="1508760" cy="1024128"/>
          </a:xfrm>
          <a:prstGeom prst="roundRect">
            <a:avLst>
              <a:gd name="adj" fmla="val 7143"/>
            </a:avLst>
          </a:prstGeom>
          <a:solidFill>
            <a:srgbClr val="0B1F3A"/>
          </a:solidFill>
          <a:ln w="15240">
            <a:solidFill>
              <a:srgbClr val="0B1F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98848" y="2075688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CNN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Model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355080" y="1965960"/>
            <a:ext cx="150876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5240">
            <a:solidFill>
              <a:srgbClr val="1E88E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64808" y="2249424"/>
            <a:ext cx="12893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1F3A"/>
                </a:solidFill>
              </a:rPr>
              <a:t>Remote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0B1F3A"/>
                </a:solidFill>
              </a:rPr>
              <a:t>Control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366760" y="1965960"/>
            <a:ext cx="132588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5240">
            <a:solidFill>
              <a:srgbClr val="1E88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476488" y="2249424"/>
            <a:ext cx="11064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1F3A"/>
                </a:solidFill>
              </a:rPr>
              <a:t>RC Car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148840" y="2368296"/>
            <a:ext cx="411480" cy="0"/>
          </a:xfrm>
          <a:prstGeom prst="line">
            <a:avLst/>
          </a:prstGeom>
          <a:noFill/>
          <a:ln w="22860">
            <a:solidFill>
              <a:srgbClr val="00A6A6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3977640" y="2368296"/>
            <a:ext cx="411480" cy="0"/>
          </a:xfrm>
          <a:prstGeom prst="line">
            <a:avLst/>
          </a:prstGeom>
          <a:noFill/>
          <a:ln w="22860">
            <a:solidFill>
              <a:srgbClr val="00A6A6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5897880" y="2368296"/>
            <a:ext cx="457200" cy="0"/>
          </a:xfrm>
          <a:prstGeom prst="line">
            <a:avLst/>
          </a:prstGeom>
          <a:noFill/>
          <a:ln w="22860">
            <a:solidFill>
              <a:srgbClr val="1E88E5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7863840" y="2368296"/>
            <a:ext cx="502920" cy="0"/>
          </a:xfrm>
          <a:prstGeom prst="line">
            <a:avLst/>
          </a:prstGeom>
          <a:noFill/>
          <a:ln w="22860">
            <a:solidFill>
              <a:srgbClr val="1E88E5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731520" y="3794760"/>
            <a:ext cx="292608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7620">
            <a:solidFill>
              <a:srgbClr val="E8EEF7"/>
            </a:solidFill>
            <a:prstDash val="solid"/>
          </a:ln>
          <a:effectLst>
            <a:outerShdw blurRad="12700" dist="12700" dir="2700000" algn="bl" rotWithShape="0">
              <a:srgbClr val="0B1F3A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31520" y="3794760"/>
            <a:ext cx="73152" cy="1005840"/>
          </a:xfrm>
          <a:prstGeom prst="rect">
            <a:avLst/>
          </a:prstGeom>
          <a:solidFill>
            <a:srgbClr val="00A6A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32688" y="3959352"/>
            <a:ext cx="25968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B1F3A"/>
                </a:solidFill>
              </a:rPr>
              <a:t>Input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932688" y="4233672"/>
            <a:ext cx="2596896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64748B"/>
                </a:solidFill>
              </a:rPr>
              <a:t>Image frames from Pi camera mounted on top of the RC car.</a:t>
            </a:r>
            <a:endParaRPr lang="en-US" sz="920" dirty="0"/>
          </a:p>
        </p:txBody>
      </p:sp>
      <p:sp>
        <p:nvSpPr>
          <p:cNvPr id="27" name="Shape 25"/>
          <p:cNvSpPr/>
          <p:nvPr/>
        </p:nvSpPr>
        <p:spPr>
          <a:xfrm>
            <a:off x="4160520" y="3794760"/>
            <a:ext cx="292608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7620">
            <a:solidFill>
              <a:srgbClr val="E8EEF7"/>
            </a:solidFill>
            <a:prstDash val="solid"/>
          </a:ln>
          <a:effectLst>
            <a:outerShdw blurRad="12700" dist="12700" dir="2700000" algn="bl" rotWithShape="0">
              <a:srgbClr val="0B1F3A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160520" y="3794760"/>
            <a:ext cx="73152" cy="1005840"/>
          </a:xfrm>
          <a:prstGeom prst="rect">
            <a:avLst/>
          </a:prstGeom>
          <a:solidFill>
            <a:srgbClr val="1E88E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61688" y="3959352"/>
            <a:ext cx="25968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B1F3A"/>
                </a:solidFill>
              </a:rPr>
              <a:t>Decision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361688" y="4233672"/>
            <a:ext cx="2596896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64748B"/>
                </a:solidFill>
              </a:rPr>
              <a:t>VGG16-based CNN predicts left, right, or forward.</a:t>
            </a:r>
            <a:endParaRPr lang="en-US" sz="920" dirty="0"/>
          </a:p>
        </p:txBody>
      </p:sp>
      <p:sp>
        <p:nvSpPr>
          <p:cNvPr id="31" name="Shape 29"/>
          <p:cNvSpPr/>
          <p:nvPr/>
        </p:nvSpPr>
        <p:spPr>
          <a:xfrm>
            <a:off x="7543800" y="3794760"/>
            <a:ext cx="292608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7620">
            <a:solidFill>
              <a:srgbClr val="E8EEF7"/>
            </a:solidFill>
            <a:prstDash val="solid"/>
          </a:ln>
          <a:effectLst>
            <a:outerShdw blurRad="12700" dist="12700" dir="2700000" algn="bl" rotWithShape="0">
              <a:srgbClr val="0B1F3A">
                <a:alpha val="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7543800" y="3794760"/>
            <a:ext cx="73152" cy="1005840"/>
          </a:xfrm>
          <a:prstGeom prst="rect">
            <a:avLst/>
          </a:prstGeom>
          <a:solidFill>
            <a:srgbClr val="D8334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744968" y="3959352"/>
            <a:ext cx="25968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B1F3A"/>
                </a:solidFill>
              </a:rPr>
              <a:t>Output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7744968" y="4233672"/>
            <a:ext cx="2596896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64748B"/>
                </a:solidFill>
              </a:rPr>
              <a:t>Raspberry Pi triggers GPIO-based remote commands.</a:t>
            </a:r>
            <a:endParaRPr lang="en-US" sz="920" dirty="0"/>
          </a:p>
        </p:txBody>
      </p:sp>
      <p:sp>
        <p:nvSpPr>
          <p:cNvPr id="35" name="Shape 33"/>
          <p:cNvSpPr/>
          <p:nvPr/>
        </p:nvSpPr>
        <p:spPr>
          <a:xfrm>
            <a:off x="7068312" y="5184648"/>
            <a:ext cx="3657600" cy="877824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7620">
            <a:solidFill>
              <a:srgbClr val="E7EDF6"/>
            </a:solidFill>
            <a:prstDash val="solid"/>
          </a:ln>
          <a:effectLst>
            <a:outerShdw blurRad="12700" dist="12700" dir="2700000" algn="bl" rotWithShape="0">
              <a:srgbClr val="0B1F3A">
                <a:alpha val="16000"/>
              </a:srgbClr>
            </a:outerShdw>
          </a:effectLst>
        </p:spPr>
      </p:sp>
      <p:pic>
        <p:nvPicPr>
          <p:cNvPr id="36" name="Image 0" descr="/mnt/data/slide_assets/crops/system_architecture.png"/>
          <p:cNvPicPr>
            <a:picLocks noChangeAspect="1"/>
          </p:cNvPicPr>
          <p:nvPr/>
        </p:nvPicPr>
        <p:blipFill>
          <a:blip r:embed="rId3"/>
          <a:srcRect t="28909" b="28909"/>
          <a:stretch/>
        </p:blipFill>
        <p:spPr>
          <a:xfrm>
            <a:off x="7114032" y="5230368"/>
            <a:ext cx="3566160" cy="786384"/>
          </a:xfrm>
          <a:prstGeom prst="rect">
            <a:avLst/>
          </a:prstGeom>
        </p:spPr>
      </p:pic>
      <p:sp>
        <p:nvSpPr>
          <p:cNvPr id="37" name="Text 34"/>
          <p:cNvSpPr/>
          <p:nvPr/>
        </p:nvSpPr>
        <p:spPr>
          <a:xfrm>
            <a:off x="7680960" y="6547104"/>
            <a:ext cx="3474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20" i="1" dirty="0">
                <a:solidFill>
                  <a:srgbClr val="8A96A8"/>
                </a:solidFill>
              </a:rPr>
              <a:t>Source: Figure 1, methodology</a:t>
            </a:r>
            <a:endParaRPr lang="en-US" sz="620" dirty="0"/>
          </a:p>
        </p:txBody>
      </p:sp>
      <p:sp>
        <p:nvSpPr>
          <p:cNvPr id="38" name="Shape 35"/>
          <p:cNvSpPr/>
          <p:nvPr/>
        </p:nvSpPr>
        <p:spPr>
          <a:xfrm>
            <a:off x="502920" y="6446520"/>
            <a:ext cx="11064240" cy="0"/>
          </a:xfrm>
          <a:prstGeom prst="line">
            <a:avLst/>
          </a:prstGeom>
          <a:noFill/>
          <a:ln w="7620">
            <a:solidFill>
              <a:srgbClr val="D8E2F0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502920" y="6547104"/>
            <a:ext cx="4754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64748B"/>
                </a:solidFill>
              </a:rPr>
              <a:t>Smart Autonomous Vehicle Using End-to-End Learning</a:t>
            </a:r>
            <a:endParaRPr lang="en-US" sz="680" dirty="0"/>
          </a:p>
        </p:txBody>
      </p:sp>
      <p:sp>
        <p:nvSpPr>
          <p:cNvPr id="40" name="Text 37"/>
          <p:cNvSpPr/>
          <p:nvPr/>
        </p:nvSpPr>
        <p:spPr>
          <a:xfrm>
            <a:off x="11201400" y="6473952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1E88E5"/>
                </a:solidFill>
              </a:rPr>
              <a:t>03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88E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4592" y="0"/>
            <a:ext cx="36576" cy="6858000"/>
          </a:xfrm>
          <a:prstGeom prst="rect">
            <a:avLst/>
          </a:prstGeom>
          <a:solidFill>
            <a:srgbClr val="00A6A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74320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88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SMART AUTONOMOUS VEHICLE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02920" y="530352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 collection and training set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502920" y="1024128"/>
            <a:ext cx="2011680" cy="0"/>
          </a:xfrm>
          <a:prstGeom prst="line">
            <a:avLst/>
          </a:prstGeom>
          <a:noFill/>
          <a:ln w="25400">
            <a:solidFill>
              <a:srgbClr val="00A6A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12648" y="1188720"/>
            <a:ext cx="5303520" cy="269748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7620">
            <a:solidFill>
              <a:srgbClr val="E7EDF6"/>
            </a:solidFill>
            <a:prstDash val="solid"/>
          </a:ln>
          <a:effectLst>
            <a:outerShdw blurRad="12700" dist="12700" dir="2700000" algn="bl" rotWithShape="0">
              <a:srgbClr val="0B1F3A">
                <a:alpha val="16000"/>
              </a:srgbClr>
            </a:outerShdw>
          </a:effectLst>
        </p:spPr>
      </p:sp>
      <p:pic>
        <p:nvPicPr>
          <p:cNvPr id="9" name="Image 0" descr="/mnt/data/slide_assets/crops/system_architec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898" y="1234440"/>
            <a:ext cx="4985019" cy="260604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850392" y="3986784"/>
            <a:ext cx="2743200" cy="310896"/>
          </a:xfrm>
          <a:prstGeom prst="roundRect">
            <a:avLst>
              <a:gd name="adj" fmla="val 26471"/>
            </a:avLst>
          </a:prstGeom>
          <a:solidFill>
            <a:srgbClr val="1E88E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60120" y="4064508"/>
            <a:ext cx="252374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Figure 1: capture → inference → movement</a:t>
            </a:r>
            <a:endParaRPr lang="en-US" sz="750" dirty="0"/>
          </a:p>
        </p:txBody>
      </p:sp>
      <p:sp>
        <p:nvSpPr>
          <p:cNvPr id="12" name="Shape 9"/>
          <p:cNvSpPr/>
          <p:nvPr/>
        </p:nvSpPr>
        <p:spPr>
          <a:xfrm>
            <a:off x="6446520" y="1188720"/>
            <a:ext cx="425196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7620">
            <a:solidFill>
              <a:srgbClr val="E7EDF6"/>
            </a:solidFill>
            <a:prstDash val="solid"/>
          </a:ln>
          <a:effectLst>
            <a:outerShdw blurRad="12700" dist="12700" dir="2700000" algn="bl" rotWithShape="0">
              <a:srgbClr val="0B1F3A">
                <a:alpha val="16000"/>
              </a:srgbClr>
            </a:outerShdw>
          </a:effectLst>
        </p:spPr>
      </p:sp>
      <p:pic>
        <p:nvPicPr>
          <p:cNvPr id="13" name="Image 1" descr="/mnt/data/slide_assets/crops/dataset_samp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0540" y="1234440"/>
            <a:ext cx="4103920" cy="269748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6693408" y="4069080"/>
            <a:ext cx="2468880" cy="310896"/>
          </a:xfrm>
          <a:prstGeom prst="roundRect">
            <a:avLst>
              <a:gd name="adj" fmla="val 26471"/>
            </a:avLst>
          </a:prstGeom>
          <a:solidFill>
            <a:srgbClr val="00A6A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6803136" y="4146804"/>
            <a:ext cx="22494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Figure 2: sample collected frames</a:t>
            </a:r>
            <a:endParaRPr lang="en-US" sz="750" dirty="0"/>
          </a:p>
        </p:txBody>
      </p:sp>
      <p:sp>
        <p:nvSpPr>
          <p:cNvPr id="16" name="Shape 12"/>
          <p:cNvSpPr/>
          <p:nvPr/>
        </p:nvSpPr>
        <p:spPr>
          <a:xfrm>
            <a:off x="731520" y="4892040"/>
            <a:ext cx="100584" cy="100584"/>
          </a:xfrm>
          <a:prstGeom prst="ellipse">
            <a:avLst/>
          </a:prstGeom>
          <a:solidFill>
            <a:srgbClr val="00A6A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960120" y="4800600"/>
            <a:ext cx="987552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B2430"/>
                </a:solidFill>
              </a:rPr>
              <a:t>Udacity simulator validated the plan before hardware testing.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731520" y="5303520"/>
            <a:ext cx="100584" cy="100584"/>
          </a:xfrm>
          <a:prstGeom prst="ellipse">
            <a:avLst/>
          </a:prstGeom>
          <a:solidFill>
            <a:srgbClr val="00A6A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960120" y="5212080"/>
            <a:ext cx="987552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B2430"/>
                </a:solidFill>
              </a:rPr>
              <a:t>Custom dataset was collected from self-laid tracks using the Pi camera.</a:t>
            </a:r>
            <a:endParaRPr lang="en-US" sz="1300" dirty="0"/>
          </a:p>
        </p:txBody>
      </p:sp>
      <p:sp>
        <p:nvSpPr>
          <p:cNvPr id="20" name="Shape 16"/>
          <p:cNvSpPr/>
          <p:nvPr/>
        </p:nvSpPr>
        <p:spPr>
          <a:xfrm>
            <a:off x="731520" y="5715000"/>
            <a:ext cx="100584" cy="100584"/>
          </a:xfrm>
          <a:prstGeom prst="ellipse">
            <a:avLst/>
          </a:prstGeom>
          <a:solidFill>
            <a:srgbClr val="00A6A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960120" y="5623560"/>
            <a:ext cx="987552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B2430"/>
                </a:solidFill>
              </a:rPr>
              <a:t>Frames were time-synchronized with the control command: left, right, or forward.</a:t>
            </a:r>
            <a:endParaRPr lang="en-US" sz="1300" dirty="0"/>
          </a:p>
        </p:txBody>
      </p:sp>
      <p:sp>
        <p:nvSpPr>
          <p:cNvPr id="22" name="Text 18"/>
          <p:cNvSpPr/>
          <p:nvPr/>
        </p:nvSpPr>
        <p:spPr>
          <a:xfrm>
            <a:off x="7680960" y="6547104"/>
            <a:ext cx="3474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20" i="1" dirty="0">
                <a:solidFill>
                  <a:srgbClr val="8A96A8"/>
                </a:solidFill>
              </a:rPr>
              <a:t>Source: Section 3.1, Figures 1–2</a:t>
            </a:r>
            <a:endParaRPr lang="en-US" sz="620" dirty="0"/>
          </a:p>
        </p:txBody>
      </p:sp>
      <p:sp>
        <p:nvSpPr>
          <p:cNvPr id="23" name="Shape 19"/>
          <p:cNvSpPr/>
          <p:nvPr/>
        </p:nvSpPr>
        <p:spPr>
          <a:xfrm>
            <a:off x="502920" y="6446520"/>
            <a:ext cx="11064240" cy="0"/>
          </a:xfrm>
          <a:prstGeom prst="line">
            <a:avLst/>
          </a:prstGeom>
          <a:noFill/>
          <a:ln w="7620">
            <a:solidFill>
              <a:srgbClr val="D8E2F0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502920" y="6547104"/>
            <a:ext cx="4754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64748B"/>
                </a:solidFill>
              </a:rPr>
              <a:t>Smart Autonomous Vehicle Using End-to-End Learning</a:t>
            </a:r>
            <a:endParaRPr lang="en-US" sz="680" dirty="0"/>
          </a:p>
        </p:txBody>
      </p:sp>
      <p:sp>
        <p:nvSpPr>
          <p:cNvPr id="25" name="Text 21"/>
          <p:cNvSpPr/>
          <p:nvPr/>
        </p:nvSpPr>
        <p:spPr>
          <a:xfrm>
            <a:off x="11201400" y="6473952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1E88E5"/>
                </a:solidFill>
              </a:rPr>
              <a:t>04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88E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4592" y="0"/>
            <a:ext cx="36576" cy="6858000"/>
          </a:xfrm>
          <a:prstGeom prst="rect">
            <a:avLst/>
          </a:prstGeom>
          <a:solidFill>
            <a:srgbClr val="00A6A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74320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88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SMART AUTONOMOUS VEHICLE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02920" y="530352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Pre-processing made the model robust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502920" y="1024128"/>
            <a:ext cx="2011680" cy="0"/>
          </a:xfrm>
          <a:prstGeom prst="line">
            <a:avLst/>
          </a:prstGeom>
          <a:noFill/>
          <a:ln w="25400">
            <a:solidFill>
              <a:srgbClr val="00A6A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1261872"/>
            <a:ext cx="6492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64748B"/>
                </a:solidFill>
              </a:rPr>
              <a:t>The paper emphasizes lightweight feature preparation before training the neural network.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777240" y="1874520"/>
            <a:ext cx="2926080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7620">
            <a:solidFill>
              <a:srgbClr val="E8EEF7"/>
            </a:solidFill>
            <a:prstDash val="solid"/>
          </a:ln>
          <a:effectLst>
            <a:outerShdw blurRad="12700" dist="12700" dir="2700000" algn="bl" rotWithShape="0">
              <a:srgbClr val="0B1F3A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77240" y="1874520"/>
            <a:ext cx="73152" cy="1225296"/>
          </a:xfrm>
          <a:prstGeom prst="rect">
            <a:avLst/>
          </a:prstGeom>
          <a:solidFill>
            <a:srgbClr val="00A6A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78408" y="2039112"/>
            <a:ext cx="25968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B1F3A"/>
                </a:solidFill>
              </a:rPr>
              <a:t>Crop + resize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978408" y="2313432"/>
            <a:ext cx="2596896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64748B"/>
                </a:solidFill>
              </a:rPr>
              <a:t>Remove unnecessary image area and reduce memory.</a:t>
            </a:r>
            <a:endParaRPr lang="en-US" sz="920" dirty="0"/>
          </a:p>
        </p:txBody>
      </p:sp>
      <p:sp>
        <p:nvSpPr>
          <p:cNvPr id="13" name="Shape 11"/>
          <p:cNvSpPr/>
          <p:nvPr/>
        </p:nvSpPr>
        <p:spPr>
          <a:xfrm>
            <a:off x="4343400" y="1874520"/>
            <a:ext cx="2926080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7620">
            <a:solidFill>
              <a:srgbClr val="E8EEF7"/>
            </a:solidFill>
            <a:prstDash val="solid"/>
          </a:ln>
          <a:effectLst>
            <a:outerShdw blurRad="12700" dist="12700" dir="2700000" algn="bl" rotWithShape="0">
              <a:srgbClr val="0B1F3A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343400" y="1874520"/>
            <a:ext cx="73152" cy="1225296"/>
          </a:xfrm>
          <a:prstGeom prst="rect">
            <a:avLst/>
          </a:prstGeom>
          <a:solidFill>
            <a:srgbClr val="1E88E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44568" y="2039112"/>
            <a:ext cx="25968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B1F3A"/>
                </a:solidFill>
              </a:rPr>
              <a:t>YUV color space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544568" y="2313432"/>
            <a:ext cx="2596896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64748B"/>
                </a:solidFill>
              </a:rPr>
              <a:t>Efficient representation for vision tasks.</a:t>
            </a:r>
            <a:endParaRPr lang="en-US" sz="920" dirty="0"/>
          </a:p>
        </p:txBody>
      </p:sp>
      <p:sp>
        <p:nvSpPr>
          <p:cNvPr id="17" name="Shape 15"/>
          <p:cNvSpPr/>
          <p:nvPr/>
        </p:nvSpPr>
        <p:spPr>
          <a:xfrm>
            <a:off x="7909560" y="1874520"/>
            <a:ext cx="2926080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7620">
            <a:solidFill>
              <a:srgbClr val="E8EEF7"/>
            </a:solidFill>
            <a:prstDash val="solid"/>
          </a:ln>
          <a:effectLst>
            <a:outerShdw blurRad="12700" dist="12700" dir="2700000" algn="bl" rotWithShape="0">
              <a:srgbClr val="0B1F3A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909560" y="1874520"/>
            <a:ext cx="73152" cy="1225296"/>
          </a:xfrm>
          <a:prstGeom prst="rect">
            <a:avLst/>
          </a:prstGeom>
          <a:solidFill>
            <a:srgbClr val="D8334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110728" y="2039112"/>
            <a:ext cx="25968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B1F3A"/>
                </a:solidFill>
              </a:rPr>
              <a:t>Flip turns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8110728" y="2313432"/>
            <a:ext cx="2596896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64748B"/>
                </a:solidFill>
              </a:rPr>
              <a:t>Augment left/right turning data.</a:t>
            </a:r>
            <a:endParaRPr lang="en-US" sz="920" dirty="0"/>
          </a:p>
        </p:txBody>
      </p:sp>
      <p:sp>
        <p:nvSpPr>
          <p:cNvPr id="21" name="Shape 19"/>
          <p:cNvSpPr/>
          <p:nvPr/>
        </p:nvSpPr>
        <p:spPr>
          <a:xfrm>
            <a:off x="777240" y="4069080"/>
            <a:ext cx="2926080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7620">
            <a:solidFill>
              <a:srgbClr val="E8EEF7"/>
            </a:solidFill>
            <a:prstDash val="solid"/>
          </a:ln>
          <a:effectLst>
            <a:outerShdw blurRad="12700" dist="12700" dir="2700000" algn="bl" rotWithShape="0">
              <a:srgbClr val="0B1F3A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77240" y="4069080"/>
            <a:ext cx="73152" cy="1225296"/>
          </a:xfrm>
          <a:prstGeom prst="rect">
            <a:avLst/>
          </a:prstGeom>
          <a:solidFill>
            <a:srgbClr val="F5A62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78408" y="4233672"/>
            <a:ext cx="25968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B1F3A"/>
                </a:solidFill>
              </a:rPr>
              <a:t>Brightness jitter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978408" y="4507992"/>
            <a:ext cx="2596896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64748B"/>
                </a:solidFill>
              </a:rPr>
              <a:t>Handle varied lighting conditions.</a:t>
            </a:r>
            <a:endParaRPr lang="en-US" sz="920" dirty="0"/>
          </a:p>
        </p:txBody>
      </p:sp>
      <p:sp>
        <p:nvSpPr>
          <p:cNvPr id="25" name="Shape 23"/>
          <p:cNvSpPr/>
          <p:nvPr/>
        </p:nvSpPr>
        <p:spPr>
          <a:xfrm>
            <a:off x="4343400" y="4069080"/>
            <a:ext cx="2926080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7620">
            <a:solidFill>
              <a:srgbClr val="E8EEF7"/>
            </a:solidFill>
            <a:prstDash val="solid"/>
          </a:ln>
          <a:effectLst>
            <a:outerShdw blurRad="12700" dist="12700" dir="2700000" algn="bl" rotWithShape="0">
              <a:srgbClr val="0B1F3A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343400" y="4069080"/>
            <a:ext cx="73152" cy="1225296"/>
          </a:xfrm>
          <a:prstGeom prst="rect">
            <a:avLst/>
          </a:prstGeom>
          <a:solidFill>
            <a:srgbClr val="0B1F3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44568" y="4233672"/>
            <a:ext cx="25968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B1F3A"/>
                </a:solidFill>
              </a:rPr>
              <a:t>Gaussian blur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544568" y="4507992"/>
            <a:ext cx="2596896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64748B"/>
                </a:solidFill>
              </a:rPr>
              <a:t>Smooth noise in camera frames.</a:t>
            </a:r>
            <a:endParaRPr lang="en-US" sz="920" dirty="0"/>
          </a:p>
        </p:txBody>
      </p:sp>
      <p:sp>
        <p:nvSpPr>
          <p:cNvPr id="29" name="Shape 27"/>
          <p:cNvSpPr/>
          <p:nvPr/>
        </p:nvSpPr>
        <p:spPr>
          <a:xfrm>
            <a:off x="7909560" y="4069080"/>
            <a:ext cx="2926080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7620">
            <a:solidFill>
              <a:srgbClr val="E8EEF7"/>
            </a:solidFill>
            <a:prstDash val="solid"/>
          </a:ln>
          <a:effectLst>
            <a:outerShdw blurRad="12700" dist="12700" dir="2700000" algn="bl" rotWithShape="0">
              <a:srgbClr val="0B1F3A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909560" y="4069080"/>
            <a:ext cx="73152" cy="1225296"/>
          </a:xfrm>
          <a:prstGeom prst="rect">
            <a:avLst/>
          </a:prstGeom>
          <a:solidFill>
            <a:srgbClr val="00A6A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110728" y="4233672"/>
            <a:ext cx="25968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B1F3A"/>
                </a:solidFill>
              </a:rPr>
              <a:t>Normalize classes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8110728" y="4507992"/>
            <a:ext cx="2596896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64748B"/>
                </a:solidFill>
              </a:rPr>
              <a:t>Reduce straight-driving bias.</a:t>
            </a:r>
            <a:endParaRPr lang="en-US" sz="920" dirty="0"/>
          </a:p>
        </p:txBody>
      </p:sp>
      <p:sp>
        <p:nvSpPr>
          <p:cNvPr id="33" name="Shape 31"/>
          <p:cNvSpPr/>
          <p:nvPr/>
        </p:nvSpPr>
        <p:spPr>
          <a:xfrm>
            <a:off x="502920" y="5760720"/>
            <a:ext cx="10607040" cy="18288"/>
          </a:xfrm>
          <a:prstGeom prst="rect">
            <a:avLst/>
          </a:prstGeom>
          <a:solidFill>
            <a:srgbClr val="D8E2F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143000" y="5870448"/>
            <a:ext cx="9326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i="1" dirty="0">
                <a:solidFill>
                  <a:srgbClr val="0B1F3A"/>
                </a:solidFill>
              </a:rPr>
              <a:t>Goal: convert small camera frames into reliable driving decisions with limited computation.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7680960" y="6547104"/>
            <a:ext cx="3474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20" i="1" dirty="0">
                <a:solidFill>
                  <a:srgbClr val="8A96A8"/>
                </a:solidFill>
              </a:rPr>
              <a:t>Source: Section 3.3, feature extraction</a:t>
            </a:r>
            <a:endParaRPr lang="en-US" sz="620" dirty="0"/>
          </a:p>
        </p:txBody>
      </p:sp>
      <p:sp>
        <p:nvSpPr>
          <p:cNvPr id="36" name="Shape 34"/>
          <p:cNvSpPr/>
          <p:nvPr/>
        </p:nvSpPr>
        <p:spPr>
          <a:xfrm>
            <a:off x="502920" y="6446520"/>
            <a:ext cx="11064240" cy="0"/>
          </a:xfrm>
          <a:prstGeom prst="line">
            <a:avLst/>
          </a:prstGeom>
          <a:noFill/>
          <a:ln w="7620">
            <a:solidFill>
              <a:srgbClr val="D8E2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2920" y="6547104"/>
            <a:ext cx="4754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64748B"/>
                </a:solidFill>
              </a:rPr>
              <a:t>Smart Autonomous Vehicle Using End-to-End Learning</a:t>
            </a:r>
            <a:endParaRPr lang="en-US" sz="680" dirty="0"/>
          </a:p>
        </p:txBody>
      </p:sp>
      <p:sp>
        <p:nvSpPr>
          <p:cNvPr id="38" name="Text 36"/>
          <p:cNvSpPr/>
          <p:nvPr/>
        </p:nvSpPr>
        <p:spPr>
          <a:xfrm>
            <a:off x="11201400" y="6473952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1E88E5"/>
                </a:solidFill>
              </a:rPr>
              <a:t>05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88E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4592" y="0"/>
            <a:ext cx="36576" cy="6858000"/>
          </a:xfrm>
          <a:prstGeom prst="rect">
            <a:avLst/>
          </a:prstGeom>
          <a:solidFill>
            <a:srgbClr val="00A6A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74320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88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SMART AUTONOMOUS VEHICLE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02920" y="530352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CNN architecture: transfer learning with VGG16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502920" y="1024128"/>
            <a:ext cx="2011680" cy="0"/>
          </a:xfrm>
          <a:prstGeom prst="line">
            <a:avLst/>
          </a:prstGeom>
          <a:noFill/>
          <a:ln w="25400">
            <a:solidFill>
              <a:srgbClr val="00A6A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280160"/>
            <a:ext cx="6812280" cy="4069080"/>
          </a:xfrm>
          <a:prstGeom prst="roundRect">
            <a:avLst>
              <a:gd name="adj" fmla="val 2247"/>
            </a:avLst>
          </a:prstGeom>
          <a:solidFill>
            <a:srgbClr val="FFFFFF"/>
          </a:solidFill>
          <a:ln w="7620">
            <a:solidFill>
              <a:srgbClr val="E7EDF6"/>
            </a:solidFill>
            <a:prstDash val="solid"/>
          </a:ln>
          <a:effectLst>
            <a:outerShdw blurRad="12700" dist="12700" dir="2700000" algn="bl" rotWithShape="0">
              <a:srgbClr val="0B1F3A">
                <a:alpha val="16000"/>
              </a:srgbClr>
            </a:outerShdw>
          </a:effectLst>
        </p:spPr>
      </p:sp>
      <p:pic>
        <p:nvPicPr>
          <p:cNvPr id="9" name="Image 0" descr="/mnt/data/slide_assets/crops/vgg_architec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1325880"/>
            <a:ext cx="6172200" cy="397764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7973568" y="1325880"/>
            <a:ext cx="54864" cy="3977640"/>
          </a:xfrm>
          <a:prstGeom prst="rect">
            <a:avLst/>
          </a:prstGeom>
          <a:solidFill>
            <a:srgbClr val="00A6A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229600" y="138988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F3A"/>
                </a:solidFill>
              </a:rPr>
              <a:t>Architecture summary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8229600" y="1965960"/>
            <a:ext cx="100584" cy="100584"/>
          </a:xfrm>
          <a:prstGeom prst="ellipse">
            <a:avLst/>
          </a:prstGeom>
          <a:solidFill>
            <a:srgbClr val="00A6A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458200" y="1874520"/>
            <a:ext cx="274320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B2430"/>
                </a:solidFill>
              </a:rPr>
              <a:t>Input: 3 × 224 × 224 image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8229600" y="2459736"/>
            <a:ext cx="100584" cy="100584"/>
          </a:xfrm>
          <a:prstGeom prst="ellipse">
            <a:avLst/>
          </a:prstGeom>
          <a:solidFill>
            <a:srgbClr val="00A6A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458200" y="2368296"/>
            <a:ext cx="274320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B2430"/>
                </a:solidFill>
              </a:rPr>
              <a:t>Pre-trained VGG16 used for feature extraction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8229600" y="2953512"/>
            <a:ext cx="100584" cy="100584"/>
          </a:xfrm>
          <a:prstGeom prst="ellipse">
            <a:avLst/>
          </a:prstGeom>
          <a:solidFill>
            <a:srgbClr val="00A6A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458200" y="2862072"/>
            <a:ext cx="274320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B2430"/>
                </a:solidFill>
              </a:rPr>
              <a:t>Top fully-connected layers replaced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8229600" y="3447288"/>
            <a:ext cx="100584" cy="100584"/>
          </a:xfrm>
          <a:prstGeom prst="ellipse">
            <a:avLst/>
          </a:prstGeom>
          <a:solidFill>
            <a:srgbClr val="00A6A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458200" y="3355848"/>
            <a:ext cx="274320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B2430"/>
                </a:solidFill>
              </a:rPr>
              <a:t>Two dense layers of 128 units each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8229600" y="3941064"/>
            <a:ext cx="100584" cy="100584"/>
          </a:xfrm>
          <a:prstGeom prst="ellipse">
            <a:avLst/>
          </a:prstGeom>
          <a:solidFill>
            <a:srgbClr val="00A6A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458200" y="3849624"/>
            <a:ext cx="274320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B2430"/>
                </a:solidFill>
              </a:rPr>
              <a:t>Output: 3 classes — left, right, forward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8229600" y="4800600"/>
            <a:ext cx="2697480" cy="758952"/>
          </a:xfrm>
          <a:prstGeom prst="roundRect">
            <a:avLst>
              <a:gd name="adj" fmla="val 9639"/>
            </a:avLst>
          </a:prstGeom>
          <a:solidFill>
            <a:srgbClr val="FFFFFF"/>
          </a:solidFill>
          <a:ln w="7620">
            <a:solidFill>
              <a:srgbClr val="E8EEF7"/>
            </a:solidFill>
            <a:prstDash val="solid"/>
          </a:ln>
          <a:effectLst>
            <a:outerShdw blurRad="12700" dist="12700" dir="2700000" algn="bl" rotWithShape="0">
              <a:srgbClr val="0B1F3A">
                <a:alpha val="8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8229600" y="4800600"/>
            <a:ext cx="73152" cy="758952"/>
          </a:xfrm>
          <a:prstGeom prst="rect">
            <a:avLst/>
          </a:prstGeom>
          <a:solidFill>
            <a:srgbClr val="1E88E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8430768" y="4965192"/>
            <a:ext cx="23682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B1F3A"/>
                </a:solidFill>
              </a:rPr>
              <a:t>Training setup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8430768" y="5239512"/>
            <a:ext cx="2368296" cy="155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70000" lnSpcReduction="20000"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64748B"/>
                </a:solidFill>
              </a:rPr>
              <a:t>Adam optimizer, learning rate 0.01, categorical cross-entropy loss.</a:t>
            </a:r>
            <a:endParaRPr lang="en-US" sz="920" dirty="0"/>
          </a:p>
        </p:txBody>
      </p:sp>
      <p:sp>
        <p:nvSpPr>
          <p:cNvPr id="26" name="Text 23"/>
          <p:cNvSpPr/>
          <p:nvPr/>
        </p:nvSpPr>
        <p:spPr>
          <a:xfrm>
            <a:off x="7680960" y="6547104"/>
            <a:ext cx="3474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20" i="1" dirty="0">
                <a:solidFill>
                  <a:srgbClr val="8A96A8"/>
                </a:solidFill>
              </a:rPr>
              <a:t>Source: Section 3.4, Figure 3</a:t>
            </a:r>
            <a:endParaRPr lang="en-US" sz="620" dirty="0"/>
          </a:p>
        </p:txBody>
      </p:sp>
      <p:sp>
        <p:nvSpPr>
          <p:cNvPr id="27" name="Shape 24"/>
          <p:cNvSpPr/>
          <p:nvPr/>
        </p:nvSpPr>
        <p:spPr>
          <a:xfrm>
            <a:off x="502920" y="6446520"/>
            <a:ext cx="11064240" cy="0"/>
          </a:xfrm>
          <a:prstGeom prst="line">
            <a:avLst/>
          </a:prstGeom>
          <a:noFill/>
          <a:ln w="7620">
            <a:solidFill>
              <a:srgbClr val="D8E2F0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02920" y="6547104"/>
            <a:ext cx="4754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64748B"/>
                </a:solidFill>
              </a:rPr>
              <a:t>Smart Autonomous Vehicle Using End-to-End Learning</a:t>
            </a:r>
            <a:endParaRPr lang="en-US" sz="680" dirty="0"/>
          </a:p>
        </p:txBody>
      </p:sp>
      <p:sp>
        <p:nvSpPr>
          <p:cNvPr id="29" name="Text 26"/>
          <p:cNvSpPr/>
          <p:nvPr/>
        </p:nvSpPr>
        <p:spPr>
          <a:xfrm>
            <a:off x="11201400" y="6473952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1E88E5"/>
                </a:solidFill>
              </a:rPr>
              <a:t>06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88E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4592" y="0"/>
            <a:ext cx="36576" cy="6858000"/>
          </a:xfrm>
          <a:prstGeom prst="rect">
            <a:avLst/>
          </a:prstGeom>
          <a:solidFill>
            <a:srgbClr val="00A6A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74320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88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SMART AUTONOMOUS VEHICLE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02920" y="530352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Hardware deployment on an RC car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502920" y="1024128"/>
            <a:ext cx="2011680" cy="0"/>
          </a:xfrm>
          <a:prstGeom prst="line">
            <a:avLst/>
          </a:prstGeom>
          <a:noFill/>
          <a:ln w="25400">
            <a:solidFill>
              <a:srgbClr val="00A6A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1225296"/>
            <a:ext cx="7040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</a:rPr>
              <a:t>The prototype connects perception, processing, and actuation through Raspberry Pi and GPIO-driven remote control.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68680" y="1938528"/>
            <a:ext cx="141732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240">
            <a:solidFill>
              <a:srgbClr val="00A6A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8408" y="2185416"/>
            <a:ext cx="11978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1F3A"/>
                </a:solidFill>
              </a:rPr>
              <a:t>Pi Camera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971800" y="1938528"/>
            <a:ext cx="164592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240">
            <a:solidFill>
              <a:srgbClr val="1E88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081528" y="2185416"/>
            <a:ext cx="1426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1F3A"/>
                </a:solidFill>
              </a:rPr>
              <a:t>Raspberry Pi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349240" y="1938528"/>
            <a:ext cx="178308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240">
            <a:solidFill>
              <a:srgbClr val="F5A62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58968" y="2185416"/>
            <a:ext cx="1563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1F3A"/>
                </a:solidFill>
              </a:rPr>
              <a:t>Serial Interface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818120" y="1938528"/>
            <a:ext cx="160020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240">
            <a:solidFill>
              <a:srgbClr val="D833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927848" y="2185416"/>
            <a:ext cx="1380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1F3A"/>
                </a:solidFill>
              </a:rPr>
              <a:t>GPIO Signals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9921240" y="1938528"/>
            <a:ext cx="141732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240">
            <a:solidFill>
              <a:srgbClr val="0B1F3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030968" y="2185416"/>
            <a:ext cx="11978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1F3A"/>
                </a:solidFill>
              </a:rPr>
              <a:t>RC Remote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286000" y="2304288"/>
            <a:ext cx="685800" cy="0"/>
          </a:xfrm>
          <a:prstGeom prst="line">
            <a:avLst/>
          </a:prstGeom>
          <a:noFill/>
          <a:ln w="22860">
            <a:solidFill>
              <a:srgbClr val="00A6A6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4617720" y="2304288"/>
            <a:ext cx="731520" cy="0"/>
          </a:xfrm>
          <a:prstGeom prst="line">
            <a:avLst/>
          </a:prstGeom>
          <a:noFill/>
          <a:ln w="22860">
            <a:solidFill>
              <a:srgbClr val="1E88E5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7132320" y="2304288"/>
            <a:ext cx="685800" cy="0"/>
          </a:xfrm>
          <a:prstGeom prst="line">
            <a:avLst/>
          </a:prstGeom>
          <a:noFill/>
          <a:ln w="22860">
            <a:solidFill>
              <a:srgbClr val="F5A623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9418320" y="2304288"/>
            <a:ext cx="502920" cy="0"/>
          </a:xfrm>
          <a:prstGeom prst="line">
            <a:avLst/>
          </a:prstGeom>
          <a:noFill/>
          <a:ln w="22860">
            <a:solidFill>
              <a:srgbClr val="D8334A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868680" y="3657600"/>
            <a:ext cx="301752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7620">
            <a:solidFill>
              <a:srgbClr val="E8EEF7"/>
            </a:solidFill>
            <a:prstDash val="solid"/>
          </a:ln>
          <a:effectLst>
            <a:outerShdw blurRad="12700" dist="12700" dir="2700000" algn="bl" rotWithShape="0">
              <a:srgbClr val="0B1F3A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868680" y="3657600"/>
            <a:ext cx="73152" cy="1097280"/>
          </a:xfrm>
          <a:prstGeom prst="rect">
            <a:avLst/>
          </a:prstGeom>
          <a:solidFill>
            <a:srgbClr val="1E88E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69848" y="3822192"/>
            <a:ext cx="2688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B1F3A"/>
                </a:solidFill>
              </a:rPr>
              <a:t>What the Pi does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1069848" y="4096512"/>
            <a:ext cx="2688336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64748B"/>
                </a:solidFill>
              </a:rPr>
              <a:t>Receives frames, runs neural-network inference, and sends the predicted command.</a:t>
            </a:r>
            <a:endParaRPr lang="en-US" sz="920" dirty="0"/>
          </a:p>
        </p:txBody>
      </p:sp>
      <p:sp>
        <p:nvSpPr>
          <p:cNvPr id="27" name="Shape 25"/>
          <p:cNvSpPr/>
          <p:nvPr/>
        </p:nvSpPr>
        <p:spPr>
          <a:xfrm>
            <a:off x="4526280" y="3657600"/>
            <a:ext cx="301752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7620">
            <a:solidFill>
              <a:srgbClr val="E8EEF7"/>
            </a:solidFill>
            <a:prstDash val="solid"/>
          </a:ln>
          <a:effectLst>
            <a:outerShdw blurRad="12700" dist="12700" dir="2700000" algn="bl" rotWithShape="0">
              <a:srgbClr val="0B1F3A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526280" y="3657600"/>
            <a:ext cx="73152" cy="1097280"/>
          </a:xfrm>
          <a:prstGeom prst="rect">
            <a:avLst/>
          </a:prstGeom>
          <a:solidFill>
            <a:srgbClr val="D8334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27448" y="3822192"/>
            <a:ext cx="2688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B1F3A"/>
                </a:solidFill>
              </a:rPr>
              <a:t>How actuation works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727448" y="4096512"/>
            <a:ext cx="2688336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64748B"/>
                </a:solidFill>
              </a:rPr>
              <a:t>The Pi simulates remote button presses by writing HIGH/LOW signals to GPIO pins.</a:t>
            </a:r>
            <a:endParaRPr lang="en-US" sz="920" dirty="0"/>
          </a:p>
        </p:txBody>
      </p:sp>
      <p:sp>
        <p:nvSpPr>
          <p:cNvPr id="31" name="Shape 29"/>
          <p:cNvSpPr/>
          <p:nvPr/>
        </p:nvSpPr>
        <p:spPr>
          <a:xfrm>
            <a:off x="8183880" y="3657600"/>
            <a:ext cx="301752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7620">
            <a:solidFill>
              <a:srgbClr val="E8EEF7"/>
            </a:solidFill>
            <a:prstDash val="solid"/>
          </a:ln>
          <a:effectLst>
            <a:outerShdw blurRad="12700" dist="12700" dir="2700000" algn="bl" rotWithShape="0">
              <a:srgbClr val="0B1F3A">
                <a:alpha val="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8183880" y="3657600"/>
            <a:ext cx="73152" cy="1097280"/>
          </a:xfrm>
          <a:prstGeom prst="rect">
            <a:avLst/>
          </a:prstGeom>
          <a:solidFill>
            <a:srgbClr val="00A6A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385048" y="3822192"/>
            <a:ext cx="2688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B1F3A"/>
                </a:solidFill>
              </a:rPr>
              <a:t>Why it matters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8385048" y="4096512"/>
            <a:ext cx="2688336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64748B"/>
                </a:solidFill>
              </a:rPr>
              <a:t>The setup is low-cost, reproducible, and suitable for controlled-environment prototyping.</a:t>
            </a:r>
            <a:endParaRPr lang="en-US" sz="920" dirty="0"/>
          </a:p>
        </p:txBody>
      </p:sp>
      <p:sp>
        <p:nvSpPr>
          <p:cNvPr id="35" name="Shape 33"/>
          <p:cNvSpPr/>
          <p:nvPr/>
        </p:nvSpPr>
        <p:spPr>
          <a:xfrm>
            <a:off x="3959352" y="5074920"/>
            <a:ext cx="384048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7620">
            <a:solidFill>
              <a:srgbClr val="E7EDF6"/>
            </a:solidFill>
            <a:prstDash val="solid"/>
          </a:ln>
          <a:effectLst>
            <a:outerShdw blurRad="12700" dist="12700" dir="2700000" algn="bl" rotWithShape="0">
              <a:srgbClr val="0B1F3A">
                <a:alpha val="16000"/>
              </a:srgbClr>
            </a:outerShdw>
          </a:effectLst>
        </p:spPr>
      </p:sp>
      <p:pic>
        <p:nvPicPr>
          <p:cNvPr id="36" name="Image 0" descr="/mnt/data/slide_assets/crops/sim_prediction.png"/>
          <p:cNvPicPr>
            <a:picLocks noChangeAspect="1"/>
          </p:cNvPicPr>
          <p:nvPr/>
        </p:nvPicPr>
        <p:blipFill>
          <a:blip r:embed="rId3"/>
          <a:srcRect t="36589" b="36589"/>
          <a:stretch/>
        </p:blipFill>
        <p:spPr>
          <a:xfrm>
            <a:off x="4005072" y="5120640"/>
            <a:ext cx="3749040" cy="777240"/>
          </a:xfrm>
          <a:prstGeom prst="rect">
            <a:avLst/>
          </a:prstGeom>
        </p:spPr>
      </p:pic>
      <p:sp>
        <p:nvSpPr>
          <p:cNvPr id="37" name="Text 34"/>
          <p:cNvSpPr/>
          <p:nvPr/>
        </p:nvSpPr>
        <p:spPr>
          <a:xfrm>
            <a:off x="7680960" y="6547104"/>
            <a:ext cx="3474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20" i="1" dirty="0">
                <a:solidFill>
                  <a:srgbClr val="8A96A8"/>
                </a:solidFill>
              </a:rPr>
              <a:t>Source: Sections 3.2–3.3</a:t>
            </a:r>
            <a:endParaRPr lang="en-US" sz="620" dirty="0"/>
          </a:p>
        </p:txBody>
      </p:sp>
      <p:sp>
        <p:nvSpPr>
          <p:cNvPr id="38" name="Shape 35"/>
          <p:cNvSpPr/>
          <p:nvPr/>
        </p:nvSpPr>
        <p:spPr>
          <a:xfrm>
            <a:off x="502920" y="6446520"/>
            <a:ext cx="11064240" cy="0"/>
          </a:xfrm>
          <a:prstGeom prst="line">
            <a:avLst/>
          </a:prstGeom>
          <a:noFill/>
          <a:ln w="7620">
            <a:solidFill>
              <a:srgbClr val="D8E2F0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502920" y="6547104"/>
            <a:ext cx="4754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64748B"/>
                </a:solidFill>
              </a:rPr>
              <a:t>Smart Autonomous Vehicle Using End-to-End Learning</a:t>
            </a:r>
            <a:endParaRPr lang="en-US" sz="680" dirty="0"/>
          </a:p>
        </p:txBody>
      </p:sp>
      <p:sp>
        <p:nvSpPr>
          <p:cNvPr id="40" name="Text 37"/>
          <p:cNvSpPr/>
          <p:nvPr/>
        </p:nvSpPr>
        <p:spPr>
          <a:xfrm>
            <a:off x="11201400" y="6473952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1E88E5"/>
                </a:solidFill>
              </a:rPr>
              <a:t>07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88E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4592" y="0"/>
            <a:ext cx="36576" cy="6858000"/>
          </a:xfrm>
          <a:prstGeom prst="rect">
            <a:avLst/>
          </a:prstGeom>
          <a:solidFill>
            <a:srgbClr val="00A6A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74320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88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SMART AUTONOMOUS VEHICLE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02920" y="530352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Result: strong reported accuracy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502920" y="1024128"/>
            <a:ext cx="2011680" cy="0"/>
          </a:xfrm>
          <a:prstGeom prst="line">
            <a:avLst/>
          </a:prstGeom>
          <a:noFill/>
          <a:ln w="25400">
            <a:solidFill>
              <a:srgbClr val="00A6A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1216152"/>
            <a:ext cx="6126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</a:rPr>
              <a:t>The proposed model reported the highest accuracy in the comparison table.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96112" y="1911096"/>
            <a:ext cx="14447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B2430"/>
                </a:solidFill>
              </a:rPr>
              <a:t>Muller 2006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496312" y="1847088"/>
            <a:ext cx="4114800" cy="384048"/>
          </a:xfrm>
          <a:prstGeom prst="rect">
            <a:avLst/>
          </a:prstGeom>
          <a:solidFill>
            <a:srgbClr val="E2E8F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496312" y="1847088"/>
            <a:ext cx="3086100" cy="384048"/>
          </a:xfrm>
          <a:prstGeom prst="rect">
            <a:avLst/>
          </a:prstGeom>
          <a:solidFill>
            <a:srgbClr val="1E88E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29400" y="1920240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b="1" dirty="0">
                <a:solidFill>
                  <a:srgbClr val="0B1F3A"/>
                </a:solidFill>
              </a:rPr>
              <a:t>75%</a:t>
            </a:r>
            <a:endParaRPr lang="en-US" sz="820" dirty="0"/>
          </a:p>
        </p:txBody>
      </p:sp>
      <p:sp>
        <p:nvSpPr>
          <p:cNvPr id="13" name="Text 11"/>
          <p:cNvSpPr/>
          <p:nvPr/>
        </p:nvSpPr>
        <p:spPr>
          <a:xfrm>
            <a:off x="896112" y="2441448"/>
            <a:ext cx="14447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B2430"/>
                </a:solidFill>
              </a:rPr>
              <a:t>Mori 2019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496312" y="2377440"/>
            <a:ext cx="4114800" cy="384048"/>
          </a:xfrm>
          <a:prstGeom prst="rect">
            <a:avLst/>
          </a:prstGeom>
          <a:solidFill>
            <a:srgbClr val="E2E8F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496312" y="2377440"/>
            <a:ext cx="3250692" cy="384048"/>
          </a:xfrm>
          <a:prstGeom prst="rect">
            <a:avLst/>
          </a:prstGeom>
          <a:solidFill>
            <a:srgbClr val="1E88E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29400" y="2450592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b="1" dirty="0">
                <a:solidFill>
                  <a:srgbClr val="0B1F3A"/>
                </a:solidFill>
              </a:rPr>
              <a:t>79%</a:t>
            </a:r>
            <a:endParaRPr lang="en-US" sz="820" dirty="0"/>
          </a:p>
        </p:txBody>
      </p:sp>
      <p:sp>
        <p:nvSpPr>
          <p:cNvPr id="17" name="Text 15"/>
          <p:cNvSpPr/>
          <p:nvPr/>
        </p:nvSpPr>
        <p:spPr>
          <a:xfrm>
            <a:off x="896112" y="2971800"/>
            <a:ext cx="14447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B2430"/>
                </a:solidFill>
              </a:rPr>
              <a:t>Xu 2017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2496312" y="2907792"/>
            <a:ext cx="4114800" cy="384048"/>
          </a:xfrm>
          <a:prstGeom prst="rect">
            <a:avLst/>
          </a:prstGeom>
          <a:solidFill>
            <a:srgbClr val="E2E8F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496312" y="2907792"/>
            <a:ext cx="3481121" cy="384048"/>
          </a:xfrm>
          <a:prstGeom prst="rect">
            <a:avLst/>
          </a:prstGeom>
          <a:solidFill>
            <a:srgbClr val="1E88E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29400" y="2980944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b="1" dirty="0">
                <a:solidFill>
                  <a:srgbClr val="0B1F3A"/>
                </a:solidFill>
              </a:rPr>
              <a:t>84.6%</a:t>
            </a:r>
            <a:endParaRPr lang="en-US" sz="820" dirty="0"/>
          </a:p>
        </p:txBody>
      </p:sp>
      <p:sp>
        <p:nvSpPr>
          <p:cNvPr id="21" name="Text 19"/>
          <p:cNvSpPr/>
          <p:nvPr/>
        </p:nvSpPr>
        <p:spPr>
          <a:xfrm>
            <a:off x="896112" y="3502152"/>
            <a:ext cx="14447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B2430"/>
                </a:solidFill>
              </a:rPr>
              <a:t>Bojarski 2016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2496312" y="3438144"/>
            <a:ext cx="4114800" cy="384048"/>
          </a:xfrm>
          <a:prstGeom prst="rect">
            <a:avLst/>
          </a:prstGeom>
          <a:solidFill>
            <a:srgbClr val="E2E8F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496312" y="3438144"/>
            <a:ext cx="3621024" cy="384048"/>
          </a:xfrm>
          <a:prstGeom prst="rect">
            <a:avLst/>
          </a:prstGeom>
          <a:solidFill>
            <a:srgbClr val="1E88E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629400" y="3511296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b="1" dirty="0">
                <a:solidFill>
                  <a:srgbClr val="0B1F3A"/>
                </a:solidFill>
              </a:rPr>
              <a:t>88%</a:t>
            </a:r>
            <a:endParaRPr lang="en-US" sz="820" dirty="0"/>
          </a:p>
        </p:txBody>
      </p:sp>
      <p:sp>
        <p:nvSpPr>
          <p:cNvPr id="25" name="Text 23"/>
          <p:cNvSpPr/>
          <p:nvPr/>
        </p:nvSpPr>
        <p:spPr>
          <a:xfrm>
            <a:off x="896112" y="4032504"/>
            <a:ext cx="14447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B2430"/>
                </a:solidFill>
              </a:rPr>
              <a:t>Proposed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2496312" y="3968496"/>
            <a:ext cx="4114800" cy="384048"/>
          </a:xfrm>
          <a:prstGeom prst="rect">
            <a:avLst/>
          </a:prstGeom>
          <a:solidFill>
            <a:srgbClr val="E2E8F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496312" y="3968496"/>
            <a:ext cx="4032504" cy="384048"/>
          </a:xfrm>
          <a:prstGeom prst="rect">
            <a:avLst/>
          </a:prstGeom>
          <a:solidFill>
            <a:srgbClr val="D8334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629400" y="4041648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b="1" dirty="0">
                <a:solidFill>
                  <a:srgbClr val="0B1F3A"/>
                </a:solidFill>
              </a:rPr>
              <a:t>98%</a:t>
            </a:r>
            <a:endParaRPr lang="en-US" sz="820" dirty="0"/>
          </a:p>
        </p:txBody>
      </p:sp>
      <p:sp>
        <p:nvSpPr>
          <p:cNvPr id="29" name="Shape 27"/>
          <p:cNvSpPr/>
          <p:nvPr/>
        </p:nvSpPr>
        <p:spPr>
          <a:xfrm>
            <a:off x="7406640" y="1508760"/>
            <a:ext cx="3566160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7620">
            <a:solidFill>
              <a:srgbClr val="E7EDF6"/>
            </a:solidFill>
            <a:prstDash val="solid"/>
          </a:ln>
          <a:effectLst>
            <a:outerShdw blurRad="12700" dist="12700" dir="2700000" algn="bl" rotWithShape="0">
              <a:srgbClr val="0B1F3A">
                <a:alpha val="16000"/>
              </a:srgbClr>
            </a:outerShdw>
          </a:effectLst>
        </p:spPr>
      </p:sp>
      <p:pic>
        <p:nvPicPr>
          <p:cNvPr id="30" name="Image 0" descr="/mnt/data/slide_assets/crops/loss_graph.png"/>
          <p:cNvPicPr>
            <a:picLocks noChangeAspect="1"/>
          </p:cNvPicPr>
          <p:nvPr/>
        </p:nvPicPr>
        <p:blipFill>
          <a:blip r:embed="rId3"/>
          <a:srcRect l="2670" r="2670"/>
          <a:stretch/>
        </p:blipFill>
        <p:spPr>
          <a:xfrm>
            <a:off x="7452360" y="1554480"/>
            <a:ext cx="3474720" cy="2148840"/>
          </a:xfrm>
          <a:prstGeom prst="rect">
            <a:avLst/>
          </a:prstGeom>
        </p:spPr>
      </p:pic>
      <p:sp>
        <p:nvSpPr>
          <p:cNvPr id="31" name="Shape 28"/>
          <p:cNvSpPr/>
          <p:nvPr/>
        </p:nvSpPr>
        <p:spPr>
          <a:xfrm>
            <a:off x="7406640" y="4069080"/>
            <a:ext cx="356616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7620">
            <a:solidFill>
              <a:srgbClr val="E7EDF6"/>
            </a:solidFill>
            <a:prstDash val="solid"/>
          </a:ln>
          <a:effectLst>
            <a:outerShdw blurRad="12700" dist="12700" dir="2700000" algn="bl" rotWithShape="0">
              <a:srgbClr val="0B1F3A">
                <a:alpha val="16000"/>
              </a:srgbClr>
            </a:outerShdw>
          </a:effectLst>
        </p:spPr>
      </p:sp>
      <p:pic>
        <p:nvPicPr>
          <p:cNvPr id="32" name="Image 1" descr="/mnt/data/slide_assets/crops/accuracy_table.png"/>
          <p:cNvPicPr>
            <a:picLocks noChangeAspect="1"/>
          </p:cNvPicPr>
          <p:nvPr/>
        </p:nvPicPr>
        <p:blipFill>
          <a:blip r:embed="rId4"/>
          <a:srcRect t="11527" b="11527"/>
          <a:stretch/>
        </p:blipFill>
        <p:spPr>
          <a:xfrm>
            <a:off x="7452360" y="4114800"/>
            <a:ext cx="3474720" cy="1417320"/>
          </a:xfrm>
          <a:prstGeom prst="rect">
            <a:avLst/>
          </a:prstGeom>
        </p:spPr>
      </p:pic>
      <p:sp>
        <p:nvSpPr>
          <p:cNvPr id="33" name="Shape 29"/>
          <p:cNvSpPr/>
          <p:nvPr/>
        </p:nvSpPr>
        <p:spPr>
          <a:xfrm>
            <a:off x="914400" y="5074920"/>
            <a:ext cx="2468880" cy="310896"/>
          </a:xfrm>
          <a:prstGeom prst="roundRect">
            <a:avLst>
              <a:gd name="adj" fmla="val 26471"/>
            </a:avLst>
          </a:prstGeom>
          <a:solidFill>
            <a:srgbClr val="D8334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1024128" y="5152644"/>
            <a:ext cx="22494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98% proposed system accuracy</a:t>
            </a:r>
            <a:endParaRPr lang="en-US" sz="750" dirty="0"/>
          </a:p>
        </p:txBody>
      </p:sp>
      <p:sp>
        <p:nvSpPr>
          <p:cNvPr id="35" name="Text 31"/>
          <p:cNvSpPr/>
          <p:nvPr/>
        </p:nvSpPr>
        <p:spPr>
          <a:xfrm>
            <a:off x="914400" y="5532120"/>
            <a:ext cx="5486400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80" dirty="0">
                <a:solidFill>
                  <a:srgbClr val="1B2430"/>
                </a:solidFill>
              </a:rPr>
              <a:t>Loss trends down across epochs and the comparison table places the proposed system above prior end-to-end driving studies cited in the paper.</a:t>
            </a:r>
            <a:endParaRPr lang="en-US" sz="1180" dirty="0"/>
          </a:p>
        </p:txBody>
      </p:sp>
      <p:sp>
        <p:nvSpPr>
          <p:cNvPr id="36" name="Text 32"/>
          <p:cNvSpPr/>
          <p:nvPr/>
        </p:nvSpPr>
        <p:spPr>
          <a:xfrm>
            <a:off x="7680960" y="6547104"/>
            <a:ext cx="3474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20" i="1" dirty="0">
                <a:solidFill>
                  <a:srgbClr val="8A96A8"/>
                </a:solidFill>
              </a:rPr>
              <a:t>Source: Section 4.2, Figures 4–5, Table 1</a:t>
            </a:r>
            <a:endParaRPr lang="en-US" sz="620" dirty="0"/>
          </a:p>
        </p:txBody>
      </p:sp>
      <p:sp>
        <p:nvSpPr>
          <p:cNvPr id="37" name="Shape 33"/>
          <p:cNvSpPr/>
          <p:nvPr/>
        </p:nvSpPr>
        <p:spPr>
          <a:xfrm>
            <a:off x="502920" y="6446520"/>
            <a:ext cx="11064240" cy="0"/>
          </a:xfrm>
          <a:prstGeom prst="line">
            <a:avLst/>
          </a:prstGeom>
          <a:noFill/>
          <a:ln w="7620">
            <a:solidFill>
              <a:srgbClr val="D8E2F0"/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502920" y="6547104"/>
            <a:ext cx="4754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64748B"/>
                </a:solidFill>
              </a:rPr>
              <a:t>Smart Autonomous Vehicle Using End-to-End Learning</a:t>
            </a:r>
            <a:endParaRPr lang="en-US" sz="680" dirty="0"/>
          </a:p>
        </p:txBody>
      </p:sp>
      <p:sp>
        <p:nvSpPr>
          <p:cNvPr id="39" name="Text 35"/>
          <p:cNvSpPr/>
          <p:nvPr/>
        </p:nvSpPr>
        <p:spPr>
          <a:xfrm>
            <a:off x="11201400" y="6473952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1E88E5"/>
                </a:solidFill>
              </a:rPr>
              <a:t>08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88E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4592" y="0"/>
            <a:ext cx="36576" cy="6858000"/>
          </a:xfrm>
          <a:prstGeom prst="rect">
            <a:avLst/>
          </a:prstGeom>
          <a:solidFill>
            <a:srgbClr val="00A6A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74320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88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SMART AUTONOMOUS VEHICLE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02920" y="530352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Conference recognition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502920" y="1024128"/>
            <a:ext cx="2011680" cy="0"/>
          </a:xfrm>
          <a:prstGeom prst="line">
            <a:avLst/>
          </a:prstGeom>
          <a:noFill/>
          <a:ln w="25400">
            <a:solidFill>
              <a:srgbClr val="00A6A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207008"/>
            <a:ext cx="512064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B2430"/>
                </a:solidFill>
              </a:rPr>
              <a:t>The work was presented at ICICSE-2020, hosted virtually by Guru Nanak Institutions Technical Campus and Guru Nanak Institute of Technology.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731520" y="2423160"/>
            <a:ext cx="388620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7620">
            <a:solidFill>
              <a:srgbClr val="E8EEF7"/>
            </a:solidFill>
            <a:prstDash val="solid"/>
          </a:ln>
          <a:effectLst>
            <a:outerShdw blurRad="12700" dist="12700" dir="2700000" algn="bl" rotWithShape="0">
              <a:srgbClr val="0B1F3A">
                <a:alpha val="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731520" y="2423160"/>
            <a:ext cx="73152" cy="822960"/>
          </a:xfrm>
          <a:prstGeom prst="rect">
            <a:avLst/>
          </a:prstGeom>
          <a:solidFill>
            <a:srgbClr val="1E88E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32688" y="2587752"/>
            <a:ext cx="35570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B1F3A"/>
                </a:solidFill>
              </a:rPr>
              <a:t>Paper title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932688" y="2862072"/>
            <a:ext cx="3557016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64748B"/>
                </a:solidFill>
              </a:rPr>
              <a:t>Smart Autonomous Vehicle Using End To End Learning</a:t>
            </a:r>
            <a:endParaRPr lang="en-US" sz="920" dirty="0"/>
          </a:p>
        </p:txBody>
      </p:sp>
      <p:sp>
        <p:nvSpPr>
          <p:cNvPr id="15" name="Shape 12"/>
          <p:cNvSpPr/>
          <p:nvPr/>
        </p:nvSpPr>
        <p:spPr>
          <a:xfrm>
            <a:off x="731520" y="3520440"/>
            <a:ext cx="38862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7620">
            <a:solidFill>
              <a:srgbClr val="E8EEF7"/>
            </a:solidFill>
            <a:prstDash val="solid"/>
          </a:ln>
          <a:effectLst>
            <a:outerShdw blurRad="12700" dist="12700" dir="2700000" algn="bl" rotWithShape="0">
              <a:srgbClr val="0B1F3A">
                <a:alpha val="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731520" y="3520440"/>
            <a:ext cx="73152" cy="868680"/>
          </a:xfrm>
          <a:prstGeom prst="rect">
            <a:avLst/>
          </a:prstGeom>
          <a:solidFill>
            <a:srgbClr val="00A6A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32688" y="3685032"/>
            <a:ext cx="35570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B1F3A"/>
                </a:solidFill>
              </a:rPr>
              <a:t>Conference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932688" y="3959352"/>
            <a:ext cx="3557016" cy="2651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64748B"/>
                </a:solidFill>
              </a:rPr>
              <a:t>8th International Conference on Innovations in Computer Science &amp; Engineering</a:t>
            </a:r>
            <a:endParaRPr lang="en-US" sz="920" dirty="0"/>
          </a:p>
        </p:txBody>
      </p:sp>
      <p:sp>
        <p:nvSpPr>
          <p:cNvPr id="19" name="Shape 16"/>
          <p:cNvSpPr/>
          <p:nvPr/>
        </p:nvSpPr>
        <p:spPr>
          <a:xfrm>
            <a:off x="731520" y="4681728"/>
            <a:ext cx="388620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7620">
            <a:solidFill>
              <a:srgbClr val="E8EEF7"/>
            </a:solidFill>
            <a:prstDash val="solid"/>
          </a:ln>
          <a:effectLst>
            <a:outerShdw blurRad="12700" dist="12700" dir="2700000" algn="bl" rotWithShape="0">
              <a:srgbClr val="0B1F3A">
                <a:alpha val="8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731520" y="4681728"/>
            <a:ext cx="73152" cy="731520"/>
          </a:xfrm>
          <a:prstGeom prst="rect">
            <a:avLst/>
          </a:prstGeom>
          <a:solidFill>
            <a:srgbClr val="D8334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32688" y="4846320"/>
            <a:ext cx="35570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B1F3A"/>
                </a:solidFill>
              </a:rPr>
              <a:t>Dates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932688" y="5120640"/>
            <a:ext cx="3557016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64748B"/>
                </a:solidFill>
              </a:rPr>
              <a:t>August 28–29, 2020 • Virtual conference</a:t>
            </a:r>
            <a:endParaRPr lang="en-US" sz="920" dirty="0"/>
          </a:p>
        </p:txBody>
      </p:sp>
      <p:sp>
        <p:nvSpPr>
          <p:cNvPr id="23" name="Text 20"/>
          <p:cNvSpPr/>
          <p:nvPr/>
        </p:nvSpPr>
        <p:spPr>
          <a:xfrm>
            <a:off x="7680960" y="6547104"/>
            <a:ext cx="3474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20" i="1" dirty="0">
                <a:solidFill>
                  <a:srgbClr val="8A96A8"/>
                </a:solidFill>
              </a:rPr>
              <a:t>Source: uploaded e-certificate</a:t>
            </a:r>
            <a:endParaRPr lang="en-US" sz="620" dirty="0"/>
          </a:p>
        </p:txBody>
      </p:sp>
      <p:sp>
        <p:nvSpPr>
          <p:cNvPr id="24" name="Shape 21"/>
          <p:cNvSpPr/>
          <p:nvPr/>
        </p:nvSpPr>
        <p:spPr>
          <a:xfrm>
            <a:off x="502920" y="6446520"/>
            <a:ext cx="11064240" cy="0"/>
          </a:xfrm>
          <a:prstGeom prst="line">
            <a:avLst/>
          </a:prstGeom>
          <a:noFill/>
          <a:ln w="7620">
            <a:solidFill>
              <a:srgbClr val="D8E2F0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02920" y="6547104"/>
            <a:ext cx="4754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64748B"/>
                </a:solidFill>
              </a:rPr>
              <a:t>Smart Autonomous Vehicle Using End-to-End Learning</a:t>
            </a:r>
            <a:endParaRPr lang="en-US" sz="680" dirty="0"/>
          </a:p>
        </p:txBody>
      </p:sp>
      <p:sp>
        <p:nvSpPr>
          <p:cNvPr id="26" name="Text 23"/>
          <p:cNvSpPr/>
          <p:nvPr/>
        </p:nvSpPr>
        <p:spPr>
          <a:xfrm>
            <a:off x="11201400" y="6473952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1E88E5"/>
                </a:solidFill>
              </a:rPr>
              <a:t>09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88E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4592" y="0"/>
            <a:ext cx="36576" cy="6858000"/>
          </a:xfrm>
          <a:prstGeom prst="rect">
            <a:avLst/>
          </a:prstGeom>
          <a:solidFill>
            <a:srgbClr val="00A6A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713232"/>
            <a:ext cx="6583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3A"/>
                </a:solidFill>
              </a:rPr>
              <a:t>Conclusion &amp; future scope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21792" y="1325880"/>
            <a:ext cx="2011680" cy="0"/>
          </a:xfrm>
          <a:prstGeom prst="line">
            <a:avLst/>
          </a:prstGeom>
          <a:noFill/>
          <a:ln w="38100">
            <a:solidFill>
              <a:srgbClr val="00A6A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1965960"/>
            <a:ext cx="32461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7620">
            <a:solidFill>
              <a:srgbClr val="E8EEF7"/>
            </a:solidFill>
            <a:prstDash val="solid"/>
          </a:ln>
          <a:effectLst>
            <a:outerShdw blurRad="12700" dist="12700" dir="2700000" algn="bl" rotWithShape="0">
              <a:srgbClr val="0B1F3A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77240" y="1965960"/>
            <a:ext cx="73152" cy="1325880"/>
          </a:xfrm>
          <a:prstGeom prst="rect">
            <a:avLst/>
          </a:prstGeom>
          <a:solidFill>
            <a:srgbClr val="1E88E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78408" y="2130552"/>
            <a:ext cx="29169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B1F3A"/>
                </a:solidFill>
              </a:rPr>
              <a:t>Main takeaway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978408" y="2404872"/>
            <a:ext cx="2916936" cy="7223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64748B"/>
                </a:solidFill>
              </a:rPr>
              <a:t>End-to-end learning is a viable alternative to hand-engineered autonomous-vehicle pipelines in controlled environments.</a:t>
            </a:r>
            <a:endParaRPr lang="en-US" sz="920" dirty="0"/>
          </a:p>
        </p:txBody>
      </p:sp>
      <p:sp>
        <p:nvSpPr>
          <p:cNvPr id="11" name="Shape 9"/>
          <p:cNvSpPr/>
          <p:nvPr/>
        </p:nvSpPr>
        <p:spPr>
          <a:xfrm>
            <a:off x="4480560" y="1965960"/>
            <a:ext cx="32461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7620">
            <a:solidFill>
              <a:srgbClr val="E8EEF7"/>
            </a:solidFill>
            <a:prstDash val="solid"/>
          </a:ln>
          <a:effectLst>
            <a:outerShdw blurRad="12700" dist="12700" dir="2700000" algn="bl" rotWithShape="0">
              <a:srgbClr val="0B1F3A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480560" y="1965960"/>
            <a:ext cx="73152" cy="1325880"/>
          </a:xfrm>
          <a:prstGeom prst="rect">
            <a:avLst/>
          </a:prstGeom>
          <a:solidFill>
            <a:srgbClr val="00A6A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81728" y="2130552"/>
            <a:ext cx="29169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B1F3A"/>
                </a:solidFill>
              </a:rPr>
              <a:t>Practical value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681728" y="2404872"/>
            <a:ext cx="2916936" cy="7223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64748B"/>
                </a:solidFill>
              </a:rPr>
              <a:t>The setup is low-cost, camera-based, reproducible, and deployable on an RC-car prototype.</a:t>
            </a:r>
            <a:endParaRPr lang="en-US" sz="920" dirty="0"/>
          </a:p>
        </p:txBody>
      </p:sp>
      <p:sp>
        <p:nvSpPr>
          <p:cNvPr id="15" name="Shape 13"/>
          <p:cNvSpPr/>
          <p:nvPr/>
        </p:nvSpPr>
        <p:spPr>
          <a:xfrm>
            <a:off x="8183880" y="1965960"/>
            <a:ext cx="32461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7620">
            <a:solidFill>
              <a:srgbClr val="E8EEF7"/>
            </a:solidFill>
            <a:prstDash val="solid"/>
          </a:ln>
          <a:effectLst>
            <a:outerShdw blurRad="12700" dist="12700" dir="2700000" algn="bl" rotWithShape="0">
              <a:srgbClr val="0B1F3A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183880" y="1965960"/>
            <a:ext cx="73152" cy="1325880"/>
          </a:xfrm>
          <a:prstGeom prst="rect">
            <a:avLst/>
          </a:prstGeom>
          <a:solidFill>
            <a:srgbClr val="D8334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85048" y="2130552"/>
            <a:ext cx="29169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B1F3A"/>
                </a:solidFill>
              </a:rPr>
              <a:t>Future work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385048" y="2404872"/>
            <a:ext cx="2916936" cy="7223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hardware actuation with precise angle control and test on more complex road conditions.</a:t>
            </a:r>
            <a:endParaRPr lang="en-US" sz="920" dirty="0"/>
          </a:p>
        </p:txBody>
      </p:sp>
      <p:sp>
        <p:nvSpPr>
          <p:cNvPr id="23" name="Text 19"/>
          <p:cNvSpPr/>
          <p:nvPr/>
        </p:nvSpPr>
        <p:spPr>
          <a:xfrm>
            <a:off x="777240" y="589788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1F3A"/>
                </a:solidFill>
              </a:rPr>
              <a:t>Thank you</a:t>
            </a:r>
            <a:endParaRPr lang="en-US" sz="2000" dirty="0"/>
          </a:p>
        </p:txBody>
      </p:sp>
      <p:sp>
        <p:nvSpPr>
          <p:cNvPr id="24" name="Text 20"/>
          <p:cNvSpPr/>
          <p:nvPr/>
        </p:nvSpPr>
        <p:spPr>
          <a:xfrm>
            <a:off x="8961120" y="592531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700" b="1" dirty="0">
                <a:solidFill>
                  <a:srgbClr val="1E88E5"/>
                </a:solidFill>
              </a:rPr>
              <a:t>Questions?</a:t>
            </a:r>
            <a:endParaRPr lang="en-US" sz="1700" dirty="0"/>
          </a:p>
        </p:txBody>
      </p:sp>
      <p:sp>
        <p:nvSpPr>
          <p:cNvPr id="25" name="Text 21"/>
          <p:cNvSpPr/>
          <p:nvPr/>
        </p:nvSpPr>
        <p:spPr>
          <a:xfrm>
            <a:off x="7680960" y="6547104"/>
            <a:ext cx="3474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20" i="1" dirty="0">
                <a:solidFill>
                  <a:srgbClr val="8A96A8"/>
                </a:solidFill>
              </a:rPr>
              <a:t>Source: paper conclusion</a:t>
            </a:r>
            <a:endParaRPr lang="en-US" sz="620" dirty="0"/>
          </a:p>
        </p:txBody>
      </p:sp>
      <p:sp>
        <p:nvSpPr>
          <p:cNvPr id="26" name="Shape 22"/>
          <p:cNvSpPr/>
          <p:nvPr/>
        </p:nvSpPr>
        <p:spPr>
          <a:xfrm>
            <a:off x="502920" y="6446520"/>
            <a:ext cx="11064240" cy="0"/>
          </a:xfrm>
          <a:prstGeom prst="line">
            <a:avLst/>
          </a:prstGeom>
          <a:noFill/>
          <a:ln w="7620">
            <a:solidFill>
              <a:srgbClr val="D8E2F0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502920" y="6547104"/>
            <a:ext cx="4754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64748B"/>
                </a:solidFill>
              </a:rPr>
              <a:t>Smart Autonomous Vehicle Using End-to-End Learning</a:t>
            </a:r>
            <a:endParaRPr lang="en-US" sz="680" dirty="0"/>
          </a:p>
        </p:txBody>
      </p:sp>
      <p:sp>
        <p:nvSpPr>
          <p:cNvPr id="28" name="Text 24"/>
          <p:cNvSpPr/>
          <p:nvPr/>
        </p:nvSpPr>
        <p:spPr>
          <a:xfrm>
            <a:off x="11201400" y="6473952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1E88E5"/>
                </a:solidFill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784</Words>
  <Application>Microsoft Office PowerPoint</Application>
  <PresentationFormat>Widescreen</PresentationFormat>
  <Paragraphs>157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Autonomous Vehicle Using End-to-End Learning</dc:title>
  <dc:subject>Smart Autonomous Vehicle Using End-to-End Learning</dc:subject>
  <dc:creator>OpenAI</dc:creator>
  <cp:lastModifiedBy>Anubha</cp:lastModifiedBy>
  <cp:revision>2</cp:revision>
  <dcterms:created xsi:type="dcterms:W3CDTF">2026-05-14T15:15:38Z</dcterms:created>
  <dcterms:modified xsi:type="dcterms:W3CDTF">2026-05-14T17:00:56Z</dcterms:modified>
</cp:coreProperties>
</file>