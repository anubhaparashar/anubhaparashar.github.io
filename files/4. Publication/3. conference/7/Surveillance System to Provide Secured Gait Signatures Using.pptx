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23"/>
  </p:notesMasterIdLst>
  <p:sldIdLst>
    <p:sldId id="256" r:id="rId3"/>
    <p:sldId id="257" r:id="rId4"/>
    <p:sldId id="266" r:id="rId5"/>
    <p:sldId id="265" r:id="rId6"/>
    <p:sldId id="268" r:id="rId7"/>
    <p:sldId id="269" r:id="rId8"/>
    <p:sldId id="267" r:id="rId9"/>
    <p:sldId id="258" r:id="rId10"/>
    <p:sldId id="260" r:id="rId11"/>
    <p:sldId id="274" r:id="rId12"/>
    <p:sldId id="282" r:id="rId13"/>
    <p:sldId id="283" r:id="rId14"/>
    <p:sldId id="280" r:id="rId15"/>
    <p:sldId id="281" r:id="rId16"/>
    <p:sldId id="262" r:id="rId17"/>
    <p:sldId id="261" r:id="rId18"/>
    <p:sldId id="277" r:id="rId19"/>
    <p:sldId id="276" r:id="rId20"/>
    <p:sldId id="263" r:id="rId21"/>
    <p:sldId id="2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5" d="100"/>
          <a:sy n="75" d="100"/>
        </p:scale>
        <p:origin x="54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Sheet1!$F$3</c:f>
              <c:strCache>
                <c:ptCount val="1"/>
                <c:pt idx="0">
                  <c:v>0</c:v>
                </c:pt>
              </c:strCache>
            </c:strRef>
          </c:tx>
          <c:spPr>
            <a:ln w="28575" cap="rnd">
              <a:solidFill>
                <a:schemeClr val="accent1"/>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Sheet1!$F$4:$F$14</c:f>
              <c:numCache>
                <c:formatCode>General</c:formatCode>
                <c:ptCount val="11"/>
                <c:pt idx="0">
                  <c:v>73.400000000000006</c:v>
                </c:pt>
                <c:pt idx="1">
                  <c:v>85</c:v>
                </c:pt>
                <c:pt idx="2">
                  <c:v>86.1</c:v>
                </c:pt>
                <c:pt idx="3">
                  <c:v>89.6</c:v>
                </c:pt>
                <c:pt idx="4">
                  <c:v>87.6</c:v>
                </c:pt>
                <c:pt idx="5">
                  <c:v>91.8</c:v>
                </c:pt>
                <c:pt idx="6">
                  <c:v>90.2</c:v>
                </c:pt>
                <c:pt idx="7">
                  <c:v>88.9</c:v>
                </c:pt>
                <c:pt idx="8">
                  <c:v>88.9</c:v>
                </c:pt>
                <c:pt idx="9">
                  <c:v>91.7</c:v>
                </c:pt>
                <c:pt idx="10">
                  <c:v>94.6</c:v>
                </c:pt>
              </c:numCache>
            </c:numRef>
          </c:val>
          <c:smooth val="0"/>
          <c:extLst>
            <c:ext xmlns:c16="http://schemas.microsoft.com/office/drawing/2014/chart" uri="{C3380CC4-5D6E-409C-BE32-E72D297353CC}">
              <c16:uniqueId val="{00000000-098A-4C34-B69E-7BF408663395}"/>
            </c:ext>
          </c:extLst>
        </c:ser>
        <c:ser>
          <c:idx val="1"/>
          <c:order val="1"/>
          <c:tx>
            <c:strRef>
              <c:f>Sheet1!$G$3</c:f>
              <c:strCache>
                <c:ptCount val="1"/>
                <c:pt idx="0">
                  <c:v>18</c:v>
                </c:pt>
              </c:strCache>
            </c:strRef>
          </c:tx>
          <c:spPr>
            <a:ln w="28575" cap="rnd">
              <a:solidFill>
                <a:schemeClr val="accent2"/>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Sheet1!$G$4:$G$14</c:f>
              <c:numCache>
                <c:formatCode>General</c:formatCode>
                <c:ptCount val="11"/>
                <c:pt idx="0">
                  <c:v>68.05</c:v>
                </c:pt>
                <c:pt idx="1">
                  <c:v>90.1</c:v>
                </c:pt>
                <c:pt idx="2">
                  <c:v>84</c:v>
                </c:pt>
                <c:pt idx="3">
                  <c:v>84.6</c:v>
                </c:pt>
                <c:pt idx="4">
                  <c:v>88.2</c:v>
                </c:pt>
                <c:pt idx="5">
                  <c:v>90.4</c:v>
                </c:pt>
                <c:pt idx="6">
                  <c:v>89.1</c:v>
                </c:pt>
                <c:pt idx="7">
                  <c:v>88</c:v>
                </c:pt>
                <c:pt idx="8">
                  <c:v>90.4</c:v>
                </c:pt>
                <c:pt idx="9">
                  <c:v>92</c:v>
                </c:pt>
                <c:pt idx="10">
                  <c:v>93.3</c:v>
                </c:pt>
              </c:numCache>
            </c:numRef>
          </c:val>
          <c:smooth val="0"/>
          <c:extLst>
            <c:ext xmlns:c16="http://schemas.microsoft.com/office/drawing/2014/chart" uri="{C3380CC4-5D6E-409C-BE32-E72D297353CC}">
              <c16:uniqueId val="{00000001-098A-4C34-B69E-7BF408663395}"/>
            </c:ext>
          </c:extLst>
        </c:ser>
        <c:ser>
          <c:idx val="2"/>
          <c:order val="2"/>
          <c:tx>
            <c:strRef>
              <c:f>Sheet1!$H$3</c:f>
              <c:strCache>
                <c:ptCount val="1"/>
                <c:pt idx="0">
                  <c:v>36</c:v>
                </c:pt>
              </c:strCache>
            </c:strRef>
          </c:tx>
          <c:spPr>
            <a:ln w="28575" cap="rnd">
              <a:solidFill>
                <a:schemeClr val="accent3"/>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Sheet1!$H$4:$H$14</c:f>
              <c:numCache>
                <c:formatCode>General</c:formatCode>
                <c:ptCount val="11"/>
                <c:pt idx="0">
                  <c:v>67.63</c:v>
                </c:pt>
                <c:pt idx="1">
                  <c:v>84</c:v>
                </c:pt>
                <c:pt idx="2">
                  <c:v>95</c:v>
                </c:pt>
                <c:pt idx="3">
                  <c:v>85</c:v>
                </c:pt>
                <c:pt idx="4">
                  <c:v>86.8</c:v>
                </c:pt>
                <c:pt idx="5">
                  <c:v>90</c:v>
                </c:pt>
                <c:pt idx="6">
                  <c:v>91</c:v>
                </c:pt>
                <c:pt idx="7">
                  <c:v>86.7</c:v>
                </c:pt>
                <c:pt idx="8">
                  <c:v>91.5</c:v>
                </c:pt>
                <c:pt idx="9">
                  <c:v>92.5</c:v>
                </c:pt>
                <c:pt idx="10">
                  <c:v>93.4</c:v>
                </c:pt>
              </c:numCache>
            </c:numRef>
          </c:val>
          <c:smooth val="0"/>
          <c:extLst>
            <c:ext xmlns:c16="http://schemas.microsoft.com/office/drawing/2014/chart" uri="{C3380CC4-5D6E-409C-BE32-E72D297353CC}">
              <c16:uniqueId val="{00000002-098A-4C34-B69E-7BF408663395}"/>
            </c:ext>
          </c:extLst>
        </c:ser>
        <c:ser>
          <c:idx val="3"/>
          <c:order val="3"/>
          <c:tx>
            <c:strRef>
              <c:f>Sheet1!$I$3</c:f>
              <c:strCache>
                <c:ptCount val="1"/>
                <c:pt idx="0">
                  <c:v>54</c:v>
                </c:pt>
              </c:strCache>
            </c:strRef>
          </c:tx>
          <c:spPr>
            <a:ln w="28575" cap="rnd">
              <a:solidFill>
                <a:schemeClr val="accent4"/>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Sheet1!$I$4:$I$14</c:f>
              <c:numCache>
                <c:formatCode>General</c:formatCode>
                <c:ptCount val="11"/>
                <c:pt idx="0">
                  <c:v>66.83</c:v>
                </c:pt>
                <c:pt idx="1">
                  <c:v>85.9</c:v>
                </c:pt>
                <c:pt idx="2">
                  <c:v>88</c:v>
                </c:pt>
                <c:pt idx="3">
                  <c:v>83.1</c:v>
                </c:pt>
                <c:pt idx="4">
                  <c:v>90</c:v>
                </c:pt>
                <c:pt idx="5">
                  <c:v>90.4</c:v>
                </c:pt>
                <c:pt idx="6">
                  <c:v>87.6</c:v>
                </c:pt>
                <c:pt idx="7">
                  <c:v>85.9</c:v>
                </c:pt>
                <c:pt idx="8">
                  <c:v>96</c:v>
                </c:pt>
                <c:pt idx="9">
                  <c:v>93.2</c:v>
                </c:pt>
                <c:pt idx="10">
                  <c:v>92.5</c:v>
                </c:pt>
              </c:numCache>
            </c:numRef>
          </c:val>
          <c:smooth val="0"/>
          <c:extLst>
            <c:ext xmlns:c16="http://schemas.microsoft.com/office/drawing/2014/chart" uri="{C3380CC4-5D6E-409C-BE32-E72D297353CC}">
              <c16:uniqueId val="{00000003-098A-4C34-B69E-7BF408663395}"/>
            </c:ext>
          </c:extLst>
        </c:ser>
        <c:ser>
          <c:idx val="4"/>
          <c:order val="4"/>
          <c:tx>
            <c:strRef>
              <c:f>Sheet1!$J$3</c:f>
              <c:strCache>
                <c:ptCount val="1"/>
                <c:pt idx="0">
                  <c:v>72</c:v>
                </c:pt>
              </c:strCache>
            </c:strRef>
          </c:tx>
          <c:spPr>
            <a:ln w="28575" cap="rnd">
              <a:solidFill>
                <a:schemeClr val="accent5"/>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Sheet1!$J$4:$J$14</c:f>
              <c:numCache>
                <c:formatCode>General</c:formatCode>
                <c:ptCount val="11"/>
                <c:pt idx="0">
                  <c:v>60.64</c:v>
                </c:pt>
                <c:pt idx="1">
                  <c:v>85</c:v>
                </c:pt>
                <c:pt idx="2">
                  <c:v>81.400000000000006</c:v>
                </c:pt>
                <c:pt idx="3">
                  <c:v>82.4</c:v>
                </c:pt>
                <c:pt idx="4">
                  <c:v>89.1</c:v>
                </c:pt>
                <c:pt idx="5">
                  <c:v>90.3</c:v>
                </c:pt>
                <c:pt idx="6">
                  <c:v>88.3</c:v>
                </c:pt>
                <c:pt idx="7">
                  <c:v>84.7</c:v>
                </c:pt>
                <c:pt idx="8">
                  <c:v>89.2</c:v>
                </c:pt>
                <c:pt idx="9">
                  <c:v>93.3</c:v>
                </c:pt>
                <c:pt idx="10">
                  <c:v>92.7</c:v>
                </c:pt>
              </c:numCache>
            </c:numRef>
          </c:val>
          <c:smooth val="0"/>
          <c:extLst>
            <c:ext xmlns:c16="http://schemas.microsoft.com/office/drawing/2014/chart" uri="{C3380CC4-5D6E-409C-BE32-E72D297353CC}">
              <c16:uniqueId val="{00000004-098A-4C34-B69E-7BF408663395}"/>
            </c:ext>
          </c:extLst>
        </c:ser>
        <c:ser>
          <c:idx val="5"/>
          <c:order val="5"/>
          <c:tx>
            <c:strRef>
              <c:f>Sheet1!$K$3</c:f>
              <c:strCache>
                <c:ptCount val="1"/>
                <c:pt idx="0">
                  <c:v>90</c:v>
                </c:pt>
              </c:strCache>
            </c:strRef>
          </c:tx>
          <c:spPr>
            <a:ln w="28575" cap="rnd">
              <a:solidFill>
                <a:schemeClr val="accent6"/>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Sheet1!$K$4:$K$14</c:f>
              <c:numCache>
                <c:formatCode>General</c:formatCode>
                <c:ptCount val="11"/>
                <c:pt idx="0">
                  <c:v>60.66</c:v>
                </c:pt>
                <c:pt idx="1">
                  <c:v>81</c:v>
                </c:pt>
                <c:pt idx="2">
                  <c:v>84.2</c:v>
                </c:pt>
                <c:pt idx="3">
                  <c:v>84.6</c:v>
                </c:pt>
                <c:pt idx="4">
                  <c:v>94</c:v>
                </c:pt>
                <c:pt idx="5">
                  <c:v>91.1</c:v>
                </c:pt>
                <c:pt idx="6">
                  <c:v>89.4</c:v>
                </c:pt>
                <c:pt idx="7">
                  <c:v>85.3</c:v>
                </c:pt>
                <c:pt idx="8">
                  <c:v>93.2</c:v>
                </c:pt>
                <c:pt idx="9">
                  <c:v>92.8</c:v>
                </c:pt>
                <c:pt idx="10">
                  <c:v>90</c:v>
                </c:pt>
              </c:numCache>
            </c:numRef>
          </c:val>
          <c:smooth val="0"/>
          <c:extLst>
            <c:ext xmlns:c16="http://schemas.microsoft.com/office/drawing/2014/chart" uri="{C3380CC4-5D6E-409C-BE32-E72D297353CC}">
              <c16:uniqueId val="{00000005-098A-4C34-B69E-7BF408663395}"/>
            </c:ext>
          </c:extLst>
        </c:ser>
        <c:ser>
          <c:idx val="6"/>
          <c:order val="6"/>
          <c:tx>
            <c:strRef>
              <c:f>Sheet1!$L$3</c:f>
              <c:strCache>
                <c:ptCount val="1"/>
                <c:pt idx="0">
                  <c:v>108</c:v>
                </c:pt>
              </c:strCache>
            </c:strRef>
          </c:tx>
          <c:spPr>
            <a:ln w="28575" cap="rnd">
              <a:solidFill>
                <a:schemeClr val="accent1">
                  <a:lumMod val="60000"/>
                </a:schemeClr>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Sheet1!$L$4:$L$14</c:f>
              <c:numCache>
                <c:formatCode>General</c:formatCode>
                <c:ptCount val="11"/>
                <c:pt idx="0">
                  <c:v>59.89</c:v>
                </c:pt>
                <c:pt idx="1">
                  <c:v>85.1</c:v>
                </c:pt>
                <c:pt idx="2">
                  <c:v>80.400000000000006</c:v>
                </c:pt>
                <c:pt idx="3">
                  <c:v>81.599999999999994</c:v>
                </c:pt>
                <c:pt idx="4">
                  <c:v>93</c:v>
                </c:pt>
                <c:pt idx="5">
                  <c:v>91.2</c:v>
                </c:pt>
                <c:pt idx="6">
                  <c:v>88.3</c:v>
                </c:pt>
                <c:pt idx="7">
                  <c:v>91</c:v>
                </c:pt>
                <c:pt idx="8">
                  <c:v>93.1</c:v>
                </c:pt>
                <c:pt idx="9">
                  <c:v>92.7</c:v>
                </c:pt>
                <c:pt idx="10">
                  <c:v>90.5</c:v>
                </c:pt>
              </c:numCache>
            </c:numRef>
          </c:val>
          <c:smooth val="0"/>
          <c:extLst>
            <c:ext xmlns:c16="http://schemas.microsoft.com/office/drawing/2014/chart" uri="{C3380CC4-5D6E-409C-BE32-E72D297353CC}">
              <c16:uniqueId val="{00000006-098A-4C34-B69E-7BF408663395}"/>
            </c:ext>
          </c:extLst>
        </c:ser>
        <c:ser>
          <c:idx val="7"/>
          <c:order val="7"/>
          <c:tx>
            <c:strRef>
              <c:f>Sheet1!$M$3</c:f>
              <c:strCache>
                <c:ptCount val="1"/>
                <c:pt idx="0">
                  <c:v>126</c:v>
                </c:pt>
              </c:strCache>
            </c:strRef>
          </c:tx>
          <c:spPr>
            <a:ln w="28575" cap="rnd">
              <a:solidFill>
                <a:schemeClr val="accent2">
                  <a:lumMod val="60000"/>
                </a:schemeClr>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Sheet1!$M$4:$M$14</c:f>
              <c:numCache>
                <c:formatCode>General</c:formatCode>
                <c:ptCount val="11"/>
                <c:pt idx="0">
                  <c:v>61.96</c:v>
                </c:pt>
                <c:pt idx="1">
                  <c:v>86</c:v>
                </c:pt>
                <c:pt idx="2">
                  <c:v>94</c:v>
                </c:pt>
                <c:pt idx="3">
                  <c:v>83.2</c:v>
                </c:pt>
                <c:pt idx="4">
                  <c:v>92.2</c:v>
                </c:pt>
                <c:pt idx="5">
                  <c:v>90.1</c:v>
                </c:pt>
                <c:pt idx="6">
                  <c:v>88.4</c:v>
                </c:pt>
                <c:pt idx="7">
                  <c:v>91.1</c:v>
                </c:pt>
                <c:pt idx="8">
                  <c:v>93</c:v>
                </c:pt>
                <c:pt idx="9">
                  <c:v>93.5</c:v>
                </c:pt>
                <c:pt idx="10">
                  <c:v>91.4</c:v>
                </c:pt>
              </c:numCache>
            </c:numRef>
          </c:val>
          <c:smooth val="0"/>
          <c:extLst>
            <c:ext xmlns:c16="http://schemas.microsoft.com/office/drawing/2014/chart" uri="{C3380CC4-5D6E-409C-BE32-E72D297353CC}">
              <c16:uniqueId val="{00000007-098A-4C34-B69E-7BF408663395}"/>
            </c:ext>
          </c:extLst>
        </c:ser>
        <c:ser>
          <c:idx val="8"/>
          <c:order val="8"/>
          <c:tx>
            <c:strRef>
              <c:f>Sheet1!$N$3</c:f>
              <c:strCache>
                <c:ptCount val="1"/>
                <c:pt idx="0">
                  <c:v>144</c:v>
                </c:pt>
              </c:strCache>
            </c:strRef>
          </c:tx>
          <c:spPr>
            <a:ln w="28575" cap="rnd">
              <a:solidFill>
                <a:schemeClr val="accent3">
                  <a:lumMod val="60000"/>
                </a:schemeClr>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Sheet1!$N$4:$N$14</c:f>
              <c:numCache>
                <c:formatCode>General</c:formatCode>
                <c:ptCount val="11"/>
                <c:pt idx="0">
                  <c:v>66.17</c:v>
                </c:pt>
                <c:pt idx="1">
                  <c:v>86.5</c:v>
                </c:pt>
                <c:pt idx="2">
                  <c:v>90</c:v>
                </c:pt>
                <c:pt idx="3">
                  <c:v>91.4</c:v>
                </c:pt>
                <c:pt idx="4">
                  <c:v>91.1</c:v>
                </c:pt>
                <c:pt idx="5">
                  <c:v>90</c:v>
                </c:pt>
                <c:pt idx="6">
                  <c:v>95</c:v>
                </c:pt>
                <c:pt idx="7">
                  <c:v>92.2</c:v>
                </c:pt>
                <c:pt idx="8">
                  <c:v>91.2</c:v>
                </c:pt>
                <c:pt idx="9">
                  <c:v>93.2</c:v>
                </c:pt>
                <c:pt idx="10">
                  <c:v>89</c:v>
                </c:pt>
              </c:numCache>
            </c:numRef>
          </c:val>
          <c:smooth val="0"/>
          <c:extLst>
            <c:ext xmlns:c16="http://schemas.microsoft.com/office/drawing/2014/chart" uri="{C3380CC4-5D6E-409C-BE32-E72D297353CC}">
              <c16:uniqueId val="{00000008-098A-4C34-B69E-7BF408663395}"/>
            </c:ext>
          </c:extLst>
        </c:ser>
        <c:ser>
          <c:idx val="9"/>
          <c:order val="9"/>
          <c:tx>
            <c:strRef>
              <c:f>Sheet1!$O$3</c:f>
              <c:strCache>
                <c:ptCount val="1"/>
                <c:pt idx="0">
                  <c:v>162</c:v>
                </c:pt>
              </c:strCache>
            </c:strRef>
          </c:tx>
          <c:spPr>
            <a:ln w="28575" cap="rnd">
              <a:solidFill>
                <a:schemeClr val="accent4">
                  <a:lumMod val="60000"/>
                </a:schemeClr>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Sheet1!$O$4:$O$14</c:f>
              <c:numCache>
                <c:formatCode>General</c:formatCode>
                <c:ptCount val="11"/>
                <c:pt idx="0">
                  <c:v>62.14</c:v>
                </c:pt>
                <c:pt idx="1">
                  <c:v>85.3</c:v>
                </c:pt>
                <c:pt idx="2">
                  <c:v>87.1</c:v>
                </c:pt>
                <c:pt idx="3">
                  <c:v>90.3</c:v>
                </c:pt>
                <c:pt idx="4">
                  <c:v>91.2</c:v>
                </c:pt>
                <c:pt idx="5">
                  <c:v>89.4</c:v>
                </c:pt>
                <c:pt idx="6">
                  <c:v>89.1</c:v>
                </c:pt>
                <c:pt idx="7">
                  <c:v>91.7</c:v>
                </c:pt>
                <c:pt idx="8">
                  <c:v>91.8</c:v>
                </c:pt>
                <c:pt idx="9">
                  <c:v>94.2</c:v>
                </c:pt>
                <c:pt idx="10">
                  <c:v>90.3</c:v>
                </c:pt>
              </c:numCache>
            </c:numRef>
          </c:val>
          <c:smooth val="0"/>
          <c:extLst>
            <c:ext xmlns:c16="http://schemas.microsoft.com/office/drawing/2014/chart" uri="{C3380CC4-5D6E-409C-BE32-E72D297353CC}">
              <c16:uniqueId val="{00000009-098A-4C34-B69E-7BF408663395}"/>
            </c:ext>
          </c:extLst>
        </c:ser>
        <c:ser>
          <c:idx val="10"/>
          <c:order val="10"/>
          <c:tx>
            <c:strRef>
              <c:f>Sheet1!$P$3</c:f>
              <c:strCache>
                <c:ptCount val="1"/>
                <c:pt idx="0">
                  <c:v>180</c:v>
                </c:pt>
              </c:strCache>
            </c:strRef>
          </c:tx>
          <c:spPr>
            <a:ln w="28575" cap="rnd">
              <a:solidFill>
                <a:schemeClr val="accent5">
                  <a:lumMod val="60000"/>
                </a:schemeClr>
              </a:solidFill>
              <a:round/>
            </a:ln>
            <a:effectLst/>
          </c:spPr>
          <c:marker>
            <c:symbol val="none"/>
          </c:marker>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Sheet1!$P$4:$P$14</c:f>
              <c:numCache>
                <c:formatCode>General</c:formatCode>
                <c:ptCount val="11"/>
                <c:pt idx="0">
                  <c:v>91.11</c:v>
                </c:pt>
                <c:pt idx="1">
                  <c:v>87</c:v>
                </c:pt>
                <c:pt idx="2">
                  <c:v>88.4</c:v>
                </c:pt>
                <c:pt idx="3">
                  <c:v>90.7</c:v>
                </c:pt>
                <c:pt idx="4">
                  <c:v>90.7</c:v>
                </c:pt>
                <c:pt idx="5">
                  <c:v>88.5</c:v>
                </c:pt>
                <c:pt idx="6">
                  <c:v>87.3</c:v>
                </c:pt>
                <c:pt idx="7">
                  <c:v>89.9</c:v>
                </c:pt>
                <c:pt idx="8">
                  <c:v>92.1</c:v>
                </c:pt>
                <c:pt idx="9">
                  <c:v>95</c:v>
                </c:pt>
                <c:pt idx="10">
                  <c:v>89.5</c:v>
                </c:pt>
              </c:numCache>
            </c:numRef>
          </c:val>
          <c:smooth val="0"/>
          <c:extLst>
            <c:ext xmlns:c16="http://schemas.microsoft.com/office/drawing/2014/chart" uri="{C3380CC4-5D6E-409C-BE32-E72D297353CC}">
              <c16:uniqueId val="{0000000A-098A-4C34-B69E-7BF408663395}"/>
            </c:ext>
          </c:extLst>
        </c:ser>
        <c:dLbls>
          <c:showLegendKey val="0"/>
          <c:showVal val="0"/>
          <c:showCatName val="0"/>
          <c:showSerName val="0"/>
          <c:showPercent val="0"/>
          <c:showBubbleSize val="0"/>
        </c:dLbls>
        <c:smooth val="0"/>
        <c:axId val="1469238816"/>
        <c:axId val="1224688976"/>
      </c:lineChart>
      <c:catAx>
        <c:axId val="1469238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24688976"/>
        <c:crosses val="autoZero"/>
        <c:auto val="1"/>
        <c:lblAlgn val="ctr"/>
        <c:lblOffset val="100"/>
        <c:noMultiLvlLbl val="0"/>
      </c:catAx>
      <c:valAx>
        <c:axId val="12246889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92388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Sheet1!$F$3</c:f>
              <c:strCache>
                <c:ptCount val="1"/>
                <c:pt idx="0">
                  <c:v>0</c:v>
                </c:pt>
              </c:strCache>
            </c:strRef>
          </c:tx>
          <c:spPr>
            <a:solidFill>
              <a:schemeClr val="accent1"/>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Sheet1!$F$4:$F$14</c:f>
              <c:numCache>
                <c:formatCode>General</c:formatCode>
                <c:ptCount val="11"/>
                <c:pt idx="0">
                  <c:v>73.400000000000006</c:v>
                </c:pt>
                <c:pt idx="1">
                  <c:v>85</c:v>
                </c:pt>
                <c:pt idx="2">
                  <c:v>86.1</c:v>
                </c:pt>
                <c:pt idx="3">
                  <c:v>89.6</c:v>
                </c:pt>
                <c:pt idx="4">
                  <c:v>87.6</c:v>
                </c:pt>
                <c:pt idx="5">
                  <c:v>91.8</c:v>
                </c:pt>
                <c:pt idx="6">
                  <c:v>90.2</c:v>
                </c:pt>
                <c:pt idx="7">
                  <c:v>88.9</c:v>
                </c:pt>
                <c:pt idx="8">
                  <c:v>88.9</c:v>
                </c:pt>
                <c:pt idx="9">
                  <c:v>91.7</c:v>
                </c:pt>
                <c:pt idx="10">
                  <c:v>94.6</c:v>
                </c:pt>
              </c:numCache>
            </c:numRef>
          </c:val>
          <c:extLst>
            <c:ext xmlns:c16="http://schemas.microsoft.com/office/drawing/2014/chart" uri="{C3380CC4-5D6E-409C-BE32-E72D297353CC}">
              <c16:uniqueId val="{00000000-6667-4518-B7F7-1F5219A99A30}"/>
            </c:ext>
          </c:extLst>
        </c:ser>
        <c:ser>
          <c:idx val="1"/>
          <c:order val="1"/>
          <c:tx>
            <c:strRef>
              <c:f>Sheet1!$G$3</c:f>
              <c:strCache>
                <c:ptCount val="1"/>
                <c:pt idx="0">
                  <c:v>18</c:v>
                </c:pt>
              </c:strCache>
            </c:strRef>
          </c:tx>
          <c:spPr>
            <a:solidFill>
              <a:schemeClr val="accent2"/>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Sheet1!$G$4:$G$14</c:f>
              <c:numCache>
                <c:formatCode>General</c:formatCode>
                <c:ptCount val="11"/>
                <c:pt idx="0">
                  <c:v>68.05</c:v>
                </c:pt>
                <c:pt idx="1">
                  <c:v>90.1</c:v>
                </c:pt>
                <c:pt idx="2">
                  <c:v>84</c:v>
                </c:pt>
                <c:pt idx="3">
                  <c:v>84.6</c:v>
                </c:pt>
                <c:pt idx="4">
                  <c:v>88.2</c:v>
                </c:pt>
                <c:pt idx="5">
                  <c:v>90.4</c:v>
                </c:pt>
                <c:pt idx="6">
                  <c:v>89.1</c:v>
                </c:pt>
                <c:pt idx="7">
                  <c:v>88</c:v>
                </c:pt>
                <c:pt idx="8">
                  <c:v>90.4</c:v>
                </c:pt>
                <c:pt idx="9">
                  <c:v>92</c:v>
                </c:pt>
                <c:pt idx="10">
                  <c:v>93.3</c:v>
                </c:pt>
              </c:numCache>
            </c:numRef>
          </c:val>
          <c:extLst>
            <c:ext xmlns:c16="http://schemas.microsoft.com/office/drawing/2014/chart" uri="{C3380CC4-5D6E-409C-BE32-E72D297353CC}">
              <c16:uniqueId val="{00000001-6667-4518-B7F7-1F5219A99A30}"/>
            </c:ext>
          </c:extLst>
        </c:ser>
        <c:ser>
          <c:idx val="2"/>
          <c:order val="2"/>
          <c:tx>
            <c:strRef>
              <c:f>Sheet1!$H$3</c:f>
              <c:strCache>
                <c:ptCount val="1"/>
                <c:pt idx="0">
                  <c:v>36</c:v>
                </c:pt>
              </c:strCache>
            </c:strRef>
          </c:tx>
          <c:spPr>
            <a:solidFill>
              <a:schemeClr val="accent3"/>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Sheet1!$H$4:$H$14</c:f>
              <c:numCache>
                <c:formatCode>General</c:formatCode>
                <c:ptCount val="11"/>
                <c:pt idx="0">
                  <c:v>67.63</c:v>
                </c:pt>
                <c:pt idx="1">
                  <c:v>84</c:v>
                </c:pt>
                <c:pt idx="2">
                  <c:v>95</c:v>
                </c:pt>
                <c:pt idx="3">
                  <c:v>85</c:v>
                </c:pt>
                <c:pt idx="4">
                  <c:v>86.8</c:v>
                </c:pt>
                <c:pt idx="5">
                  <c:v>90</c:v>
                </c:pt>
                <c:pt idx="6">
                  <c:v>91</c:v>
                </c:pt>
                <c:pt idx="7">
                  <c:v>86.7</c:v>
                </c:pt>
                <c:pt idx="8">
                  <c:v>91.5</c:v>
                </c:pt>
                <c:pt idx="9">
                  <c:v>92.5</c:v>
                </c:pt>
                <c:pt idx="10">
                  <c:v>93.4</c:v>
                </c:pt>
              </c:numCache>
            </c:numRef>
          </c:val>
          <c:extLst>
            <c:ext xmlns:c16="http://schemas.microsoft.com/office/drawing/2014/chart" uri="{C3380CC4-5D6E-409C-BE32-E72D297353CC}">
              <c16:uniqueId val="{00000002-6667-4518-B7F7-1F5219A99A30}"/>
            </c:ext>
          </c:extLst>
        </c:ser>
        <c:ser>
          <c:idx val="3"/>
          <c:order val="3"/>
          <c:tx>
            <c:strRef>
              <c:f>Sheet1!$I$3</c:f>
              <c:strCache>
                <c:ptCount val="1"/>
                <c:pt idx="0">
                  <c:v>54</c:v>
                </c:pt>
              </c:strCache>
            </c:strRef>
          </c:tx>
          <c:spPr>
            <a:solidFill>
              <a:schemeClr val="accent4"/>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Sheet1!$I$4:$I$14</c:f>
              <c:numCache>
                <c:formatCode>General</c:formatCode>
                <c:ptCount val="11"/>
                <c:pt idx="0">
                  <c:v>66.83</c:v>
                </c:pt>
                <c:pt idx="1">
                  <c:v>85.9</c:v>
                </c:pt>
                <c:pt idx="2">
                  <c:v>88</c:v>
                </c:pt>
                <c:pt idx="3">
                  <c:v>83.1</c:v>
                </c:pt>
                <c:pt idx="4">
                  <c:v>90</c:v>
                </c:pt>
                <c:pt idx="5">
                  <c:v>90.4</c:v>
                </c:pt>
                <c:pt idx="6">
                  <c:v>87.6</c:v>
                </c:pt>
                <c:pt idx="7">
                  <c:v>85.9</c:v>
                </c:pt>
                <c:pt idx="8">
                  <c:v>96</c:v>
                </c:pt>
                <c:pt idx="9">
                  <c:v>93.2</c:v>
                </c:pt>
                <c:pt idx="10">
                  <c:v>92.5</c:v>
                </c:pt>
              </c:numCache>
            </c:numRef>
          </c:val>
          <c:extLst>
            <c:ext xmlns:c16="http://schemas.microsoft.com/office/drawing/2014/chart" uri="{C3380CC4-5D6E-409C-BE32-E72D297353CC}">
              <c16:uniqueId val="{00000003-6667-4518-B7F7-1F5219A99A30}"/>
            </c:ext>
          </c:extLst>
        </c:ser>
        <c:ser>
          <c:idx val="4"/>
          <c:order val="4"/>
          <c:tx>
            <c:strRef>
              <c:f>Sheet1!$J$3</c:f>
              <c:strCache>
                <c:ptCount val="1"/>
                <c:pt idx="0">
                  <c:v>72</c:v>
                </c:pt>
              </c:strCache>
            </c:strRef>
          </c:tx>
          <c:spPr>
            <a:solidFill>
              <a:schemeClr val="accent5"/>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Sheet1!$J$4:$J$14</c:f>
              <c:numCache>
                <c:formatCode>General</c:formatCode>
                <c:ptCount val="11"/>
                <c:pt idx="0">
                  <c:v>60.64</c:v>
                </c:pt>
                <c:pt idx="1">
                  <c:v>85</c:v>
                </c:pt>
                <c:pt idx="2">
                  <c:v>81.400000000000006</c:v>
                </c:pt>
                <c:pt idx="3">
                  <c:v>82.4</c:v>
                </c:pt>
                <c:pt idx="4">
                  <c:v>89.1</c:v>
                </c:pt>
                <c:pt idx="5">
                  <c:v>90.3</c:v>
                </c:pt>
                <c:pt idx="6">
                  <c:v>88.3</c:v>
                </c:pt>
                <c:pt idx="7">
                  <c:v>84.7</c:v>
                </c:pt>
                <c:pt idx="8">
                  <c:v>89.2</c:v>
                </c:pt>
                <c:pt idx="9">
                  <c:v>93.3</c:v>
                </c:pt>
                <c:pt idx="10">
                  <c:v>92.7</c:v>
                </c:pt>
              </c:numCache>
            </c:numRef>
          </c:val>
          <c:extLst>
            <c:ext xmlns:c16="http://schemas.microsoft.com/office/drawing/2014/chart" uri="{C3380CC4-5D6E-409C-BE32-E72D297353CC}">
              <c16:uniqueId val="{00000004-6667-4518-B7F7-1F5219A99A30}"/>
            </c:ext>
          </c:extLst>
        </c:ser>
        <c:ser>
          <c:idx val="5"/>
          <c:order val="5"/>
          <c:tx>
            <c:strRef>
              <c:f>Sheet1!$K$3</c:f>
              <c:strCache>
                <c:ptCount val="1"/>
                <c:pt idx="0">
                  <c:v>90</c:v>
                </c:pt>
              </c:strCache>
            </c:strRef>
          </c:tx>
          <c:spPr>
            <a:solidFill>
              <a:schemeClr val="accent6"/>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Sheet1!$K$4:$K$14</c:f>
              <c:numCache>
                <c:formatCode>General</c:formatCode>
                <c:ptCount val="11"/>
                <c:pt idx="0">
                  <c:v>60.66</c:v>
                </c:pt>
                <c:pt idx="1">
                  <c:v>81</c:v>
                </c:pt>
                <c:pt idx="2">
                  <c:v>84.2</c:v>
                </c:pt>
                <c:pt idx="3">
                  <c:v>84.6</c:v>
                </c:pt>
                <c:pt idx="4">
                  <c:v>94</c:v>
                </c:pt>
                <c:pt idx="5">
                  <c:v>91.1</c:v>
                </c:pt>
                <c:pt idx="6">
                  <c:v>89.4</c:v>
                </c:pt>
                <c:pt idx="7">
                  <c:v>85.3</c:v>
                </c:pt>
                <c:pt idx="8">
                  <c:v>93.2</c:v>
                </c:pt>
                <c:pt idx="9">
                  <c:v>92.8</c:v>
                </c:pt>
                <c:pt idx="10">
                  <c:v>90</c:v>
                </c:pt>
              </c:numCache>
            </c:numRef>
          </c:val>
          <c:extLst>
            <c:ext xmlns:c16="http://schemas.microsoft.com/office/drawing/2014/chart" uri="{C3380CC4-5D6E-409C-BE32-E72D297353CC}">
              <c16:uniqueId val="{00000005-6667-4518-B7F7-1F5219A99A30}"/>
            </c:ext>
          </c:extLst>
        </c:ser>
        <c:ser>
          <c:idx val="6"/>
          <c:order val="6"/>
          <c:tx>
            <c:strRef>
              <c:f>Sheet1!$L$3</c:f>
              <c:strCache>
                <c:ptCount val="1"/>
                <c:pt idx="0">
                  <c:v>108</c:v>
                </c:pt>
              </c:strCache>
            </c:strRef>
          </c:tx>
          <c:spPr>
            <a:solidFill>
              <a:schemeClr val="accent1">
                <a:lumMod val="60000"/>
              </a:schemeClr>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Sheet1!$L$4:$L$14</c:f>
              <c:numCache>
                <c:formatCode>General</c:formatCode>
                <c:ptCount val="11"/>
                <c:pt idx="0">
                  <c:v>59.89</c:v>
                </c:pt>
                <c:pt idx="1">
                  <c:v>85.1</c:v>
                </c:pt>
                <c:pt idx="2">
                  <c:v>80.400000000000006</c:v>
                </c:pt>
                <c:pt idx="3">
                  <c:v>81.599999999999994</c:v>
                </c:pt>
                <c:pt idx="4">
                  <c:v>93</c:v>
                </c:pt>
                <c:pt idx="5">
                  <c:v>91.2</c:v>
                </c:pt>
                <c:pt idx="6">
                  <c:v>88.3</c:v>
                </c:pt>
                <c:pt idx="7">
                  <c:v>91</c:v>
                </c:pt>
                <c:pt idx="8">
                  <c:v>93.1</c:v>
                </c:pt>
                <c:pt idx="9">
                  <c:v>92.7</c:v>
                </c:pt>
                <c:pt idx="10">
                  <c:v>90.5</c:v>
                </c:pt>
              </c:numCache>
            </c:numRef>
          </c:val>
          <c:extLst>
            <c:ext xmlns:c16="http://schemas.microsoft.com/office/drawing/2014/chart" uri="{C3380CC4-5D6E-409C-BE32-E72D297353CC}">
              <c16:uniqueId val="{00000006-6667-4518-B7F7-1F5219A99A30}"/>
            </c:ext>
          </c:extLst>
        </c:ser>
        <c:ser>
          <c:idx val="7"/>
          <c:order val="7"/>
          <c:tx>
            <c:strRef>
              <c:f>Sheet1!$M$3</c:f>
              <c:strCache>
                <c:ptCount val="1"/>
                <c:pt idx="0">
                  <c:v>126</c:v>
                </c:pt>
              </c:strCache>
            </c:strRef>
          </c:tx>
          <c:spPr>
            <a:solidFill>
              <a:schemeClr val="accent2">
                <a:lumMod val="60000"/>
              </a:schemeClr>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Sheet1!$M$4:$M$14</c:f>
              <c:numCache>
                <c:formatCode>General</c:formatCode>
                <c:ptCount val="11"/>
                <c:pt idx="0">
                  <c:v>61.96</c:v>
                </c:pt>
                <c:pt idx="1">
                  <c:v>86</c:v>
                </c:pt>
                <c:pt idx="2">
                  <c:v>94</c:v>
                </c:pt>
                <c:pt idx="3">
                  <c:v>83.2</c:v>
                </c:pt>
                <c:pt idx="4">
                  <c:v>92.2</c:v>
                </c:pt>
                <c:pt idx="5">
                  <c:v>90.1</c:v>
                </c:pt>
                <c:pt idx="6">
                  <c:v>88.4</c:v>
                </c:pt>
                <c:pt idx="7">
                  <c:v>91.1</c:v>
                </c:pt>
                <c:pt idx="8">
                  <c:v>93</c:v>
                </c:pt>
                <c:pt idx="9">
                  <c:v>93.5</c:v>
                </c:pt>
                <c:pt idx="10">
                  <c:v>91.4</c:v>
                </c:pt>
              </c:numCache>
            </c:numRef>
          </c:val>
          <c:extLst>
            <c:ext xmlns:c16="http://schemas.microsoft.com/office/drawing/2014/chart" uri="{C3380CC4-5D6E-409C-BE32-E72D297353CC}">
              <c16:uniqueId val="{00000007-6667-4518-B7F7-1F5219A99A30}"/>
            </c:ext>
          </c:extLst>
        </c:ser>
        <c:ser>
          <c:idx val="8"/>
          <c:order val="8"/>
          <c:tx>
            <c:strRef>
              <c:f>Sheet1!$N$3</c:f>
              <c:strCache>
                <c:ptCount val="1"/>
                <c:pt idx="0">
                  <c:v>144</c:v>
                </c:pt>
              </c:strCache>
            </c:strRef>
          </c:tx>
          <c:spPr>
            <a:solidFill>
              <a:schemeClr val="accent3">
                <a:lumMod val="60000"/>
              </a:schemeClr>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Sheet1!$N$4:$N$14</c:f>
              <c:numCache>
                <c:formatCode>General</c:formatCode>
                <c:ptCount val="11"/>
                <c:pt idx="0">
                  <c:v>66.17</c:v>
                </c:pt>
                <c:pt idx="1">
                  <c:v>86.5</c:v>
                </c:pt>
                <c:pt idx="2">
                  <c:v>90</c:v>
                </c:pt>
                <c:pt idx="3">
                  <c:v>91.4</c:v>
                </c:pt>
                <c:pt idx="4">
                  <c:v>91.1</c:v>
                </c:pt>
                <c:pt idx="5">
                  <c:v>90</c:v>
                </c:pt>
                <c:pt idx="6">
                  <c:v>95</c:v>
                </c:pt>
                <c:pt idx="7">
                  <c:v>92.2</c:v>
                </c:pt>
                <c:pt idx="8">
                  <c:v>91.2</c:v>
                </c:pt>
                <c:pt idx="9">
                  <c:v>93.2</c:v>
                </c:pt>
                <c:pt idx="10">
                  <c:v>89</c:v>
                </c:pt>
              </c:numCache>
            </c:numRef>
          </c:val>
          <c:extLst>
            <c:ext xmlns:c16="http://schemas.microsoft.com/office/drawing/2014/chart" uri="{C3380CC4-5D6E-409C-BE32-E72D297353CC}">
              <c16:uniqueId val="{00000008-6667-4518-B7F7-1F5219A99A30}"/>
            </c:ext>
          </c:extLst>
        </c:ser>
        <c:ser>
          <c:idx val="9"/>
          <c:order val="9"/>
          <c:tx>
            <c:strRef>
              <c:f>Sheet1!$O$3</c:f>
              <c:strCache>
                <c:ptCount val="1"/>
                <c:pt idx="0">
                  <c:v>162</c:v>
                </c:pt>
              </c:strCache>
            </c:strRef>
          </c:tx>
          <c:spPr>
            <a:solidFill>
              <a:schemeClr val="accent4">
                <a:lumMod val="60000"/>
              </a:schemeClr>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Sheet1!$O$4:$O$14</c:f>
              <c:numCache>
                <c:formatCode>General</c:formatCode>
                <c:ptCount val="11"/>
                <c:pt idx="0">
                  <c:v>62.14</c:v>
                </c:pt>
                <c:pt idx="1">
                  <c:v>85.3</c:v>
                </c:pt>
                <c:pt idx="2">
                  <c:v>87.1</c:v>
                </c:pt>
                <c:pt idx="3">
                  <c:v>90.3</c:v>
                </c:pt>
                <c:pt idx="4">
                  <c:v>91.2</c:v>
                </c:pt>
                <c:pt idx="5">
                  <c:v>89.4</c:v>
                </c:pt>
                <c:pt idx="6">
                  <c:v>89.1</c:v>
                </c:pt>
                <c:pt idx="7">
                  <c:v>91.7</c:v>
                </c:pt>
                <c:pt idx="8">
                  <c:v>91.8</c:v>
                </c:pt>
                <c:pt idx="9">
                  <c:v>94.2</c:v>
                </c:pt>
                <c:pt idx="10">
                  <c:v>90.3</c:v>
                </c:pt>
              </c:numCache>
            </c:numRef>
          </c:val>
          <c:extLst>
            <c:ext xmlns:c16="http://schemas.microsoft.com/office/drawing/2014/chart" uri="{C3380CC4-5D6E-409C-BE32-E72D297353CC}">
              <c16:uniqueId val="{00000009-6667-4518-B7F7-1F5219A99A30}"/>
            </c:ext>
          </c:extLst>
        </c:ser>
        <c:ser>
          <c:idx val="10"/>
          <c:order val="10"/>
          <c:tx>
            <c:strRef>
              <c:f>Sheet1!$P$3</c:f>
              <c:strCache>
                <c:ptCount val="1"/>
                <c:pt idx="0">
                  <c:v>180</c:v>
                </c:pt>
              </c:strCache>
            </c:strRef>
          </c:tx>
          <c:spPr>
            <a:solidFill>
              <a:schemeClr val="accent5">
                <a:lumMod val="60000"/>
              </a:schemeClr>
            </a:solidFill>
            <a:ln>
              <a:noFill/>
            </a:ln>
            <a:effectLst/>
          </c:spPr>
          <c:invertIfNegative val="0"/>
          <c:cat>
            <c:numRef>
              <c:f>Sheet1!$E$4:$E$14</c:f>
              <c:numCache>
                <c:formatCode>General</c:formatCode>
                <c:ptCount val="11"/>
                <c:pt idx="0">
                  <c:v>0</c:v>
                </c:pt>
                <c:pt idx="1">
                  <c:v>18</c:v>
                </c:pt>
                <c:pt idx="2">
                  <c:v>36</c:v>
                </c:pt>
                <c:pt idx="3">
                  <c:v>54</c:v>
                </c:pt>
                <c:pt idx="4">
                  <c:v>72</c:v>
                </c:pt>
                <c:pt idx="5">
                  <c:v>90</c:v>
                </c:pt>
                <c:pt idx="6">
                  <c:v>108</c:v>
                </c:pt>
                <c:pt idx="7">
                  <c:v>126</c:v>
                </c:pt>
                <c:pt idx="8">
                  <c:v>144</c:v>
                </c:pt>
                <c:pt idx="9">
                  <c:v>162</c:v>
                </c:pt>
                <c:pt idx="10">
                  <c:v>180</c:v>
                </c:pt>
              </c:numCache>
            </c:numRef>
          </c:cat>
          <c:val>
            <c:numRef>
              <c:f>Sheet1!$P$4:$P$14</c:f>
              <c:numCache>
                <c:formatCode>General</c:formatCode>
                <c:ptCount val="11"/>
                <c:pt idx="0">
                  <c:v>91.11</c:v>
                </c:pt>
                <c:pt idx="1">
                  <c:v>87</c:v>
                </c:pt>
                <c:pt idx="2">
                  <c:v>88.4</c:v>
                </c:pt>
                <c:pt idx="3">
                  <c:v>90.7</c:v>
                </c:pt>
                <c:pt idx="4">
                  <c:v>90.7</c:v>
                </c:pt>
                <c:pt idx="5">
                  <c:v>88.5</c:v>
                </c:pt>
                <c:pt idx="6">
                  <c:v>87.3</c:v>
                </c:pt>
                <c:pt idx="7">
                  <c:v>89.9</c:v>
                </c:pt>
                <c:pt idx="8">
                  <c:v>92.1</c:v>
                </c:pt>
                <c:pt idx="9">
                  <c:v>95</c:v>
                </c:pt>
                <c:pt idx="10">
                  <c:v>89.5</c:v>
                </c:pt>
              </c:numCache>
            </c:numRef>
          </c:val>
          <c:extLst>
            <c:ext xmlns:c16="http://schemas.microsoft.com/office/drawing/2014/chart" uri="{C3380CC4-5D6E-409C-BE32-E72D297353CC}">
              <c16:uniqueId val="{0000000A-6667-4518-B7F7-1F5219A99A30}"/>
            </c:ext>
          </c:extLst>
        </c:ser>
        <c:dLbls>
          <c:showLegendKey val="0"/>
          <c:showVal val="0"/>
          <c:showCatName val="0"/>
          <c:showSerName val="0"/>
          <c:showPercent val="0"/>
          <c:showBubbleSize val="0"/>
        </c:dLbls>
        <c:gapWidth val="150"/>
        <c:axId val="1469238816"/>
        <c:axId val="1224688976"/>
      </c:barChart>
      <c:catAx>
        <c:axId val="14692388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24688976"/>
        <c:crosses val="autoZero"/>
        <c:auto val="1"/>
        <c:lblAlgn val="ctr"/>
        <c:lblOffset val="100"/>
        <c:noMultiLvlLbl val="0"/>
      </c:catAx>
      <c:valAx>
        <c:axId val="12246889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69238816"/>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image" Target="../media/image19.png"/></Relationships>
</file>

<file path=ppt/diagrams/_rels/drawing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52FB7251-D2C3-42F5-BA2A-6D160658A4D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347E137-7FEA-431D-9202-A9F17C19A234}">
      <dgm:prSet/>
      <dgm:spPr/>
      <dgm:t>
        <a:bodyPr/>
        <a:lstStyle/>
        <a:p>
          <a:pPr>
            <a:lnSpc>
              <a:spcPct val="100000"/>
            </a:lnSpc>
          </a:pPr>
          <a:r>
            <a:rPr lang="en-IN" dirty="0"/>
            <a:t>When testing on two different datasets the mean accuracy is about </a:t>
          </a:r>
          <a:r>
            <a:rPr lang="en-IN" dirty="0" smtClean="0"/>
            <a:t>92.83 </a:t>
          </a:r>
          <a:r>
            <a:rPr lang="en-IN" dirty="0"/>
            <a:t>%</a:t>
          </a:r>
          <a:endParaRPr lang="en-US" dirty="0"/>
        </a:p>
      </dgm:t>
    </dgm:pt>
    <dgm:pt modelId="{4CBA2812-0CF8-49FB-94FC-E4FC8B8AB8A4}" type="parTrans" cxnId="{0880D933-9AB6-46B9-90A4-16B843508C16}">
      <dgm:prSet/>
      <dgm:spPr/>
      <dgm:t>
        <a:bodyPr/>
        <a:lstStyle/>
        <a:p>
          <a:endParaRPr lang="en-US"/>
        </a:p>
      </dgm:t>
    </dgm:pt>
    <dgm:pt modelId="{DF76D503-E309-48E4-BCE5-4CFB4E36C8C6}" type="sibTrans" cxnId="{0880D933-9AB6-46B9-90A4-16B843508C16}">
      <dgm:prSet/>
      <dgm:spPr/>
      <dgm:t>
        <a:bodyPr/>
        <a:lstStyle/>
        <a:p>
          <a:endParaRPr lang="en-US"/>
        </a:p>
      </dgm:t>
    </dgm:pt>
    <dgm:pt modelId="{B1799D09-8694-4398-9A8E-23FA0A8303E8}" type="pres">
      <dgm:prSet presAssocID="{52FB7251-D2C3-42F5-BA2A-6D160658A4D6}" presName="root" presStyleCnt="0">
        <dgm:presLayoutVars>
          <dgm:dir/>
          <dgm:resizeHandles val="exact"/>
        </dgm:presLayoutVars>
      </dgm:prSet>
      <dgm:spPr/>
      <dgm:t>
        <a:bodyPr/>
        <a:lstStyle/>
        <a:p>
          <a:endParaRPr lang="en-US"/>
        </a:p>
      </dgm:t>
    </dgm:pt>
    <dgm:pt modelId="{AAD30110-0C51-401D-964D-935544F40D65}" type="pres">
      <dgm:prSet presAssocID="{D347E137-7FEA-431D-9202-A9F17C19A234}" presName="compNode" presStyleCnt="0"/>
      <dgm:spPr/>
    </dgm:pt>
    <dgm:pt modelId="{8494C6F5-D2C9-4FE2-A763-70BDAB853EBB}" type="pres">
      <dgm:prSet presAssocID="{D347E137-7FEA-431D-9202-A9F17C19A234}" presName="bgRect" presStyleLbl="bgShp" presStyleIdx="0" presStyleCnt="1" custLinFactY="20841" custLinFactNeighborX="156" custLinFactNeighborY="100000"/>
      <dgm:spPr/>
    </dgm:pt>
    <dgm:pt modelId="{42836863-A588-42ED-8284-0F4E338EFC91}" type="pres">
      <dgm:prSet presAssocID="{D347E137-7FEA-431D-9202-A9F17C19A234}" presName="iconRect" presStyleLbl="node1" presStyleIdx="0" presStyleCnt="1" custLinFactY="100000" custLinFactNeighborX="-12146" custLinFactNeighborY="111341"/>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Microscope"/>
        </a:ext>
      </dgm:extLst>
    </dgm:pt>
    <dgm:pt modelId="{C9DC799A-743F-48C8-B38A-E018DB0B7D68}" type="pres">
      <dgm:prSet presAssocID="{D347E137-7FEA-431D-9202-A9F17C19A234}" presName="spaceRect" presStyleCnt="0"/>
      <dgm:spPr/>
    </dgm:pt>
    <dgm:pt modelId="{DF3EB07C-D550-481D-A8A4-5744E01023AD}" type="pres">
      <dgm:prSet presAssocID="{D347E137-7FEA-431D-9202-A9F17C19A234}" presName="parTx" presStyleLbl="revTx" presStyleIdx="0" presStyleCnt="1" custLinFactY="16532" custLinFactNeighborX="227" custLinFactNeighborY="100000">
        <dgm:presLayoutVars>
          <dgm:chMax val="0"/>
          <dgm:chPref val="0"/>
        </dgm:presLayoutVars>
      </dgm:prSet>
      <dgm:spPr/>
      <dgm:t>
        <a:bodyPr/>
        <a:lstStyle/>
        <a:p>
          <a:endParaRPr lang="en-US"/>
        </a:p>
      </dgm:t>
    </dgm:pt>
  </dgm:ptLst>
  <dgm:cxnLst>
    <dgm:cxn modelId="{0880D933-9AB6-46B9-90A4-16B843508C16}" srcId="{52FB7251-D2C3-42F5-BA2A-6D160658A4D6}" destId="{D347E137-7FEA-431D-9202-A9F17C19A234}" srcOrd="0" destOrd="0" parTransId="{4CBA2812-0CF8-49FB-94FC-E4FC8B8AB8A4}" sibTransId="{DF76D503-E309-48E4-BCE5-4CFB4E36C8C6}"/>
    <dgm:cxn modelId="{C1ED5763-DD40-47EF-B5C0-D5A3703381BB}" type="presOf" srcId="{52FB7251-D2C3-42F5-BA2A-6D160658A4D6}" destId="{B1799D09-8694-4398-9A8E-23FA0A8303E8}" srcOrd="0" destOrd="0" presId="urn:microsoft.com/office/officeart/2018/2/layout/IconVerticalSolidList"/>
    <dgm:cxn modelId="{BEF22AAE-D5A5-47EA-A008-B28706C15607}" type="presOf" srcId="{D347E137-7FEA-431D-9202-A9F17C19A234}" destId="{DF3EB07C-D550-481D-A8A4-5744E01023AD}" srcOrd="0" destOrd="0" presId="urn:microsoft.com/office/officeart/2018/2/layout/IconVerticalSolidList"/>
    <dgm:cxn modelId="{F9435562-1482-4945-8844-9410E6D1E28B}" type="presParOf" srcId="{B1799D09-8694-4398-9A8E-23FA0A8303E8}" destId="{AAD30110-0C51-401D-964D-935544F40D65}" srcOrd="0" destOrd="0" presId="urn:microsoft.com/office/officeart/2018/2/layout/IconVerticalSolidList"/>
    <dgm:cxn modelId="{882A3B1B-D25A-4BDC-A25A-28AA9017170F}" type="presParOf" srcId="{AAD30110-0C51-401D-964D-935544F40D65}" destId="{8494C6F5-D2C9-4FE2-A763-70BDAB853EBB}" srcOrd="0" destOrd="0" presId="urn:microsoft.com/office/officeart/2018/2/layout/IconVerticalSolidList"/>
    <dgm:cxn modelId="{155A311E-6A00-4A94-B197-EB2E11979993}" type="presParOf" srcId="{AAD30110-0C51-401D-964D-935544F40D65}" destId="{42836863-A588-42ED-8284-0F4E338EFC91}" srcOrd="1" destOrd="0" presId="urn:microsoft.com/office/officeart/2018/2/layout/IconVerticalSolidList"/>
    <dgm:cxn modelId="{39C5B96C-0FEF-43D1-A252-67D65387C085}" type="presParOf" srcId="{AAD30110-0C51-401D-964D-935544F40D65}" destId="{C9DC799A-743F-48C8-B38A-E018DB0B7D68}" srcOrd="2" destOrd="0" presId="urn:microsoft.com/office/officeart/2018/2/layout/IconVerticalSolidList"/>
    <dgm:cxn modelId="{9C01A460-5048-420B-BAE0-1435C35AB02E}" type="presParOf" srcId="{AAD30110-0C51-401D-964D-935544F40D65}" destId="{DF3EB07C-D550-481D-A8A4-5744E01023A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94C6F5-D2C9-4FE2-A763-70BDAB853EBB}">
      <dsp:nvSpPr>
        <dsp:cNvPr id="0" name=""/>
        <dsp:cNvSpPr/>
      </dsp:nvSpPr>
      <dsp:spPr>
        <a:xfrm>
          <a:off x="0" y="4119798"/>
          <a:ext cx="6513603" cy="176562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2836863-A588-42ED-8284-0F4E338EFC91}">
      <dsp:nvSpPr>
        <dsp:cNvPr id="0" name=""/>
        <dsp:cNvSpPr/>
      </dsp:nvSpPr>
      <dsp:spPr>
        <a:xfrm>
          <a:off x="416153" y="4509487"/>
          <a:ext cx="971095" cy="971095"/>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F3EB07C-D550-481D-A8A4-5744E01023AD}">
      <dsp:nvSpPr>
        <dsp:cNvPr id="0" name=""/>
        <dsp:cNvSpPr/>
      </dsp:nvSpPr>
      <dsp:spPr>
        <a:xfrm>
          <a:off x="2039300" y="4117420"/>
          <a:ext cx="4474303" cy="17656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862" tIns="186862" rIns="186862" bIns="186862" numCol="1" spcCol="1270" anchor="ctr" anchorCtr="0">
          <a:noAutofit/>
        </a:bodyPr>
        <a:lstStyle/>
        <a:p>
          <a:pPr lvl="0" algn="l" defTabSz="1111250">
            <a:lnSpc>
              <a:spcPct val="100000"/>
            </a:lnSpc>
            <a:spcBef>
              <a:spcPct val="0"/>
            </a:spcBef>
            <a:spcAft>
              <a:spcPct val="35000"/>
            </a:spcAft>
          </a:pPr>
          <a:r>
            <a:rPr lang="en-IN" sz="2500" kern="1200" dirty="0"/>
            <a:t>When testing on two different datasets the mean accuracy is about </a:t>
          </a:r>
          <a:r>
            <a:rPr lang="en-IN" sz="2500" kern="1200" dirty="0" smtClean="0"/>
            <a:t>92.83 </a:t>
          </a:r>
          <a:r>
            <a:rPr lang="en-IN" sz="2500" kern="1200" dirty="0"/>
            <a:t>%</a:t>
          </a:r>
          <a:endParaRPr lang="en-US" sz="2500" kern="1200" dirty="0"/>
        </a:p>
      </dsp:txBody>
      <dsp:txXfrm>
        <a:off x="2039300" y="4117420"/>
        <a:ext cx="4474303" cy="176562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5B2FEF-702F-4652-A16A-FE5A5C6D5153}" type="datetimeFigureOut">
              <a:rPr lang="en-US" smtClean="0"/>
              <a:t>1/30/2020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A0EA46-11D6-46A1-914D-429352478F67}" type="slidenum">
              <a:rPr lang="en-US" smtClean="0"/>
              <a:t>‹#›</a:t>
            </a:fld>
            <a:endParaRPr lang="en-US"/>
          </a:p>
        </p:txBody>
      </p:sp>
    </p:spTree>
    <p:extLst>
      <p:ext uri="{BB962C8B-B14F-4D97-AF65-F5344CB8AC3E}">
        <p14:creationId xmlns:p14="http://schemas.microsoft.com/office/powerpoint/2010/main" val="33302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58e64052ad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58e64052a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7461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3E860BB-D917-4597-BABD-A37F5CB24115}" type="datetimeFigureOut">
              <a:rPr lang="en-US" smtClean="0"/>
              <a:t>1/30/2020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1841708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E860BB-D917-4597-BABD-A37F5CB24115}" type="datetimeFigureOut">
              <a:rPr lang="en-US" smtClean="0"/>
              <a:t>1/30/2020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4822899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3E860BB-D917-4597-BABD-A37F5CB24115}" type="datetimeFigureOut">
              <a:rPr lang="en-US" smtClean="0"/>
              <a:t>1/30/2020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3336837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3E860BB-D917-4597-BABD-A37F5CB24115}" type="datetimeFigureOut">
              <a:rPr lang="en-US" smtClean="0"/>
              <a:t>1/30/2020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1673311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3E860BB-D917-4597-BABD-A37F5CB24115}" type="datetimeFigureOut">
              <a:rPr lang="en-US" smtClean="0"/>
              <a:t>1/30/2020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4212989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3E860BB-D917-4597-BABD-A37F5CB24115}" type="datetimeFigureOut">
              <a:rPr lang="en-US" smtClean="0"/>
              <a:t>1/30/2020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3035906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E860BB-D917-4597-BABD-A37F5CB24115}" type="datetimeFigureOut">
              <a:rPr lang="en-US" smtClean="0"/>
              <a:t>1/30/2020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2743664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3E860BB-D917-4597-BABD-A37F5CB24115}" type="datetimeFigureOut">
              <a:rPr lang="en-US" smtClean="0"/>
              <a:t>1/30/2020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2533305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3E860BB-D917-4597-BABD-A37F5CB24115}" type="datetimeFigureOut">
              <a:rPr lang="en-US" smtClean="0"/>
              <a:t>1/30/2020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2690669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E860BB-D917-4597-BABD-A37F5CB24115}" type="datetimeFigureOut">
              <a:rPr lang="en-US" smtClean="0"/>
              <a:t>1/30/2020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390728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3E860BB-D917-4597-BABD-A37F5CB24115}" type="datetimeFigureOut">
              <a:rPr lang="en-US" smtClean="0"/>
              <a:t>1/30/2020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AA1497-51BB-4E67-B21B-F9D05F96F311}" type="slidenum">
              <a:rPr lang="en-US" smtClean="0"/>
              <a:t>‹#›</a:t>
            </a:fld>
            <a:endParaRPr lang="en-US"/>
          </a:p>
        </p:txBody>
      </p:sp>
    </p:spTree>
    <p:extLst>
      <p:ext uri="{BB962C8B-B14F-4D97-AF65-F5344CB8AC3E}">
        <p14:creationId xmlns:p14="http://schemas.microsoft.com/office/powerpoint/2010/main" val="3409402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9"/>
        <p:cNvGrpSpPr/>
        <p:nvPr/>
      </p:nvGrpSpPr>
      <p:grpSpPr>
        <a:xfrm>
          <a:off x="0" y="0"/>
          <a:ext cx="0" cy="0"/>
          <a:chOff x="0" y="0"/>
          <a:chExt cx="0" cy="0"/>
        </a:xfrm>
      </p:grpSpPr>
      <p:sp>
        <p:nvSpPr>
          <p:cNvPr id="20" name="Google Shape;20;p4"/>
          <p:cNvSpPr/>
          <p:nvPr/>
        </p:nvSpPr>
        <p:spPr>
          <a:xfrm>
            <a:off x="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4"/>
          <p:cNvSpPr txBox="1">
            <a:spLocks noGrp="1"/>
          </p:cNvSpPr>
          <p:nvPr>
            <p:ph type="title"/>
          </p:nvPr>
        </p:nvSpPr>
        <p:spPr>
          <a:xfrm>
            <a:off x="415600" y="593367"/>
            <a:ext cx="11360800" cy="817600"/>
          </a:xfrm>
          <a:prstGeom prst="rect">
            <a:avLst/>
          </a:prstGeom>
        </p:spPr>
        <p:txBody>
          <a:bodyPr spcFirstLastPara="1" wrap="square" lIns="91425" tIns="91425" rIns="91425" bIns="91425" anchor="t" anchorCtr="0"/>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415600" y="1562133"/>
            <a:ext cx="11360800" cy="4529600"/>
          </a:xfrm>
          <a:prstGeom prst="rect">
            <a:avLst/>
          </a:prstGeom>
        </p:spPr>
        <p:txBody>
          <a:bodyPr spcFirstLastPara="1" wrap="square" lIns="91425" tIns="91425" rIns="91425" bIns="91425" anchor="t" anchorCtr="0"/>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23" name="Google Shape;23;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4513956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3FC02-91F5-4991-93CF-7120ED3ACB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F554C73-5CDE-44AF-81FB-EDBA82618D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A9D1310-D286-4D43-9B56-E077A74EE4E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8C8EEA3D-87C9-4E43-A92E-7754C0B739C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9A0F7BE1-B0BE-405F-84AA-6BC565D366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26854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28F25-935D-4743-A243-874CE2FCDE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F9BFBF-DE83-4F4B-BA08-68A2D10911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AD71AD-26E3-4A50-A962-1BE29703E37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F137550A-88CE-45FE-98A3-1E8AF14C56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8363635-6924-405E-963B-4EDF9BD431D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6476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D67FC-C42C-4F3A-9B9C-7298E51DC64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FE3047-EA58-4F9D-B918-8A87EEFDB7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4C939D-B22C-46DC-B852-4E51947665B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20972346-F179-40C5-834A-2EA0AC29AB7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0F71414-4EBB-432C-877F-0BABA2B9FFE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03791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C003D-1999-4DD4-9656-68C0397B799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62FA86-4650-4FF8-AA22-ECB0B6B9E3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B36527-C204-4B48-BD5E-FBABB3B121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2F5D1F-E50E-47F4-9DD5-799ED5CBE94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0F95D13D-E091-44ED-BAB1-472DC1ED08E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24B64FB7-E590-4D31-B5AD-D5FE19C0720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80528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87032-8B37-4EC5-948B-4F01C51D32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0598FB-F6CE-49D8-870C-F6E606FA84C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CFE09D-2C93-417F-9563-D28C167D8B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A3EC7A5-FD76-4218-BE9D-A4BFBC62973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F1083D7-0EDB-4ACA-967A-566192D93F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707EC27-15AC-4D70-8A66-D8B1E385C34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C2FD3237-C5CC-469E-B879-83C64434B2D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25799D4F-18FE-49DA-8A68-3CC7A52506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092597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07631-C2A6-4431-9CBE-7C1B1BA4D4E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681A02E-ADFE-49B1-8EFB-2E937FD0183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A7833F6-D428-47BB-8D56-06790FC2529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BAD98CD6-E1D2-43DE-B429-A42C575BE1D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23320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69BE67-8153-4BB5-BFFE-3DB4856AE8D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ADB9551E-866F-4CB5-9260-B108B91E48A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A7DDBD7D-069A-4506-AD2A-A4282C3379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84349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BF73F-E86C-4A05-8B93-2442DF1E85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B94F153-0C29-4E89-ACC8-B56B00ED82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4093B53-8F8E-4074-A84B-EC1C06E0AD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DAB865-5BC4-4A9E-B388-ED7668305C1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4C4449B4-BBD2-4509-A3CF-9F89FF30E23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251B2B0F-1D63-4105-ABD3-C6C86BDC34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2260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B9026-A13E-4D41-A990-0DEE585614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807B9E-460B-42A9-B4EB-418A1C0AEC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055D7DA-7772-4834-9A64-D8A70615EF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CE583B-E8FB-4F8F-B9C0-68F5A2CBE08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0D1E615D-EE7F-45F1-9871-842189DE9CA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1D4B7A26-4F63-4079-8CFE-272B667F131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4383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0BC06-D605-4314-82A4-521B6E97F12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897FC9-CC0F-41AA-86F7-D8C8DC85F8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DD28B3-4578-4E6B-B838-A8632627475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4D8023A7-BF5F-4837-8C82-16F2417E5C89}"/>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4DA41D4D-617C-401B-873C-AF3BE91E9E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05262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CF95B4-103E-49AD-9EE2-B7D33CAE88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1763A0-2AFC-4DD5-9AEC-EBDC5BAC53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185231-0580-4C4B-8F81-5DC8D0CE822B}"/>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81EA64E-5E8E-489E-9812-23D781372B3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BF5BF038-F7F8-4572-99A0-94D5DD5D48E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17590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E860BB-D917-4597-BABD-A37F5CB24115}" type="datetimeFigureOut">
              <a:rPr lang="en-US" smtClean="0"/>
              <a:t>1/30/2020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AA1497-51BB-4E67-B21B-F9D05F96F311}" type="slidenum">
              <a:rPr lang="en-US" smtClean="0"/>
              <a:t>‹#›</a:t>
            </a:fld>
            <a:endParaRPr lang="en-US"/>
          </a:p>
        </p:txBody>
      </p:sp>
    </p:spTree>
    <p:extLst>
      <p:ext uri="{BB962C8B-B14F-4D97-AF65-F5344CB8AC3E}">
        <p14:creationId xmlns:p14="http://schemas.microsoft.com/office/powerpoint/2010/main" val="3914334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E032B1-8FB8-45F9-9273-E1DDCDD752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5AD3D4-8429-4E34-9DB5-B7CBCCADF9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FC3D28-A8A1-4E11-8409-392FA5D37B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A70006A-0A1D-439F-8771-1FB8A58C5604}" type="datetimeFigureOut">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30-01-2020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3460C4F8-A233-4781-AE65-8EDE1D15FE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E9C0F52-E30B-4FC5-A18A-9DAD5DD44A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384E1A-B59E-4815-8C70-803C4B83312F}"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992919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8.png"/><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848100"/>
            <a:ext cx="9144000" cy="2616200"/>
          </a:xfrm>
        </p:spPr>
        <p:txBody>
          <a:bodyPr>
            <a:normAutofit/>
          </a:bodyPr>
          <a:lstStyle/>
          <a:p>
            <a:r>
              <a:rPr lang="en-US" sz="2000" dirty="0" err="1" smtClean="0"/>
              <a:t>Anubha</a:t>
            </a:r>
            <a:r>
              <a:rPr lang="en-US" sz="2000" dirty="0" smtClean="0"/>
              <a:t> </a:t>
            </a:r>
            <a:r>
              <a:rPr lang="en-US" sz="2000" dirty="0" err="1" smtClean="0"/>
              <a:t>Parashar</a:t>
            </a:r>
            <a:r>
              <a:rPr lang="en-US" sz="2000" dirty="0" smtClean="0"/>
              <a:t> ,Computer Science &amp; Engineering, </a:t>
            </a:r>
            <a:r>
              <a:rPr lang="en-US" sz="2000" dirty="0" err="1" smtClean="0"/>
              <a:t>Manipal</a:t>
            </a:r>
            <a:r>
              <a:rPr lang="en-US" sz="2000" dirty="0" smtClean="0"/>
              <a:t> University Jaipur</a:t>
            </a:r>
          </a:p>
          <a:p>
            <a:r>
              <a:rPr lang="en-US" sz="2000" dirty="0" err="1" smtClean="0"/>
              <a:t>Rajveer</a:t>
            </a:r>
            <a:r>
              <a:rPr lang="en-US" sz="2000" dirty="0" smtClean="0"/>
              <a:t> Singh </a:t>
            </a:r>
            <a:r>
              <a:rPr lang="en-US" sz="2000" dirty="0" err="1" smtClean="0"/>
              <a:t>Shekhawat</a:t>
            </a:r>
            <a:r>
              <a:rPr lang="en-US" sz="2000" dirty="0" smtClean="0"/>
              <a:t>,  Computer Science &amp; Engineering, </a:t>
            </a:r>
            <a:r>
              <a:rPr lang="en-US" sz="2000" dirty="0" err="1" smtClean="0"/>
              <a:t>Manipal</a:t>
            </a:r>
            <a:r>
              <a:rPr lang="en-US" sz="2000" dirty="0" smtClean="0"/>
              <a:t> </a:t>
            </a:r>
            <a:r>
              <a:rPr lang="en-US" sz="2000" dirty="0"/>
              <a:t>University </a:t>
            </a:r>
            <a:r>
              <a:rPr lang="en-US" sz="2000" dirty="0" smtClean="0"/>
              <a:t>Jaipur</a:t>
            </a:r>
          </a:p>
          <a:p>
            <a:r>
              <a:rPr lang="en-US" sz="2000" dirty="0" err="1" smtClean="0"/>
              <a:t>Apoorva</a:t>
            </a:r>
            <a:r>
              <a:rPr lang="en-US" sz="2000" dirty="0" smtClean="0"/>
              <a:t> </a:t>
            </a:r>
            <a:r>
              <a:rPr lang="en-US" sz="2000" dirty="0" err="1"/>
              <a:t>Parashar</a:t>
            </a:r>
            <a:r>
              <a:rPr lang="en-US" sz="2000" dirty="0"/>
              <a:t> ,Computer Science &amp; Engineering, </a:t>
            </a:r>
            <a:r>
              <a:rPr lang="en-US" sz="2000" dirty="0" err="1" smtClean="0"/>
              <a:t>Maharshi</a:t>
            </a:r>
            <a:r>
              <a:rPr lang="en-US" sz="2000" dirty="0" smtClean="0"/>
              <a:t> </a:t>
            </a:r>
            <a:r>
              <a:rPr lang="en-US" sz="2000" dirty="0" err="1" smtClean="0"/>
              <a:t>Dayanand</a:t>
            </a:r>
            <a:r>
              <a:rPr lang="en-US" sz="2000" dirty="0" smtClean="0"/>
              <a:t> University</a:t>
            </a:r>
          </a:p>
          <a:p>
            <a:r>
              <a:rPr lang="en-US" sz="2000" dirty="0" err="1" smtClean="0"/>
              <a:t>Vidyadhar</a:t>
            </a:r>
            <a:r>
              <a:rPr lang="en-US" sz="2000" dirty="0" smtClean="0"/>
              <a:t> </a:t>
            </a:r>
            <a:r>
              <a:rPr lang="en-US" sz="2000" dirty="0" err="1" smtClean="0"/>
              <a:t>Aski</a:t>
            </a:r>
            <a:r>
              <a:rPr lang="en-US" sz="2000" dirty="0" smtClean="0"/>
              <a:t> </a:t>
            </a:r>
            <a:r>
              <a:rPr lang="en-US" sz="2000" dirty="0"/>
              <a:t>,Computer </a:t>
            </a:r>
            <a:r>
              <a:rPr lang="en-US" sz="2000" dirty="0" smtClean="0"/>
              <a:t>&amp; Communication Engineering</a:t>
            </a:r>
            <a:r>
              <a:rPr lang="en-US" sz="2000" dirty="0"/>
              <a:t>, </a:t>
            </a:r>
            <a:r>
              <a:rPr lang="en-US" sz="2000" dirty="0" err="1"/>
              <a:t>Manipal</a:t>
            </a:r>
            <a:r>
              <a:rPr lang="en-US" sz="2000" dirty="0"/>
              <a:t> University Jaipur</a:t>
            </a:r>
          </a:p>
          <a:p>
            <a:endParaRPr lang="en-US" sz="1800" dirty="0"/>
          </a:p>
          <a:p>
            <a:endParaRPr lang="en-US" sz="1800" dirty="0" smtClean="0"/>
          </a:p>
          <a:p>
            <a:endParaRPr lang="en-US" sz="1800" dirty="0" smtClean="0"/>
          </a:p>
          <a:p>
            <a:endParaRPr lang="en-US" sz="1800" dirty="0"/>
          </a:p>
          <a:p>
            <a:endParaRPr lang="en-US" dirty="0"/>
          </a:p>
        </p:txBody>
      </p:sp>
      <p:sp>
        <p:nvSpPr>
          <p:cNvPr id="4" name="Title 3"/>
          <p:cNvSpPr>
            <a:spLocks noGrp="1"/>
          </p:cNvSpPr>
          <p:nvPr>
            <p:ph type="ctrTitle"/>
          </p:nvPr>
        </p:nvSpPr>
        <p:spPr/>
        <p:txBody>
          <a:bodyPr>
            <a:noAutofit/>
          </a:bodyPr>
          <a:lstStyle/>
          <a:p>
            <a:r>
              <a:rPr lang="en-US" sz="4000" b="1" dirty="0"/>
              <a:t>Surveillance System to Provide Secured Gait Signatures </a:t>
            </a:r>
            <a:r>
              <a:rPr lang="en-US" sz="4000" b="1" dirty="0" smtClean="0"/>
              <a:t>Using </a:t>
            </a:r>
            <a:r>
              <a:rPr lang="en-US" sz="4000" b="1" dirty="0"/>
              <a:t>Deep </a:t>
            </a:r>
            <a:r>
              <a:rPr lang="en-US" sz="4000" b="1" dirty="0" smtClean="0"/>
              <a:t>Learning</a:t>
            </a:r>
            <a:endParaRPr lang="en-US" sz="4000" dirty="0"/>
          </a:p>
        </p:txBody>
      </p:sp>
      <p:pic>
        <p:nvPicPr>
          <p:cNvPr id="6" name="Picture 5"/>
          <p:cNvPicPr>
            <a:picLocks noChangeAspect="1"/>
          </p:cNvPicPr>
          <p:nvPr/>
        </p:nvPicPr>
        <p:blipFill>
          <a:blip r:embed="rId2"/>
          <a:stretch>
            <a:fillRect/>
          </a:stretch>
        </p:blipFill>
        <p:spPr>
          <a:xfrm>
            <a:off x="10782300" y="246424"/>
            <a:ext cx="1238250" cy="1238250"/>
          </a:xfrm>
          <a:prstGeom prst="rect">
            <a:avLst/>
          </a:prstGeom>
        </p:spPr>
      </p:pic>
      <p:pic>
        <p:nvPicPr>
          <p:cNvPr id="5128" name="Picture 8" descr="Image result for manipal university jaipur logo&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450" y="246424"/>
            <a:ext cx="1352550" cy="156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09643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a:t>
            </a:r>
          </a:p>
        </p:txBody>
      </p:sp>
      <p:sp>
        <p:nvSpPr>
          <p:cNvPr id="3" name="Content Placeholder 2"/>
          <p:cNvSpPr>
            <a:spLocks noGrp="1"/>
          </p:cNvSpPr>
          <p:nvPr>
            <p:ph idx="1"/>
          </p:nvPr>
        </p:nvSpPr>
        <p:spPr>
          <a:xfrm>
            <a:off x="838200" y="1825625"/>
            <a:ext cx="4826000" cy="4805830"/>
          </a:xfrm>
        </p:spPr>
        <p:txBody>
          <a:bodyPr>
            <a:normAutofit fontScale="92500" lnSpcReduction="10000"/>
          </a:bodyPr>
          <a:lstStyle/>
          <a:p>
            <a:pPr algn="just"/>
            <a:r>
              <a:rPr lang="en-US" dirty="0"/>
              <a:t>Biometrics is an important technique for uniquely identify the human.  </a:t>
            </a:r>
            <a:endParaRPr lang="en-US" dirty="0" smtClean="0"/>
          </a:p>
          <a:p>
            <a:pPr algn="just"/>
            <a:r>
              <a:rPr lang="en-US" dirty="0" smtClean="0"/>
              <a:t>There </a:t>
            </a:r>
            <a:r>
              <a:rPr lang="en-US" dirty="0"/>
              <a:t>are many techniques like face recognition, iris, finger print etc. But all these either need high resolution images or need human intervention. </a:t>
            </a:r>
            <a:endParaRPr lang="en-US" dirty="0" smtClean="0"/>
          </a:p>
          <a:p>
            <a:pPr algn="just"/>
            <a:r>
              <a:rPr lang="en-US" dirty="0" smtClean="0"/>
              <a:t>Gait </a:t>
            </a:r>
            <a:r>
              <a:rPr lang="en-US" dirty="0"/>
              <a:t>is the most efficient and effective biometric when it comes to monitoring individual subjects who are not very </a:t>
            </a:r>
            <a:r>
              <a:rPr lang="en-US" dirty="0" smtClean="0"/>
              <a:t>cooperative.</a:t>
            </a:r>
          </a:p>
        </p:txBody>
      </p:sp>
      <p:pic>
        <p:nvPicPr>
          <p:cNvPr id="4" name="Picture 2" descr="Image result for gait biometrics&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02018"/>
            <a:ext cx="5486400" cy="67559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0939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Gait Recognition</a:t>
            </a:r>
            <a:endParaRPr lang="en-US" b="1" dirty="0"/>
          </a:p>
        </p:txBody>
      </p:sp>
      <p:sp>
        <p:nvSpPr>
          <p:cNvPr id="3" name="Content Placeholder 2"/>
          <p:cNvSpPr>
            <a:spLocks noGrp="1"/>
          </p:cNvSpPr>
          <p:nvPr>
            <p:ph idx="1"/>
          </p:nvPr>
        </p:nvSpPr>
        <p:spPr>
          <a:xfrm>
            <a:off x="838200" y="1543890"/>
            <a:ext cx="10515600" cy="5166192"/>
          </a:xfrm>
        </p:spPr>
        <p:txBody>
          <a:bodyPr>
            <a:normAutofit fontScale="92500" lnSpcReduction="10000"/>
          </a:bodyPr>
          <a:lstStyle/>
          <a:p>
            <a:pPr marL="0" indent="0" algn="just">
              <a:buNone/>
            </a:pPr>
            <a:r>
              <a:rPr lang="en-US" dirty="0"/>
              <a:t>Model-based </a:t>
            </a:r>
            <a:r>
              <a:rPr lang="en-US" dirty="0" smtClean="0"/>
              <a:t>methods</a:t>
            </a:r>
          </a:p>
          <a:p>
            <a:pPr marL="0" indent="0" algn="just">
              <a:buNone/>
            </a:pPr>
            <a:endParaRPr lang="en-US" dirty="0" smtClean="0"/>
          </a:p>
          <a:p>
            <a:pPr marL="0" indent="0" algn="just">
              <a:buNone/>
            </a:pPr>
            <a:endParaRPr lang="en-US" dirty="0"/>
          </a:p>
          <a:p>
            <a:pPr marL="0" indent="0" algn="just">
              <a:buNone/>
            </a:pPr>
            <a:endParaRPr lang="en-US" dirty="0" smtClean="0"/>
          </a:p>
          <a:p>
            <a:pPr marL="0" indent="0" algn="just">
              <a:buNone/>
            </a:pPr>
            <a:endParaRPr lang="en-US" dirty="0"/>
          </a:p>
          <a:p>
            <a:pPr marL="0" indent="0" algn="just">
              <a:buNone/>
            </a:pPr>
            <a:endParaRPr lang="en-US" dirty="0" smtClean="0"/>
          </a:p>
          <a:p>
            <a:pPr marL="0" indent="0" algn="just">
              <a:buNone/>
            </a:pPr>
            <a:endParaRPr lang="en-US" dirty="0"/>
          </a:p>
          <a:p>
            <a:pPr marL="0" indent="0" algn="just">
              <a:buNone/>
            </a:pPr>
            <a:endParaRPr lang="en-US" dirty="0" smtClean="0"/>
          </a:p>
          <a:p>
            <a:pPr algn="just"/>
            <a:r>
              <a:rPr lang="en-US" sz="2200" dirty="0" smtClean="0"/>
              <a:t>They </a:t>
            </a:r>
            <a:r>
              <a:rPr lang="en-US" sz="2200" dirty="0"/>
              <a:t>have the ability to deal with the various intra-class variations caused by different covariates such as </a:t>
            </a:r>
            <a:r>
              <a:rPr lang="en-US" sz="2200" dirty="0" smtClean="0"/>
              <a:t>clothing</a:t>
            </a:r>
            <a:r>
              <a:rPr lang="en-US" sz="2200" dirty="0"/>
              <a:t>, carrying and view angle which affect the subjects appearance. </a:t>
            </a:r>
            <a:endParaRPr lang="en-US" sz="2200" dirty="0" smtClean="0"/>
          </a:p>
          <a:p>
            <a:pPr algn="just"/>
            <a:r>
              <a:rPr lang="en-US" sz="2200" dirty="0" smtClean="0"/>
              <a:t>However</a:t>
            </a:r>
            <a:r>
              <a:rPr lang="en-US" sz="2200" dirty="0"/>
              <a:t>, the complexity of the models and the extraction of their components from the video stream is not a trivial task. </a:t>
            </a:r>
            <a:endParaRPr lang="en-US" sz="2200" dirty="0" smtClean="0"/>
          </a:p>
          <a:p>
            <a:pPr algn="just"/>
            <a:r>
              <a:rPr lang="en-US" sz="2200" dirty="0" smtClean="0"/>
              <a:t>Consequently</a:t>
            </a:r>
            <a:r>
              <a:rPr lang="en-US" sz="2200" dirty="0"/>
              <a:t>, model-based techniques are preferred in practical applications.</a:t>
            </a:r>
          </a:p>
          <a:p>
            <a:pPr marL="0" indent="0">
              <a:buNone/>
            </a:pPr>
            <a:endParaRPr lang="en-US" sz="2200" dirty="0"/>
          </a:p>
        </p:txBody>
      </p:sp>
      <p:pic>
        <p:nvPicPr>
          <p:cNvPr id="4168" name="Picture 72" descr="Image result for gait recognition&quot;"/>
          <p:cNvPicPr>
            <a:picLocks noChangeAspect="1" noChangeArrowheads="1"/>
          </p:cNvPicPr>
          <p:nvPr/>
        </p:nvPicPr>
        <p:blipFill rotWithShape="1">
          <a:blip r:embed="rId2">
            <a:extLst>
              <a:ext uri="{28A0092B-C50C-407E-A947-70E740481C1C}">
                <a14:useLocalDpi xmlns:a14="http://schemas.microsoft.com/office/drawing/2010/main" val="0"/>
              </a:ext>
            </a:extLst>
          </a:blip>
          <a:srcRect b="8208"/>
          <a:stretch/>
        </p:blipFill>
        <p:spPr bwMode="auto">
          <a:xfrm>
            <a:off x="2576046" y="1956967"/>
            <a:ext cx="5277036" cy="2494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3902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Model-free </a:t>
            </a:r>
            <a:r>
              <a:rPr lang="en-US" b="1" dirty="0"/>
              <a:t>gait recognition</a:t>
            </a:r>
          </a:p>
        </p:txBody>
      </p:sp>
      <p:sp>
        <p:nvSpPr>
          <p:cNvPr id="3" name="Content Placeholder 2"/>
          <p:cNvSpPr>
            <a:spLocks noGrp="1"/>
          </p:cNvSpPr>
          <p:nvPr>
            <p:ph idx="1"/>
          </p:nvPr>
        </p:nvSpPr>
        <p:spPr/>
        <p:txBody>
          <a:bodyPr/>
          <a:lstStyle/>
          <a:p>
            <a:pPr algn="just"/>
            <a:endParaRPr lang="en-US" dirty="0" smtClean="0"/>
          </a:p>
          <a:p>
            <a:pPr algn="just"/>
            <a:endParaRPr lang="en-US" dirty="0"/>
          </a:p>
          <a:p>
            <a:pPr algn="just"/>
            <a:endParaRPr lang="en-US" dirty="0" smtClean="0"/>
          </a:p>
          <a:p>
            <a:pPr algn="just"/>
            <a:endParaRPr lang="en-US" dirty="0" smtClean="0"/>
          </a:p>
          <a:p>
            <a:pPr algn="just"/>
            <a:endParaRPr lang="en-US" dirty="0"/>
          </a:p>
          <a:p>
            <a:pPr algn="just"/>
            <a:endParaRPr lang="en-US" dirty="0"/>
          </a:p>
          <a:p>
            <a:pPr algn="just"/>
            <a:r>
              <a:rPr lang="en-US" sz="2000" dirty="0" smtClean="0"/>
              <a:t>Model-free </a:t>
            </a:r>
            <a:r>
              <a:rPr lang="en-US" sz="2000" dirty="0"/>
              <a:t>approaches, which can be seen as image measurement methods, exploit the moving shape of the subject to derive the gait characteristics. </a:t>
            </a:r>
            <a:endParaRPr lang="en-US" sz="2000" dirty="0" smtClean="0"/>
          </a:p>
          <a:p>
            <a:pPr algn="just"/>
            <a:r>
              <a:rPr lang="en-US" sz="2000" dirty="0" smtClean="0"/>
              <a:t>Therefore</a:t>
            </a:r>
            <a:r>
              <a:rPr lang="en-US" sz="2000" dirty="0"/>
              <a:t>, they do not require to rebuild a model of human walking </a:t>
            </a:r>
            <a:r>
              <a:rPr lang="en-US" sz="2000" dirty="0" smtClean="0"/>
              <a:t>steps</a:t>
            </a:r>
            <a:endParaRPr lang="en-US" sz="2000" dirty="0"/>
          </a:p>
        </p:txBody>
      </p:sp>
      <p:pic>
        <p:nvPicPr>
          <p:cNvPr id="13318" name="Picture 6" descr="Image result for model-free gait recognition"/>
          <p:cNvPicPr>
            <a:picLocks noChangeAspect="1" noChangeArrowheads="1"/>
          </p:cNvPicPr>
          <p:nvPr/>
        </p:nvPicPr>
        <p:blipFill rotWithShape="1">
          <a:blip r:embed="rId2">
            <a:extLst>
              <a:ext uri="{28A0092B-C50C-407E-A947-70E740481C1C}">
                <a14:useLocalDpi xmlns:a14="http://schemas.microsoft.com/office/drawing/2010/main" val="0"/>
              </a:ext>
            </a:extLst>
          </a:blip>
          <a:srcRect l="3413" t="23232" r="1061" b="42658"/>
          <a:stretch/>
        </p:blipFill>
        <p:spPr bwMode="auto">
          <a:xfrm>
            <a:off x="1027394" y="1825625"/>
            <a:ext cx="9815418" cy="2332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47775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 name="Table 28"/>
          <p:cNvGraphicFramePr>
            <a:graphicFrameLocks noGrp="1"/>
          </p:cNvGraphicFramePr>
          <p:nvPr>
            <p:extLst>
              <p:ext uri="{D42A27DB-BD31-4B8C-83A1-F6EECF244321}">
                <p14:modId xmlns:p14="http://schemas.microsoft.com/office/powerpoint/2010/main" val="4129490450"/>
              </p:ext>
            </p:extLst>
          </p:nvPr>
        </p:nvGraphicFramePr>
        <p:xfrm>
          <a:off x="338667" y="180622"/>
          <a:ext cx="11683999" cy="6435697"/>
        </p:xfrm>
        <a:graphic>
          <a:graphicData uri="http://schemas.openxmlformats.org/drawingml/2006/table">
            <a:tbl>
              <a:tblPr firstRow="1" firstCol="1" bandRow="1"/>
              <a:tblGrid>
                <a:gridCol w="575733">
                  <a:extLst>
                    <a:ext uri="{9D8B030D-6E8A-4147-A177-3AD203B41FA5}">
                      <a16:colId xmlns:a16="http://schemas.microsoft.com/office/drawing/2014/main" val="131262458"/>
                    </a:ext>
                  </a:extLst>
                </a:gridCol>
                <a:gridCol w="2222500">
                  <a:extLst>
                    <a:ext uri="{9D8B030D-6E8A-4147-A177-3AD203B41FA5}">
                      <a16:colId xmlns:a16="http://schemas.microsoft.com/office/drawing/2014/main" val="1904006409"/>
                    </a:ext>
                  </a:extLst>
                </a:gridCol>
                <a:gridCol w="2374900">
                  <a:extLst>
                    <a:ext uri="{9D8B030D-6E8A-4147-A177-3AD203B41FA5}">
                      <a16:colId xmlns:a16="http://schemas.microsoft.com/office/drawing/2014/main" val="2549261037"/>
                    </a:ext>
                  </a:extLst>
                </a:gridCol>
                <a:gridCol w="1836057">
                  <a:extLst>
                    <a:ext uri="{9D8B030D-6E8A-4147-A177-3AD203B41FA5}">
                      <a16:colId xmlns:a16="http://schemas.microsoft.com/office/drawing/2014/main" val="1921860070"/>
                    </a:ext>
                  </a:extLst>
                </a:gridCol>
                <a:gridCol w="751114">
                  <a:extLst>
                    <a:ext uri="{9D8B030D-6E8A-4147-A177-3AD203B41FA5}">
                      <a16:colId xmlns:a16="http://schemas.microsoft.com/office/drawing/2014/main" val="33875656"/>
                    </a:ext>
                  </a:extLst>
                </a:gridCol>
                <a:gridCol w="2353154">
                  <a:extLst>
                    <a:ext uri="{9D8B030D-6E8A-4147-A177-3AD203B41FA5}">
                      <a16:colId xmlns:a16="http://schemas.microsoft.com/office/drawing/2014/main" val="1885595902"/>
                    </a:ext>
                  </a:extLst>
                </a:gridCol>
                <a:gridCol w="1570541">
                  <a:extLst>
                    <a:ext uri="{9D8B030D-6E8A-4147-A177-3AD203B41FA5}">
                      <a16:colId xmlns:a16="http://schemas.microsoft.com/office/drawing/2014/main" val="1827013381"/>
                    </a:ext>
                  </a:extLst>
                </a:gridCol>
              </a:tblGrid>
              <a:tr h="164361">
                <a:tc>
                  <a:txBody>
                    <a:bodyPr/>
                    <a:lstStyle/>
                    <a:p>
                      <a:pPr marL="0" marR="0" algn="just">
                        <a:lnSpc>
                          <a:spcPct val="107000"/>
                        </a:lnSpc>
                        <a:spcBef>
                          <a:spcPts val="0"/>
                        </a:spcBef>
                        <a:spcAft>
                          <a:spcPts val="0"/>
                        </a:spcAft>
                      </a:pPr>
                      <a:r>
                        <a:rPr lang="en-US" sz="1400" b="1">
                          <a:effectLst/>
                          <a:latin typeface="Times New Roman" panose="02020603050405020304" pitchFamily="18" charset="0"/>
                          <a:ea typeface="Calibri" panose="020F0502020204030204" pitchFamily="34" charset="0"/>
                          <a:cs typeface="Times New Roman" panose="02020603050405020304" pitchFamily="18" charset="0"/>
                        </a:rPr>
                        <a:t>S.no</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b="1" dirty="0" smtClean="0">
                          <a:effectLst/>
                          <a:latin typeface="Times New Roman" panose="02020603050405020304" pitchFamily="18" charset="0"/>
                          <a:ea typeface="Calibri" panose="020F0502020204030204" pitchFamily="34" charset="0"/>
                          <a:cs typeface="Times New Roman" panose="02020603050405020304" pitchFamily="18" charset="0"/>
                        </a:rPr>
                        <a:t>Paper</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b="1">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b="1">
                          <a:effectLst/>
                          <a:latin typeface="Times New Roman" panose="02020603050405020304" pitchFamily="18" charset="0"/>
                          <a:ea typeface="Calibri" panose="020F0502020204030204" pitchFamily="34" charset="0"/>
                          <a:cs typeface="Times New Roman" panose="02020603050405020304" pitchFamily="18" charset="0"/>
                        </a:rPr>
                        <a:t>Dataset Used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Results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Research gap</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b="1">
                          <a:effectLst/>
                          <a:latin typeface="Times New Roman" panose="02020603050405020304" pitchFamily="18" charset="0"/>
                          <a:ea typeface="Calibri" panose="020F0502020204030204" pitchFamily="34" charset="0"/>
                          <a:cs typeface="Times New Roman" panose="02020603050405020304" pitchFamily="18" charset="0"/>
                        </a:rPr>
                        <a:t>Desired Improvements </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42635049"/>
                  </a:ext>
                </a:extLst>
              </a:tr>
              <a:tr h="3011459">
                <a:tc>
                  <a:txBody>
                    <a:bodyPr/>
                    <a:lstStyle/>
                    <a:p>
                      <a:pPr marL="0" marR="0" algn="just">
                        <a:lnSpc>
                          <a:spcPct val="107000"/>
                        </a:lnSpc>
                        <a:spcBef>
                          <a:spcPts val="0"/>
                        </a:spcBef>
                        <a:spcAft>
                          <a:spcPts val="0"/>
                        </a:spcAft>
                      </a:pPr>
                      <a:r>
                        <a:rPr lang="en-US" sz="1400" dirty="0" smtClean="0">
                          <a:effectLst/>
                          <a:latin typeface="Times New Roman" panose="02020603050405020304" pitchFamily="18" charset="0"/>
                          <a:ea typeface="Calibri" panose="020F0502020204030204" pitchFamily="34" charset="0"/>
                          <a:cs typeface="Times New Roman" panose="02020603050405020304" pitchFamily="18" charset="0"/>
                        </a:rPr>
                        <a:t>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lnSpc>
                          <a:spcPct val="107000"/>
                        </a:lnSpc>
                        <a:spcBef>
                          <a:spcPts val="0"/>
                        </a:spcBef>
                        <a:spcAft>
                          <a:spcPts val="0"/>
                        </a:spcAft>
                      </a:pPr>
                      <a:r>
                        <a:rPr lang="en-US" sz="1400" dirty="0" err="1" smtClean="0"/>
                        <a:t>Ziyuan</a:t>
                      </a:r>
                      <a:r>
                        <a:rPr lang="en-US" sz="1400" dirty="0" smtClean="0"/>
                        <a:t> Zhang, Luan Tran, Feng Liu, On Learning Disentangled Representations for Gait Recognition, IEEE Transactions On Pattern Analysis and Machine Intelligence,2019.</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dirty="0">
                          <a:solidFill>
                            <a:srgbClr val="131413"/>
                          </a:solidFill>
                          <a:effectLst/>
                          <a:latin typeface="Times New Roman" panose="02020603050405020304" pitchFamily="18" charset="0"/>
                          <a:ea typeface="Calibri" panose="020F0502020204030204" pitchFamily="34" charset="0"/>
                          <a:cs typeface="Times New Roman" panose="02020603050405020304" pitchFamily="18" charset="0"/>
                        </a:rPr>
                        <a:t>Adaptive outlier detection method to remove the effect of clothing on silhouettes. The proposed method detects the most similar parts of probe and each gallery sample independently and uses these parts to obtain a similarity measure.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solidFill>
                            <a:srgbClr val="131413"/>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a:solidFill>
                            <a:srgbClr val="131413"/>
                          </a:solidFill>
                          <a:effectLst/>
                          <a:latin typeface="Times New Roman" panose="02020603050405020304" pitchFamily="18" charset="0"/>
                          <a:ea typeface="Calibri" panose="020F0502020204030204" pitchFamily="34" charset="0"/>
                          <a:cs typeface="Times New Roman" panose="02020603050405020304" pitchFamily="18" charset="0"/>
                        </a:rPr>
                        <a:t>Experimental results on OUISIR Gait Database, the Treadmill Dataset B and CASIA Gait Database, Dataset B</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dirty="0" smtClean="0">
                          <a:effectLst/>
                          <a:latin typeface="Calibri" panose="020F0502020204030204" pitchFamily="34" charset="0"/>
                          <a:ea typeface="Calibri" panose="020F0502020204030204" pitchFamily="34" charset="0"/>
                          <a:cs typeface="Times New Roman" panose="02020603050405020304" pitchFamily="18" charset="0"/>
                        </a:rPr>
                        <a:t>96.44%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b="1" dirty="0" smtClean="0">
                          <a:solidFill>
                            <a:srgbClr val="131413"/>
                          </a:solidFill>
                          <a:effectLst/>
                          <a:latin typeface="Times New Roman" panose="02020603050405020304" pitchFamily="18" charset="0"/>
                          <a:ea typeface="Calibri" panose="020F0502020204030204" pitchFamily="34" charset="0"/>
                          <a:cs typeface="Times New Roman" panose="02020603050405020304" pitchFamily="18" charset="0"/>
                        </a:rPr>
                        <a:t>They have </a:t>
                      </a:r>
                      <a:r>
                        <a:rPr lang="en-US" sz="1400" b="1" dirty="0">
                          <a:solidFill>
                            <a:srgbClr val="131413"/>
                          </a:solidFill>
                          <a:effectLst/>
                          <a:latin typeface="Times New Roman" panose="02020603050405020304" pitchFamily="18" charset="0"/>
                          <a:ea typeface="Calibri" panose="020F0502020204030204" pitchFamily="34" charset="0"/>
                          <a:cs typeface="Times New Roman" panose="02020603050405020304" pitchFamily="18" charset="0"/>
                        </a:rPr>
                        <a:t>high computation cost and </a:t>
                      </a:r>
                      <a:r>
                        <a:rPr lang="en-US" sz="1400" dirty="0">
                          <a:solidFill>
                            <a:srgbClr val="131413"/>
                          </a:solidFill>
                          <a:effectLst/>
                          <a:latin typeface="Times New Roman" panose="02020603050405020304" pitchFamily="18" charset="0"/>
                          <a:ea typeface="Calibri" panose="020F0502020204030204" pitchFamily="34" charset="0"/>
                          <a:cs typeface="Times New Roman" panose="02020603050405020304" pitchFamily="18" charset="0"/>
                        </a:rPr>
                        <a:t>need </a:t>
                      </a:r>
                      <a:r>
                        <a:rPr lang="en-US" sz="1400" dirty="0" smtClean="0">
                          <a:solidFill>
                            <a:srgbClr val="131413"/>
                          </a:solidFill>
                          <a:effectLst/>
                          <a:latin typeface="Times New Roman" panose="02020603050405020304" pitchFamily="18" charset="0"/>
                          <a:ea typeface="Calibri" panose="020F0502020204030204" pitchFamily="34" charset="0"/>
                          <a:cs typeface="Times New Roman" panose="02020603050405020304" pitchFamily="18" charset="0"/>
                        </a:rPr>
                        <a:t>considerable amount </a:t>
                      </a:r>
                      <a:r>
                        <a:rPr lang="en-US" sz="1400" dirty="0">
                          <a:solidFill>
                            <a:srgbClr val="131413"/>
                          </a:solidFill>
                          <a:effectLst/>
                          <a:latin typeface="Times New Roman" panose="02020603050405020304" pitchFamily="18" charset="0"/>
                          <a:ea typeface="Calibri" panose="020F0502020204030204" pitchFamily="34" charset="0"/>
                          <a:cs typeface="Times New Roman" panose="02020603050405020304" pitchFamily="18" charset="0"/>
                        </a:rPr>
                        <a:t>of gallery data in various conditions in order to learn </a:t>
                      </a:r>
                      <a:r>
                        <a:rPr lang="en-US" sz="1400" dirty="0" smtClean="0">
                          <a:solidFill>
                            <a:srgbClr val="131413"/>
                          </a:solidFill>
                          <a:effectLst/>
                          <a:latin typeface="Times New Roman" panose="02020603050405020304" pitchFamily="18" charset="0"/>
                          <a:ea typeface="Calibri" panose="020F0502020204030204" pitchFamily="34" charset="0"/>
                          <a:cs typeface="Times New Roman" panose="02020603050405020304" pitchFamily="18" charset="0"/>
                        </a:rPr>
                        <a:t>the body-parts.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Take spatial and temporal features because they are invariant of all the covariate factors.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49988704"/>
                  </a:ext>
                </a:extLst>
              </a:tr>
              <a:tr h="1890157">
                <a:tc>
                  <a:txBody>
                    <a:bodyPr/>
                    <a:lstStyle/>
                    <a:p>
                      <a:pPr marL="0" marR="0" algn="just">
                        <a:lnSpc>
                          <a:spcPct val="107000"/>
                        </a:lnSpc>
                        <a:spcBef>
                          <a:spcPts val="0"/>
                        </a:spcBef>
                        <a:spcAft>
                          <a:spcPts val="0"/>
                        </a:spcAft>
                      </a:pPr>
                      <a:r>
                        <a:rPr lang="en-US" sz="1400" dirty="0" smtClean="0">
                          <a:effectLst/>
                          <a:latin typeface="Times New Roman" panose="02020603050405020304" pitchFamily="18" charset="0"/>
                          <a:ea typeface="Calibri" panose="020F0502020204030204" pitchFamily="34" charset="0"/>
                          <a:cs typeface="Times New Roman" panose="02020603050405020304" pitchFamily="18" charset="0"/>
                        </a:rPr>
                        <a:t>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buNone/>
                      </a:pPr>
                      <a:r>
                        <a:rPr lang="en-US" sz="1400" dirty="0" smtClean="0"/>
                        <a:t>Liang Wang, </a:t>
                      </a:r>
                      <a:r>
                        <a:rPr lang="en-US" sz="1400" dirty="0" err="1" smtClean="0"/>
                        <a:t>Tieniu</a:t>
                      </a:r>
                      <a:r>
                        <a:rPr lang="en-US" sz="1400" dirty="0" smtClean="0"/>
                        <a:t> Tan Silhouette Analysis-Based Gait Recognition for Human Identification Transactions On Pattern Analysis and Machine Intelligence, Vol. 25, No. 12, December 2018 </a:t>
                      </a: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dirty="0" smtClean="0">
                          <a:effectLst/>
                          <a:latin typeface="Times New Roman" panose="02020603050405020304" pitchFamily="18" charset="0"/>
                          <a:ea typeface="Calibri" panose="020F0502020204030204" pitchFamily="34" charset="0"/>
                          <a:cs typeface="Times New Roman" panose="02020603050405020304" pitchFamily="18" charset="0"/>
                        </a:rPr>
                        <a:t>used </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pooled segmented statistical features to describe the shape of GEI edge contour.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dirty="0" smtClean="0">
                          <a:effectLst/>
                          <a:latin typeface="Times New Roman" panose="02020603050405020304" pitchFamily="18" charset="0"/>
                          <a:ea typeface="Calibri" panose="020F0502020204030204" pitchFamily="34" charset="0"/>
                          <a:cs typeface="Times New Roman" panose="02020603050405020304" pitchFamily="18" charset="0"/>
                        </a:rPr>
                        <a:t>CASIA B</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dirty="0" smtClean="0">
                          <a:effectLst/>
                          <a:latin typeface="Times New Roman" panose="02020603050405020304" pitchFamily="18" charset="0"/>
                          <a:ea typeface="Calibri" panose="020F0502020204030204" pitchFamily="34" charset="0"/>
                          <a:cs typeface="Times New Roman" panose="02020603050405020304" pitchFamily="18" charset="0"/>
                        </a:rPr>
                        <a:t>96.59%</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Most of these methods address different covariates </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with limited gait views</a:t>
                      </a: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mainly using frontal or side view of the gait sequences.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In fact, it is difficult for a 2D training dataset to cover all conditions, especially incomplete gait silhouettes and with different carrying that affect the overall body shape directly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Training on all the angles so as to cover all the viewpoints.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26522" marR="2652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6896774"/>
                  </a:ext>
                </a:extLst>
              </a:tr>
            </a:tbl>
          </a:graphicData>
        </a:graphic>
      </p:graphicFrame>
    </p:spTree>
    <p:extLst>
      <p:ext uri="{BB962C8B-B14F-4D97-AF65-F5344CB8AC3E}">
        <p14:creationId xmlns:p14="http://schemas.microsoft.com/office/powerpoint/2010/main" val="23323516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a:spLocks noChangeArrowheads="1"/>
          </p:cNvSpPr>
          <p:nvPr/>
        </p:nvSpPr>
        <p:spPr bwMode="auto">
          <a:xfrm>
            <a:off x="4888795" y="79410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3" name="Table 12"/>
          <p:cNvGraphicFramePr>
            <a:graphicFrameLocks noGrp="1"/>
          </p:cNvGraphicFramePr>
          <p:nvPr>
            <p:extLst>
              <p:ext uri="{D42A27DB-BD31-4B8C-83A1-F6EECF244321}">
                <p14:modId xmlns:p14="http://schemas.microsoft.com/office/powerpoint/2010/main" val="602306116"/>
              </p:ext>
            </p:extLst>
          </p:nvPr>
        </p:nvGraphicFramePr>
        <p:xfrm>
          <a:off x="102924" y="116175"/>
          <a:ext cx="11919743" cy="7407218"/>
        </p:xfrm>
        <a:graphic>
          <a:graphicData uri="http://schemas.openxmlformats.org/drawingml/2006/table">
            <a:tbl>
              <a:tblPr firstRow="1" firstCol="1" bandRow="1"/>
              <a:tblGrid>
                <a:gridCol w="450232">
                  <a:extLst>
                    <a:ext uri="{9D8B030D-6E8A-4147-A177-3AD203B41FA5}">
                      <a16:colId xmlns:a16="http://schemas.microsoft.com/office/drawing/2014/main" val="2058090972"/>
                    </a:ext>
                  </a:extLst>
                </a:gridCol>
                <a:gridCol w="1500931">
                  <a:extLst>
                    <a:ext uri="{9D8B030D-6E8A-4147-A177-3AD203B41FA5}">
                      <a16:colId xmlns:a16="http://schemas.microsoft.com/office/drawing/2014/main" val="2128823926"/>
                    </a:ext>
                  </a:extLst>
                </a:gridCol>
                <a:gridCol w="3882887">
                  <a:extLst>
                    <a:ext uri="{9D8B030D-6E8A-4147-A177-3AD203B41FA5}">
                      <a16:colId xmlns:a16="http://schemas.microsoft.com/office/drawing/2014/main" val="2583711206"/>
                    </a:ext>
                  </a:extLst>
                </a:gridCol>
                <a:gridCol w="870226">
                  <a:extLst>
                    <a:ext uri="{9D8B030D-6E8A-4147-A177-3AD203B41FA5}">
                      <a16:colId xmlns:a16="http://schemas.microsoft.com/office/drawing/2014/main" val="1546526124"/>
                    </a:ext>
                  </a:extLst>
                </a:gridCol>
                <a:gridCol w="786296">
                  <a:extLst>
                    <a:ext uri="{9D8B030D-6E8A-4147-A177-3AD203B41FA5}">
                      <a16:colId xmlns:a16="http://schemas.microsoft.com/office/drawing/2014/main" val="2695631186"/>
                    </a:ext>
                  </a:extLst>
                </a:gridCol>
                <a:gridCol w="2838731">
                  <a:extLst>
                    <a:ext uri="{9D8B030D-6E8A-4147-A177-3AD203B41FA5}">
                      <a16:colId xmlns:a16="http://schemas.microsoft.com/office/drawing/2014/main" val="2298238112"/>
                    </a:ext>
                  </a:extLst>
                </a:gridCol>
                <a:gridCol w="1590440">
                  <a:extLst>
                    <a:ext uri="{9D8B030D-6E8A-4147-A177-3AD203B41FA5}">
                      <a16:colId xmlns:a16="http://schemas.microsoft.com/office/drawing/2014/main" val="263355628"/>
                    </a:ext>
                  </a:extLst>
                </a:gridCol>
              </a:tblGrid>
              <a:tr h="97792">
                <a:tc>
                  <a:txBody>
                    <a:bodyPr/>
                    <a:lstStyle/>
                    <a:p>
                      <a:pPr marL="0" marR="0" algn="just">
                        <a:lnSpc>
                          <a:spcPct val="107000"/>
                        </a:lnSpc>
                        <a:spcBef>
                          <a:spcPts val="0"/>
                        </a:spcBef>
                        <a:spcAft>
                          <a:spcPts val="0"/>
                        </a:spcAft>
                      </a:pPr>
                      <a:r>
                        <a:rPr lang="en-US" sz="1200" b="1">
                          <a:effectLst/>
                          <a:latin typeface="Times New Roman" panose="02020603050405020304" pitchFamily="18" charset="0"/>
                          <a:ea typeface="Calibri" panose="020F0502020204030204" pitchFamily="34" charset="0"/>
                          <a:cs typeface="Times New Roman" panose="02020603050405020304" pitchFamily="18" charset="0"/>
                        </a:rPr>
                        <a:t>S.no</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b="1">
                          <a:effectLst/>
                          <a:latin typeface="Times New Roman" panose="02020603050405020304" pitchFamily="18" charset="0"/>
                          <a:ea typeface="Calibri" panose="020F0502020204030204" pitchFamily="34" charset="0"/>
                          <a:cs typeface="Times New Roman" panose="02020603050405020304" pitchFamily="18" charset="0"/>
                        </a:rPr>
                        <a:t>Title with paper</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b="1">
                          <a:effectLst/>
                          <a:latin typeface="Times New Roman" panose="02020603050405020304" pitchFamily="18" charset="0"/>
                          <a:ea typeface="Calibri" panose="020F0502020204030204" pitchFamily="34" charset="0"/>
                          <a:cs typeface="Times New Roman" panose="02020603050405020304" pitchFamily="18" charset="0"/>
                        </a:rPr>
                        <a:t>Dataset Used</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b="1">
                          <a:effectLst/>
                          <a:latin typeface="Times New Roman" panose="02020603050405020304" pitchFamily="18" charset="0"/>
                          <a:ea typeface="Calibri" panose="020F0502020204030204" pitchFamily="34" charset="0"/>
                          <a:cs typeface="Times New Roman" panose="02020603050405020304" pitchFamily="18" charset="0"/>
                        </a:rPr>
                        <a:t>Results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Research gap</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b="1">
                          <a:effectLst/>
                          <a:latin typeface="Times New Roman" panose="02020603050405020304" pitchFamily="18" charset="0"/>
                          <a:ea typeface="Calibri" panose="020F0502020204030204" pitchFamily="34" charset="0"/>
                          <a:cs typeface="Times New Roman" panose="02020603050405020304" pitchFamily="18" charset="0"/>
                        </a:rPr>
                        <a:t>Desired Improvements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83298053"/>
                  </a:ext>
                </a:extLst>
              </a:tr>
              <a:tr h="2045999">
                <a:tc>
                  <a:txBody>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3.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buNone/>
                      </a:pPr>
                      <a:r>
                        <a:rPr lang="en-US" sz="1200" dirty="0" smtClean="0"/>
                        <a:t>W. </a:t>
                      </a:r>
                      <a:r>
                        <a:rPr lang="en-US" sz="1200" dirty="0" err="1" smtClean="0"/>
                        <a:t>Kusakunniran</a:t>
                      </a:r>
                      <a:r>
                        <a:rPr lang="en-US" sz="1200" dirty="0" smtClean="0"/>
                        <a:t>, “Attribute-based learning for gait recognition using </a:t>
                      </a:r>
                      <a:r>
                        <a:rPr lang="en-US" sz="1200" dirty="0" err="1" smtClean="0"/>
                        <a:t>spatio</a:t>
                      </a:r>
                      <a:r>
                        <a:rPr lang="en-US" sz="1200" dirty="0" smtClean="0"/>
                        <a:t>-temporal interest points,” Image Vis. </a:t>
                      </a:r>
                      <a:r>
                        <a:rPr lang="en-US" sz="1200" dirty="0" err="1" smtClean="0"/>
                        <a:t>Comput</a:t>
                      </a:r>
                      <a:r>
                        <a:rPr lang="en-US" sz="1200" dirty="0" smtClean="0"/>
                        <a:t>., vol. 32, no. 12, pp. 1117–1126, 2014. </a:t>
                      </a:r>
                    </a:p>
                    <a:p>
                      <a:pPr marL="0" indent="0" algn="just">
                        <a:buNone/>
                      </a:pPr>
                      <a:endParaRPr lang="en-US" sz="1200" dirty="0"/>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The gait data is firstly processed using three gait representation methods as the features sources; Accumulated Prediction Image (API) and two new </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gait representations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namely; Accumulated Flow Image (AFI) and Edge-Masked Active Energy Image (EMAEI).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CASIA B</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91%</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single view is imposed by the system setup.</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How can they combine (fuse) the result with normal data set with the recognition rate? Until and unless the use Sno.1 paper </a:t>
                      </a:r>
                      <a:r>
                        <a:rPr lang="en-US" sz="1200" dirty="0" err="1">
                          <a:effectLst/>
                          <a:latin typeface="Times New Roman" panose="02020603050405020304" pitchFamily="18" charset="0"/>
                          <a:ea typeface="Calibri" panose="020F0502020204030204" pitchFamily="34" charset="0"/>
                          <a:cs typeface="Times New Roman" panose="02020603050405020304" pitchFamily="18" charset="0"/>
                        </a:rPr>
                        <a:t>ie</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Removing the cloth from the body. (Clothing-invariant human gait </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recognition using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an adaptive outlier detection method)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Training on all the angles so as to cover all the viewpoints.</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Make a deep learning model which is best fitted for covariates such as clothing, bag pack etc. </a:t>
                      </a:r>
                      <a:br>
                        <a:rPr lang="en-US" sz="1200">
                          <a:effectLst/>
                          <a:latin typeface="Times New Roman" panose="02020603050405020304" pitchFamily="18" charset="0"/>
                          <a:ea typeface="Calibri" panose="020F0502020204030204" pitchFamily="34" charset="0"/>
                          <a:cs typeface="Times New Roman" panose="02020603050405020304" pitchFamily="18" charset="0"/>
                        </a:rPr>
                      </a:br>
                      <a:r>
                        <a:rPr lang="en-US" sz="1200">
                          <a:effectLst/>
                          <a:latin typeface="Times New Roman" panose="02020603050405020304" pitchFamily="18" charset="0"/>
                          <a:ea typeface="Calibri" panose="020F0502020204030204" pitchFamily="34" charset="0"/>
                          <a:cs typeface="Times New Roman" panose="02020603050405020304" pitchFamily="18" charset="0"/>
                        </a:rPr>
                        <a:t/>
                      </a:r>
                      <a:br>
                        <a:rPr lang="en-US" sz="1200">
                          <a:effectLst/>
                          <a:latin typeface="Times New Roman" panose="02020603050405020304" pitchFamily="18" charset="0"/>
                          <a:ea typeface="Calibri" panose="020F0502020204030204" pitchFamily="34" charset="0"/>
                          <a:cs typeface="Times New Roman" panose="02020603050405020304" pitchFamily="18" charset="0"/>
                        </a:rPr>
                      </a:b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5730713"/>
                  </a:ext>
                </a:extLst>
              </a:tr>
              <a:tr h="2045999">
                <a:tc>
                  <a:txBody>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4.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just">
                        <a:buNone/>
                      </a:pPr>
                      <a:r>
                        <a:rPr lang="en-US" sz="1200" dirty="0" err="1" smtClean="0"/>
                        <a:t>Haung</a:t>
                      </a:r>
                      <a:r>
                        <a:rPr lang="en-US" sz="1200" dirty="0" smtClean="0"/>
                        <a:t>, Y., Wang, L., Wang, X., &amp; Tan, T. A Comprehensive Study on Cross-View Gait based Human Identification with Deep CNNs. Transactions On Pattern Analysis and Machine Intelligence 2017. </a:t>
                      </a:r>
                    </a:p>
                    <a:p>
                      <a:pPr marL="0" marR="0" algn="just">
                        <a:lnSpc>
                          <a:spcPct val="107000"/>
                        </a:lnSpc>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The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main purpose of the experiments presented in this section is to provide an indication of why previous studies have achieved significantly lower recognition rates over time, by </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employing similar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techniques to this study. The results could be improved if algorithms that are less sensitive to change in clothing are used. However, this paper does not focus on improving performance of recognition approaches but on understanding the effect of time on the performance of the baseline algorithm and a more recent gait representation</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MIT 2001 </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HumanoID</a:t>
                      </a:r>
                      <a:r>
                        <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SOTON 2002</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UMD</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SOTON</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Temporal </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smtClean="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89%</a:t>
                      </a:r>
                      <a:endParaRPr lang="en-US" sz="12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 </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similar recognition performance was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achieved over seven different </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time periods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and a CCR of 95% is achieved over period of 9 months.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They hypothesize that a CCR of nearly 100% could be </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achieved if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various covariate factors (like clothing, footwear etc.) </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were controllable</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Unfortunately, this situation is unlikely to </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occur in </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the real world.</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b="1" dirty="0" smtClean="0">
                          <a:effectLst/>
                          <a:latin typeface="Times New Roman" panose="02020603050405020304" pitchFamily="18" charset="0"/>
                          <a:ea typeface="Calibri" panose="020F0502020204030204" pitchFamily="34" charset="0"/>
                          <a:cs typeface="Times New Roman" panose="02020603050405020304" pitchFamily="18" charset="0"/>
                        </a:rPr>
                        <a:t>Did not take temporal features therefore less recognition rate</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Taking temporal features because they are invariant of clothing.</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57642863"/>
                  </a:ext>
                </a:extLst>
              </a:tr>
              <a:tr h="2444790">
                <a:tc>
                  <a:txBody>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5.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US" sz="1200" dirty="0" smtClean="0"/>
                        <a:t>Wang, L., Tan, T., Ning, H., Hu, W.: ‘Silhouette analysis-based gait recognition for human identification’, </a:t>
                      </a:r>
                      <a:r>
                        <a:rPr lang="en-US" sz="1200" i="1" dirty="0" smtClean="0"/>
                        <a:t>IEEE Trans on </a:t>
                      </a:r>
                      <a:r>
                        <a:rPr lang="en-US" sz="1200" i="1" dirty="0" err="1" smtClean="0"/>
                        <a:t>Patt</a:t>
                      </a:r>
                      <a:r>
                        <a:rPr lang="en-US" sz="1200" i="1" dirty="0" smtClean="0"/>
                        <a:t> Anal and Machine </a:t>
                      </a:r>
                      <a:r>
                        <a:rPr lang="en-US" sz="1200" i="1" dirty="0" err="1" smtClean="0"/>
                        <a:t>Intell</a:t>
                      </a:r>
                      <a:r>
                        <a:rPr lang="en-US" sz="1200" dirty="0" smtClean="0"/>
                        <a:t>, 2003, 25, (12), pp. 1505–1518 2018.</a:t>
                      </a: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show how covariates factors can separately affect the walking pattern. Further we assess the contribution and discriminatory significance of the gait dynamics used for recognition. Based on a covariate-based probe dataset of 440 samples, This is to confirm that people  identification using dynamic gait features is still perceivable with better recognition rate even under the different covariate factors.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CASIA B</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83.33</a:t>
                      </a: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 and 86.67</a:t>
                      </a:r>
                      <a:r>
                        <a:rPr lang="en-US" sz="1200" dirty="0" smtClean="0">
                          <a:effectLst/>
                          <a:latin typeface="Times New Roman" panose="02020603050405020304" pitchFamily="18" charset="0"/>
                          <a:ea typeface="Calibri" panose="020F0502020204030204" pitchFamily="34" charset="0"/>
                          <a:cs typeface="Times New Roman" panose="02020603050405020304" pitchFamily="18" charset="0"/>
                        </a:rPr>
                        <a:t>%</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200" b="1" dirty="0" smtClean="0">
                          <a:effectLst/>
                          <a:latin typeface="Calibri" panose="020F0502020204030204" pitchFamily="34" charset="0"/>
                          <a:ea typeface="Calibri" panose="020F0502020204030204" pitchFamily="34" charset="0"/>
                          <a:cs typeface="Times New Roman" panose="02020603050405020304" pitchFamily="18" charset="0"/>
                        </a:rPr>
                        <a:t>Used</a:t>
                      </a:r>
                      <a:r>
                        <a:rPr lang="en-US" sz="1200" b="1" baseline="0" dirty="0" smtClean="0">
                          <a:effectLst/>
                          <a:latin typeface="Calibri" panose="020F0502020204030204" pitchFamily="34" charset="0"/>
                          <a:ea typeface="Calibri" panose="020F0502020204030204" pitchFamily="34" charset="0"/>
                          <a:cs typeface="Times New Roman" panose="02020603050405020304" pitchFamily="18" charset="0"/>
                        </a:rPr>
                        <a:t> model based approach</a:t>
                      </a: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07000"/>
                        </a:lnSpc>
                        <a:spcBef>
                          <a:spcPts val="0"/>
                        </a:spcBef>
                        <a:spcAft>
                          <a:spcPts val="0"/>
                        </a:spcAft>
                      </a:pPr>
                      <a:r>
                        <a:rPr lang="en-US" sz="1200" dirty="0">
                          <a:effectLst/>
                          <a:latin typeface="Times New Roman" panose="02020603050405020304" pitchFamily="18" charset="0"/>
                          <a:ea typeface="Calibri" panose="020F0502020204030204" pitchFamily="34" charset="0"/>
                          <a:cs typeface="Times New Roman" panose="02020603050405020304" pitchFamily="18" charset="0"/>
                        </a:rPr>
                        <a:t>Use model-free approach</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13358" marR="1335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3724854"/>
                  </a:ext>
                </a:extLst>
              </a:tr>
            </a:tbl>
          </a:graphicData>
        </a:graphic>
      </p:graphicFrame>
    </p:spTree>
    <p:extLst>
      <p:ext uri="{BB962C8B-B14F-4D97-AF65-F5344CB8AC3E}">
        <p14:creationId xmlns:p14="http://schemas.microsoft.com/office/powerpoint/2010/main" val="34896914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Methodology</a:t>
            </a:r>
            <a:endParaRPr lang="en-US" b="1" dirty="0"/>
          </a:p>
        </p:txBody>
      </p:sp>
      <p:pic>
        <p:nvPicPr>
          <p:cNvPr id="5" name="Content Placeholder 4"/>
          <p:cNvPicPr>
            <a:picLocks noGrp="1" noChangeAspect="1"/>
          </p:cNvPicPr>
          <p:nvPr>
            <p:ph idx="1"/>
          </p:nvPr>
        </p:nvPicPr>
        <p:blipFill rotWithShape="1">
          <a:blip r:embed="rId2"/>
          <a:srcRect l="34411" t="28091" r="9141" b="31339"/>
          <a:stretch/>
        </p:blipFill>
        <p:spPr>
          <a:xfrm>
            <a:off x="469899" y="1828800"/>
            <a:ext cx="10089099" cy="4076700"/>
          </a:xfrm>
          <a:prstGeom prst="rect">
            <a:avLst/>
          </a:prstGeom>
        </p:spPr>
      </p:pic>
    </p:spTree>
    <p:extLst>
      <p:ext uri="{BB962C8B-B14F-4D97-AF65-F5344CB8AC3E}">
        <p14:creationId xmlns:p14="http://schemas.microsoft.com/office/powerpoint/2010/main" val="42747848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Dataset</a:t>
            </a:r>
            <a:endParaRPr lang="en-US" b="1" dirty="0"/>
          </a:p>
        </p:txBody>
      </p:sp>
      <p:sp>
        <p:nvSpPr>
          <p:cNvPr id="3" name="Content Placeholder 2"/>
          <p:cNvSpPr>
            <a:spLocks noGrp="1"/>
          </p:cNvSpPr>
          <p:nvPr>
            <p:ph idx="1"/>
          </p:nvPr>
        </p:nvSpPr>
        <p:spPr>
          <a:xfrm>
            <a:off x="838200" y="1860156"/>
            <a:ext cx="10515600" cy="4351338"/>
          </a:xfrm>
        </p:spPr>
        <p:txBody>
          <a:bodyPr/>
          <a:lstStyle/>
          <a:p>
            <a:r>
              <a:rPr lang="en-US" sz="2400" dirty="0"/>
              <a:t>CASIA B consist of multi-view gait database. </a:t>
            </a:r>
            <a:endParaRPr lang="en-US" sz="2400" dirty="0" smtClean="0"/>
          </a:p>
          <a:p>
            <a:r>
              <a:rPr lang="en-US" sz="2400" dirty="0" smtClean="0"/>
              <a:t>In </a:t>
            </a:r>
            <a:r>
              <a:rPr lang="en-US" sz="2400" dirty="0"/>
              <a:t>this dataset there exist 124 subjects and has 11 </a:t>
            </a:r>
            <a:r>
              <a:rPr lang="en-US" sz="2400" dirty="0" smtClean="0"/>
              <a:t>views</a:t>
            </a:r>
          </a:p>
          <a:p>
            <a:r>
              <a:rPr lang="en-US" sz="2400" dirty="0" smtClean="0"/>
              <a:t>In </a:t>
            </a:r>
            <a:r>
              <a:rPr lang="en-US" sz="2400" dirty="0"/>
              <a:t>order to provide variations in covariate condition, dataset consist of three variants: clothing, view angle, and carrying bag in figure </a:t>
            </a:r>
            <a:r>
              <a:rPr lang="en-US" sz="2400" dirty="0" smtClean="0"/>
              <a:t>.</a:t>
            </a:r>
          </a:p>
          <a:p>
            <a:endParaRPr lang="en-US" dirty="0"/>
          </a:p>
        </p:txBody>
      </p:sp>
      <p:pic>
        <p:nvPicPr>
          <p:cNvPr id="4" name="Picture 3" descr="http://www.cbsr.ia.ac.cn/images/gaitsetB-examples.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0" y="616348"/>
            <a:ext cx="3606800" cy="2148680"/>
          </a:xfrm>
          <a:prstGeom prst="rect">
            <a:avLst/>
          </a:prstGeom>
          <a:noFill/>
          <a:ln>
            <a:noFill/>
          </a:ln>
        </p:spPr>
      </p:pic>
      <p:pic>
        <p:nvPicPr>
          <p:cNvPr id="8194" name="Picture 2" descr="Image result for casia b bag coat normal&quo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1475" y="3881043"/>
            <a:ext cx="8681810" cy="2512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46254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368300"/>
                <a:ext cx="10515600" cy="5808663"/>
              </a:xfrm>
            </p:spPr>
            <p:txBody>
              <a:bodyPr>
                <a:normAutofit fontScale="92500" lnSpcReduction="10000"/>
              </a:bodyPr>
              <a:lstStyle/>
              <a:p>
                <a:pPr marL="0" indent="0" algn="just">
                  <a:buNone/>
                </a:pPr>
                <a:r>
                  <a:rPr lang="en-US" dirty="0" smtClean="0"/>
                  <a:t>The </a:t>
                </a:r>
                <a:r>
                  <a:rPr lang="en-US" dirty="0"/>
                  <a:t>proposed methodology can be seen, it is divided into five </a:t>
                </a:r>
                <a:r>
                  <a:rPr lang="en-US" dirty="0" smtClean="0"/>
                  <a:t>steps</a:t>
                </a:r>
              </a:p>
              <a:p>
                <a:pPr lvl="1" algn="just">
                  <a:buFont typeface="Courier New" panose="02070309020205020404" pitchFamily="49" charset="0"/>
                  <a:buChar char="o"/>
                </a:pPr>
                <a:r>
                  <a:rPr lang="en-US" dirty="0" smtClean="0"/>
                  <a:t>Videos </a:t>
                </a:r>
                <a:r>
                  <a:rPr lang="en-US" dirty="0"/>
                  <a:t>are converted into </a:t>
                </a:r>
                <a:r>
                  <a:rPr lang="en-US" dirty="0" smtClean="0"/>
                  <a:t>frames.</a:t>
                </a:r>
              </a:p>
              <a:p>
                <a:pPr marL="457200" lvl="1" indent="0" algn="just">
                  <a:buNone/>
                </a:pPr>
                <a:endParaRPr lang="en-US" dirty="0" smtClean="0"/>
              </a:p>
              <a:p>
                <a:pPr lvl="1" algn="just">
                  <a:buFont typeface="Courier New" panose="02070309020205020404" pitchFamily="49" charset="0"/>
                  <a:buChar char="o"/>
                </a:pPr>
                <a:r>
                  <a:rPr lang="en-US" dirty="0" smtClean="0"/>
                  <a:t>Background </a:t>
                </a:r>
                <a:r>
                  <a:rPr lang="en-US" dirty="0"/>
                  <a:t>is subtracted. </a:t>
                </a:r>
                <a:endParaRPr lang="en-US" dirty="0" smtClean="0"/>
              </a:p>
              <a:p>
                <a:pPr lvl="1" algn="just">
                  <a:buFont typeface="Courier New" panose="02070309020205020404" pitchFamily="49" charset="0"/>
                  <a:buChar char="o"/>
                </a:pPr>
                <a:endParaRPr lang="en-US" dirty="0" smtClean="0"/>
              </a:p>
              <a:p>
                <a:pPr lvl="1" algn="just">
                  <a:buFont typeface="Courier New" panose="02070309020205020404" pitchFamily="49" charset="0"/>
                  <a:buChar char="o"/>
                </a:pPr>
                <a:endParaRPr lang="en-US" dirty="0"/>
              </a:p>
              <a:p>
                <a:pPr lvl="1" algn="just">
                  <a:buFont typeface="Courier New" panose="02070309020205020404" pitchFamily="49" charset="0"/>
                  <a:buChar char="o"/>
                </a:pPr>
                <a:r>
                  <a:rPr lang="en-US" dirty="0" smtClean="0"/>
                  <a:t>Next the </a:t>
                </a:r>
                <a:r>
                  <a:rPr lang="en-US" dirty="0"/>
                  <a:t>gait energy image is created by take the average of frames by given formula:</a:t>
                </a:r>
                <a:endParaRPr lang="en-US" b="1" dirty="0"/>
              </a:p>
              <a:p>
                <a:pPr marL="457200" lvl="1" indent="0" algn="just">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𝑮</m:t>
                      </m:r>
                      <m:d>
                        <m:dPr>
                          <m:ctrlPr>
                            <a:rPr lang="en-US" b="1" i="1">
                              <a:latin typeface="Cambria Math" panose="02040503050406030204" pitchFamily="18" charset="0"/>
                            </a:rPr>
                          </m:ctrlPr>
                        </m:dPr>
                        <m:e>
                          <m:r>
                            <a:rPr lang="en-US" b="1" i="1">
                              <a:latin typeface="Cambria Math" panose="02040503050406030204" pitchFamily="18" charset="0"/>
                            </a:rPr>
                            <m:t>𝒂</m:t>
                          </m:r>
                          <m:r>
                            <a:rPr lang="en-US" b="1" i="1">
                              <a:latin typeface="Cambria Math" panose="02040503050406030204" pitchFamily="18" charset="0"/>
                            </a:rPr>
                            <m:t>,</m:t>
                          </m:r>
                          <m:r>
                            <a:rPr lang="en-US" b="1" i="1">
                              <a:latin typeface="Cambria Math" panose="02040503050406030204" pitchFamily="18" charset="0"/>
                            </a:rPr>
                            <m:t>𝒃</m:t>
                          </m:r>
                        </m:e>
                      </m:d>
                      <m:r>
                        <a:rPr lang="en-US" b="1" i="1">
                          <a:latin typeface="Cambria Math" panose="02040503050406030204" pitchFamily="18" charset="0"/>
                        </a:rPr>
                        <m:t>=</m:t>
                      </m:r>
                      <m:r>
                        <a:rPr lang="en-US" b="1" i="1">
                          <a:latin typeface="Cambria Math" panose="02040503050406030204" pitchFamily="18" charset="0"/>
                        </a:rPr>
                        <m:t>𝟏</m:t>
                      </m:r>
                      <m:r>
                        <a:rPr lang="en-US" b="1" i="1">
                          <a:latin typeface="Cambria Math" panose="02040503050406030204" pitchFamily="18" charset="0"/>
                        </a:rPr>
                        <m:t>/</m:t>
                      </m:r>
                      <m:r>
                        <a:rPr lang="en-US" b="1" i="1">
                          <a:latin typeface="Cambria Math" panose="02040503050406030204" pitchFamily="18" charset="0"/>
                        </a:rPr>
                        <m:t>𝑵</m:t>
                      </m:r>
                      <m:nary>
                        <m:naryPr>
                          <m:chr m:val="∑"/>
                          <m:grow m:val="on"/>
                          <m:ctrlPr>
                            <a:rPr lang="en-US" b="1" i="1">
                              <a:latin typeface="Cambria Math" panose="02040503050406030204" pitchFamily="18" charset="0"/>
                            </a:rPr>
                          </m:ctrlPr>
                        </m:naryPr>
                        <m:sub>
                          <m:r>
                            <a:rPr lang="en-US" b="1" i="1">
                              <a:latin typeface="Cambria Math" panose="02040503050406030204" pitchFamily="18" charset="0"/>
                            </a:rPr>
                            <m:t>𝒄</m:t>
                          </m:r>
                          <m:r>
                            <a:rPr lang="en-US" b="1" i="1">
                              <a:latin typeface="Cambria Math" panose="02040503050406030204" pitchFamily="18" charset="0"/>
                            </a:rPr>
                            <m:t>=</m:t>
                          </m:r>
                          <m:r>
                            <a:rPr lang="en-US" b="1" i="1">
                              <a:latin typeface="Cambria Math" panose="02040503050406030204" pitchFamily="18" charset="0"/>
                            </a:rPr>
                            <m:t>𝟏</m:t>
                          </m:r>
                        </m:sub>
                        <m:sup>
                          <m:r>
                            <a:rPr lang="en-US" b="1" i="1">
                              <a:latin typeface="Cambria Math" panose="02040503050406030204" pitchFamily="18" charset="0"/>
                            </a:rPr>
                            <m:t>𝑵</m:t>
                          </m:r>
                        </m:sup>
                        <m:e>
                          <m:r>
                            <a:rPr lang="en-US" b="1" i="1">
                              <a:latin typeface="Cambria Math" panose="02040503050406030204" pitchFamily="18" charset="0"/>
                            </a:rPr>
                            <m:t>𝑩</m:t>
                          </m:r>
                          <m:r>
                            <a:rPr lang="en-US" b="1" i="1">
                              <a:latin typeface="Cambria Math" panose="02040503050406030204" pitchFamily="18" charset="0"/>
                            </a:rPr>
                            <m:t>(</m:t>
                          </m:r>
                          <m:r>
                            <a:rPr lang="en-US" b="1" i="1">
                              <a:latin typeface="Cambria Math" panose="02040503050406030204" pitchFamily="18" charset="0"/>
                            </a:rPr>
                            <m:t>𝒂</m:t>
                          </m:r>
                          <m:r>
                            <a:rPr lang="en-US" b="1" i="1">
                              <a:latin typeface="Cambria Math" panose="02040503050406030204" pitchFamily="18" charset="0"/>
                            </a:rPr>
                            <m:t>,</m:t>
                          </m:r>
                          <m:r>
                            <a:rPr lang="en-US" b="1" i="1">
                              <a:latin typeface="Cambria Math" panose="02040503050406030204" pitchFamily="18" charset="0"/>
                            </a:rPr>
                            <m:t>𝒃</m:t>
                          </m:r>
                          <m:r>
                            <a:rPr lang="en-US" b="1" i="1">
                              <a:latin typeface="Cambria Math" panose="02040503050406030204" pitchFamily="18" charset="0"/>
                            </a:rPr>
                            <m:t>,</m:t>
                          </m:r>
                          <m:r>
                            <a:rPr lang="en-US" b="1" i="1">
                              <a:latin typeface="Cambria Math" panose="02040503050406030204" pitchFamily="18" charset="0"/>
                            </a:rPr>
                            <m:t>𝒄</m:t>
                          </m:r>
                          <m:r>
                            <a:rPr lang="en-US" b="1" i="1">
                              <a:latin typeface="Cambria Math" panose="02040503050406030204" pitchFamily="18" charset="0"/>
                            </a:rPr>
                            <m:t>)</m:t>
                          </m:r>
                        </m:e>
                      </m:nary>
                    </m:oMath>
                  </m:oMathPara>
                </a14:m>
                <a:endParaRPr lang="en-US" b="1" dirty="0" smtClean="0"/>
              </a:p>
              <a:p>
                <a:pPr marL="457200" lvl="1" indent="0" algn="just">
                  <a:buNone/>
                </a:pPr>
                <a:endParaRPr lang="en-US" b="1" dirty="0"/>
              </a:p>
              <a:p>
                <a:pPr lvl="1" algn="just">
                  <a:buFont typeface="Courier New" panose="02070309020205020404" pitchFamily="49" charset="0"/>
                  <a:buChar char="o"/>
                </a:pPr>
                <a:endParaRPr lang="en-US" dirty="0" smtClean="0"/>
              </a:p>
              <a:p>
                <a:pPr lvl="1" algn="just">
                  <a:buFont typeface="Courier New" panose="02070309020205020404" pitchFamily="49" charset="0"/>
                  <a:buChar char="o"/>
                </a:pPr>
                <a:endParaRPr lang="en-US" dirty="0"/>
              </a:p>
              <a:p>
                <a:pPr lvl="1" algn="just">
                  <a:buFont typeface="Courier New" panose="02070309020205020404" pitchFamily="49" charset="0"/>
                  <a:buChar char="o"/>
                </a:pPr>
                <a:r>
                  <a:rPr lang="en-US" dirty="0" smtClean="0"/>
                  <a:t>CNN </a:t>
                </a:r>
                <a:r>
                  <a:rPr lang="en-US" dirty="0"/>
                  <a:t>model is given to extract the spatial and temporal features. </a:t>
                </a:r>
                <a:endParaRPr lang="en-US" dirty="0" smtClean="0"/>
              </a:p>
              <a:p>
                <a:pPr lvl="1" algn="just">
                  <a:buFont typeface="Courier New" panose="02070309020205020404" pitchFamily="49" charset="0"/>
                  <a:buChar char="o"/>
                </a:pPr>
                <a:r>
                  <a:rPr lang="en-US" dirty="0" smtClean="0"/>
                  <a:t>Finally</a:t>
                </a:r>
                <a:r>
                  <a:rPr lang="en-US" dirty="0"/>
                  <a:t>, fully connected layer is formed to and </a:t>
                </a:r>
                <a:r>
                  <a:rPr lang="en-US" dirty="0" err="1"/>
                  <a:t>softmax</a:t>
                </a:r>
                <a:r>
                  <a:rPr lang="en-US" dirty="0"/>
                  <a:t> activation function is used to get the final prediction. </a:t>
                </a:r>
                <a:endParaRPr lang="en-US" b="1" dirty="0"/>
              </a:p>
              <a:p>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368300"/>
                <a:ext cx="10515600" cy="5808663"/>
              </a:xfrm>
              <a:blipFill>
                <a:blip r:embed="rId2"/>
                <a:stretch>
                  <a:fillRect l="-1043" t="-2099" r="-696"/>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7670800" y="2800121"/>
            <a:ext cx="3232150" cy="1903869"/>
          </a:xfrm>
          <a:prstGeom prst="rect">
            <a:avLst/>
          </a:prstGeom>
        </p:spPr>
      </p:pic>
      <p:pic>
        <p:nvPicPr>
          <p:cNvPr id="5" name="Google Shape;148;p27"/>
          <p:cNvPicPr preferRelativeResize="0"/>
          <p:nvPr/>
        </p:nvPicPr>
        <p:blipFill rotWithShape="1">
          <a:blip r:embed="rId4">
            <a:alphaModFix/>
          </a:blip>
          <a:srcRect l="3789" b="42954"/>
          <a:stretch/>
        </p:blipFill>
        <p:spPr>
          <a:xfrm>
            <a:off x="7518400" y="756456"/>
            <a:ext cx="3384550" cy="1332693"/>
          </a:xfrm>
          <a:prstGeom prst="rect">
            <a:avLst/>
          </a:prstGeom>
          <a:noFill/>
          <a:ln>
            <a:noFill/>
          </a:ln>
        </p:spPr>
      </p:pic>
    </p:spTree>
    <p:extLst>
      <p:ext uri="{BB962C8B-B14F-4D97-AF65-F5344CB8AC3E}">
        <p14:creationId xmlns:p14="http://schemas.microsoft.com/office/powerpoint/2010/main" val="22732102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3"/>
          <p:cNvSpPr txBox="1">
            <a:spLocks noGrp="1"/>
          </p:cNvSpPr>
          <p:nvPr>
            <p:ph type="title"/>
          </p:nvPr>
        </p:nvSpPr>
        <p:spPr>
          <a:xfrm>
            <a:off x="1730000" y="525000"/>
            <a:ext cx="9385200" cy="1218800"/>
          </a:xfrm>
          <a:prstGeom prst="rect">
            <a:avLst/>
          </a:prstGeom>
        </p:spPr>
        <p:txBody>
          <a:bodyPr spcFirstLastPara="1" vert="horz" wrap="square" lIns="121900" tIns="121900" rIns="121900" bIns="121900" rtlCol="0" anchor="t" anchorCtr="0">
            <a:noAutofit/>
          </a:bodyPr>
          <a:lstStyle/>
          <a:p>
            <a:r>
              <a:rPr lang="en"/>
              <a:t>Convolution Neural Network</a:t>
            </a:r>
            <a:endParaRPr/>
          </a:p>
        </p:txBody>
      </p:sp>
      <p:sp>
        <p:nvSpPr>
          <p:cNvPr id="202" name="Google Shape;202;p23"/>
          <p:cNvSpPr txBox="1">
            <a:spLocks noGrp="1"/>
          </p:cNvSpPr>
          <p:nvPr>
            <p:ph type="body" idx="1"/>
          </p:nvPr>
        </p:nvSpPr>
        <p:spPr>
          <a:xfrm>
            <a:off x="1730000" y="2090067"/>
            <a:ext cx="9385200" cy="3881600"/>
          </a:xfrm>
          <a:prstGeom prst="rect">
            <a:avLst/>
          </a:prstGeom>
        </p:spPr>
        <p:txBody>
          <a:bodyPr spcFirstLastPara="1" vert="horz" wrap="square" lIns="121900" tIns="121900" rIns="121900" bIns="121900" rtlCol="0" anchor="t" anchorCtr="0">
            <a:noAutofit/>
          </a:bodyPr>
          <a:lstStyle/>
          <a:p>
            <a:pPr marL="0" indent="0">
              <a:buNone/>
            </a:pPr>
            <a:r>
              <a:rPr lang="en" dirty="0"/>
              <a:t>The network created had 15 layers consisting of:</a:t>
            </a:r>
            <a:endParaRPr dirty="0"/>
          </a:p>
          <a:p>
            <a:pPr indent="-406390">
              <a:lnSpc>
                <a:spcPct val="150000"/>
              </a:lnSpc>
              <a:spcBef>
                <a:spcPts val="2133"/>
              </a:spcBef>
              <a:buSzPts val="1200"/>
              <a:buFont typeface="Montserrat"/>
              <a:buChar char="●"/>
            </a:pPr>
            <a:r>
              <a:rPr lang="en" sz="1600" dirty="0">
                <a:latin typeface="Montserrat"/>
                <a:ea typeface="Montserrat"/>
                <a:cs typeface="Montserrat"/>
                <a:sym typeface="Montserrat"/>
              </a:rPr>
              <a:t>Image Input Layer - 1</a:t>
            </a:r>
            <a:endParaRPr sz="1600" dirty="0">
              <a:latin typeface="Montserrat"/>
              <a:ea typeface="Montserrat"/>
              <a:cs typeface="Montserrat"/>
              <a:sym typeface="Montserrat"/>
            </a:endParaRPr>
          </a:p>
          <a:p>
            <a:pPr indent="-406390">
              <a:lnSpc>
                <a:spcPct val="150000"/>
              </a:lnSpc>
              <a:buSzPts val="1200"/>
              <a:buFont typeface="Montserrat"/>
              <a:buChar char="●"/>
            </a:pPr>
            <a:r>
              <a:rPr lang="en" sz="1600" dirty="0">
                <a:latin typeface="Montserrat"/>
                <a:ea typeface="Montserrat"/>
                <a:cs typeface="Montserrat"/>
                <a:sym typeface="Montserrat"/>
              </a:rPr>
              <a:t>Convolution Layer - 3</a:t>
            </a:r>
            <a:endParaRPr sz="1600" dirty="0">
              <a:latin typeface="Montserrat"/>
              <a:ea typeface="Montserrat"/>
              <a:cs typeface="Montserrat"/>
              <a:sym typeface="Montserrat"/>
            </a:endParaRPr>
          </a:p>
          <a:p>
            <a:pPr indent="-406390">
              <a:lnSpc>
                <a:spcPct val="150000"/>
              </a:lnSpc>
              <a:buSzPts val="1200"/>
              <a:buFont typeface="Montserrat"/>
              <a:buChar char="●"/>
            </a:pPr>
            <a:r>
              <a:rPr lang="en" sz="1600" dirty="0">
                <a:latin typeface="Montserrat"/>
                <a:ea typeface="Montserrat"/>
                <a:cs typeface="Montserrat"/>
                <a:sym typeface="Montserrat"/>
              </a:rPr>
              <a:t>Batch Normalization layer - 3</a:t>
            </a:r>
            <a:endParaRPr sz="1600" dirty="0">
              <a:latin typeface="Montserrat"/>
              <a:ea typeface="Montserrat"/>
              <a:cs typeface="Montserrat"/>
              <a:sym typeface="Montserrat"/>
            </a:endParaRPr>
          </a:p>
          <a:p>
            <a:pPr indent="-406390">
              <a:lnSpc>
                <a:spcPct val="150000"/>
              </a:lnSpc>
              <a:buSzPts val="1200"/>
              <a:buFont typeface="Montserrat"/>
              <a:buChar char="●"/>
            </a:pPr>
            <a:r>
              <a:rPr lang="en" sz="1600" dirty="0">
                <a:latin typeface="Montserrat"/>
                <a:ea typeface="Montserrat"/>
                <a:cs typeface="Montserrat"/>
                <a:sym typeface="Montserrat"/>
              </a:rPr>
              <a:t>ReLU Layer - 3</a:t>
            </a:r>
            <a:endParaRPr sz="1600" dirty="0">
              <a:latin typeface="Montserrat"/>
              <a:ea typeface="Montserrat"/>
              <a:cs typeface="Montserrat"/>
              <a:sym typeface="Montserrat"/>
            </a:endParaRPr>
          </a:p>
          <a:p>
            <a:pPr indent="-406390">
              <a:lnSpc>
                <a:spcPct val="150000"/>
              </a:lnSpc>
              <a:buSzPts val="1200"/>
              <a:buFont typeface="Montserrat"/>
              <a:buChar char="●"/>
            </a:pPr>
            <a:r>
              <a:rPr lang="en" sz="1600" dirty="0">
                <a:latin typeface="Montserrat"/>
                <a:ea typeface="Montserrat"/>
                <a:cs typeface="Montserrat"/>
                <a:sym typeface="Montserrat"/>
              </a:rPr>
              <a:t>Max Pooling Layer - 2</a:t>
            </a:r>
            <a:endParaRPr sz="1600" dirty="0">
              <a:latin typeface="Montserrat"/>
              <a:ea typeface="Montserrat"/>
              <a:cs typeface="Montserrat"/>
              <a:sym typeface="Montserrat"/>
            </a:endParaRPr>
          </a:p>
          <a:p>
            <a:pPr indent="-406390">
              <a:lnSpc>
                <a:spcPct val="150000"/>
              </a:lnSpc>
              <a:buSzPts val="1200"/>
              <a:buFont typeface="Montserrat"/>
              <a:buChar char="●"/>
            </a:pPr>
            <a:r>
              <a:rPr lang="en" sz="1600" dirty="0">
                <a:latin typeface="Montserrat"/>
                <a:ea typeface="Montserrat"/>
                <a:cs typeface="Montserrat"/>
                <a:sym typeface="Montserrat"/>
              </a:rPr>
              <a:t>Fully connected Layer - 1</a:t>
            </a:r>
            <a:endParaRPr sz="1600" dirty="0">
              <a:latin typeface="Montserrat"/>
              <a:ea typeface="Montserrat"/>
              <a:cs typeface="Montserrat"/>
              <a:sym typeface="Montserrat"/>
            </a:endParaRPr>
          </a:p>
          <a:p>
            <a:pPr indent="-406390">
              <a:lnSpc>
                <a:spcPct val="150000"/>
              </a:lnSpc>
              <a:buSzPts val="1200"/>
              <a:buFont typeface="Montserrat"/>
              <a:buChar char="●"/>
            </a:pPr>
            <a:r>
              <a:rPr lang="en" sz="1600" dirty="0">
                <a:latin typeface="Montserrat"/>
                <a:ea typeface="Montserrat"/>
                <a:cs typeface="Montserrat"/>
                <a:sym typeface="Montserrat"/>
              </a:rPr>
              <a:t>Softmax Layer - 1</a:t>
            </a:r>
            <a:endParaRPr sz="1600" dirty="0">
              <a:latin typeface="Montserrat"/>
              <a:ea typeface="Montserrat"/>
              <a:cs typeface="Montserrat"/>
              <a:sym typeface="Montserrat"/>
            </a:endParaRPr>
          </a:p>
          <a:p>
            <a:pPr indent="-406390">
              <a:lnSpc>
                <a:spcPct val="150000"/>
              </a:lnSpc>
              <a:buSzPts val="1200"/>
              <a:buFont typeface="Montserrat"/>
              <a:buChar char="●"/>
            </a:pPr>
            <a:r>
              <a:rPr lang="en" sz="1600" dirty="0">
                <a:latin typeface="Montserrat"/>
                <a:ea typeface="Montserrat"/>
                <a:cs typeface="Montserrat"/>
                <a:sym typeface="Montserrat"/>
              </a:rPr>
              <a:t>Classification Layer - 1</a:t>
            </a:r>
            <a:endParaRPr dirty="0">
              <a:latin typeface="Montserrat"/>
              <a:ea typeface="Montserrat"/>
              <a:cs typeface="Montserrat"/>
              <a:sym typeface="Montserrat"/>
            </a:endParaRPr>
          </a:p>
        </p:txBody>
      </p:sp>
      <p:pic>
        <p:nvPicPr>
          <p:cNvPr id="203" name="Google Shape;203;p23"/>
          <p:cNvPicPr preferRelativeResize="0"/>
          <p:nvPr/>
        </p:nvPicPr>
        <p:blipFill>
          <a:blip r:embed="rId3">
            <a:alphaModFix/>
          </a:blip>
          <a:stretch>
            <a:fillRect/>
          </a:stretch>
        </p:blipFill>
        <p:spPr>
          <a:xfrm>
            <a:off x="8648634" y="2753665"/>
            <a:ext cx="709567" cy="3334333"/>
          </a:xfrm>
          <a:prstGeom prst="rect">
            <a:avLst/>
          </a:prstGeom>
          <a:noFill/>
          <a:ln>
            <a:noFill/>
          </a:ln>
        </p:spPr>
      </p:pic>
    </p:spTree>
    <p:extLst>
      <p:ext uri="{BB962C8B-B14F-4D97-AF65-F5344CB8AC3E}">
        <p14:creationId xmlns:p14="http://schemas.microsoft.com/office/powerpoint/2010/main" val="1356370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8703" b="31111"/>
          <a:stretch/>
        </p:blipFill>
        <p:spPr>
          <a:xfrm>
            <a:off x="3506787" y="330200"/>
            <a:ext cx="5535613" cy="5922878"/>
          </a:xfrm>
          <a:prstGeom prst="rect">
            <a:avLst/>
          </a:prstGeom>
        </p:spPr>
      </p:pic>
    </p:spTree>
    <p:extLst>
      <p:ext uri="{BB962C8B-B14F-4D97-AF65-F5344CB8AC3E}">
        <p14:creationId xmlns:p14="http://schemas.microsoft.com/office/powerpoint/2010/main" val="28335156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4445" b="4815"/>
          <a:stretch/>
        </p:blipFill>
        <p:spPr>
          <a:xfrm>
            <a:off x="3798887" y="165100"/>
            <a:ext cx="3857625" cy="6223000"/>
          </a:xfrm>
          <a:prstGeom prst="rect">
            <a:avLst/>
          </a:prstGeom>
        </p:spPr>
      </p:pic>
    </p:spTree>
    <p:extLst>
      <p:ext uri="{BB962C8B-B14F-4D97-AF65-F5344CB8AC3E}">
        <p14:creationId xmlns:p14="http://schemas.microsoft.com/office/powerpoint/2010/main" val="14203797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b="39074"/>
          <a:stretch/>
        </p:blipFill>
        <p:spPr>
          <a:xfrm>
            <a:off x="3811587" y="977900"/>
            <a:ext cx="3857625" cy="4178300"/>
          </a:xfrm>
          <a:prstGeom prst="rect">
            <a:avLst/>
          </a:prstGeom>
        </p:spPr>
      </p:pic>
    </p:spTree>
    <p:extLst>
      <p:ext uri="{BB962C8B-B14F-4D97-AF65-F5344CB8AC3E}">
        <p14:creationId xmlns:p14="http://schemas.microsoft.com/office/powerpoint/2010/main" val="34753817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167187" y="0"/>
            <a:ext cx="3857625" cy="6858000"/>
          </a:xfrm>
          <a:prstGeom prst="rect">
            <a:avLst/>
          </a:prstGeom>
        </p:spPr>
      </p:pic>
    </p:spTree>
    <p:extLst>
      <p:ext uri="{BB962C8B-B14F-4D97-AF65-F5344CB8AC3E}">
        <p14:creationId xmlns:p14="http://schemas.microsoft.com/office/powerpoint/2010/main" val="17565799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Results</a:t>
            </a:r>
            <a:endParaRPr lang="en-US" b="1"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4292645800"/>
              </p:ext>
            </p:extLst>
          </p:nvPr>
        </p:nvGraphicFramePr>
        <p:xfrm>
          <a:off x="1016000" y="1458221"/>
          <a:ext cx="6210300" cy="4802876"/>
        </p:xfrm>
        <a:graphic>
          <a:graphicData uri="http://schemas.openxmlformats.org/drawingml/2006/table">
            <a:tbl>
              <a:tblPr firstRow="1" firstCol="1" lastRow="1" lastCol="1" bandRow="1" bandCol="1"/>
              <a:tblGrid>
                <a:gridCol w="823350">
                  <a:extLst>
                    <a:ext uri="{9D8B030D-6E8A-4147-A177-3AD203B41FA5}">
                      <a16:colId xmlns:a16="http://schemas.microsoft.com/office/drawing/2014/main" val="2715006535"/>
                    </a:ext>
                  </a:extLst>
                </a:gridCol>
                <a:gridCol w="701045">
                  <a:extLst>
                    <a:ext uri="{9D8B030D-6E8A-4147-A177-3AD203B41FA5}">
                      <a16:colId xmlns:a16="http://schemas.microsoft.com/office/drawing/2014/main" val="3729360349"/>
                    </a:ext>
                  </a:extLst>
                </a:gridCol>
                <a:gridCol w="936831">
                  <a:extLst>
                    <a:ext uri="{9D8B030D-6E8A-4147-A177-3AD203B41FA5}">
                      <a16:colId xmlns:a16="http://schemas.microsoft.com/office/drawing/2014/main" val="3563113146"/>
                    </a:ext>
                  </a:extLst>
                </a:gridCol>
                <a:gridCol w="960786">
                  <a:extLst>
                    <a:ext uri="{9D8B030D-6E8A-4147-A177-3AD203B41FA5}">
                      <a16:colId xmlns:a16="http://schemas.microsoft.com/office/drawing/2014/main" val="1274801655"/>
                    </a:ext>
                  </a:extLst>
                </a:gridCol>
                <a:gridCol w="964567">
                  <a:extLst>
                    <a:ext uri="{9D8B030D-6E8A-4147-A177-3AD203B41FA5}">
                      <a16:colId xmlns:a16="http://schemas.microsoft.com/office/drawing/2014/main" val="1943854201"/>
                    </a:ext>
                  </a:extLst>
                </a:gridCol>
                <a:gridCol w="947421">
                  <a:extLst>
                    <a:ext uri="{9D8B030D-6E8A-4147-A177-3AD203B41FA5}">
                      <a16:colId xmlns:a16="http://schemas.microsoft.com/office/drawing/2014/main" val="1258994131"/>
                    </a:ext>
                  </a:extLst>
                </a:gridCol>
                <a:gridCol w="876300">
                  <a:extLst>
                    <a:ext uri="{9D8B030D-6E8A-4147-A177-3AD203B41FA5}">
                      <a16:colId xmlns:a16="http://schemas.microsoft.com/office/drawing/2014/main" val="373413842"/>
                    </a:ext>
                  </a:extLst>
                </a:gridCol>
              </a:tblGrid>
              <a:tr h="354710">
                <a:tc>
                  <a:txBody>
                    <a:bodyPr/>
                    <a:lstStyle/>
                    <a:p>
                      <a:pPr marL="5715" marR="0" algn="l">
                        <a:spcBef>
                          <a:spcPts val="165"/>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Angle </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16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a:t>
                      </a: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Bag</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marL="0" marR="0" algn="l">
                        <a:spcBef>
                          <a:spcPts val="165"/>
                        </a:spcBef>
                        <a:spcAft>
                          <a:spcPts val="0"/>
                        </a:spcAft>
                        <a:tabLst>
                          <a:tab pos="383540" algn="l"/>
                          <a:tab pos="796290" algn="l"/>
                        </a:tabLs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	</a:t>
                      </a:r>
                      <a:r>
                        <a:rPr lang="en-US" sz="2000" b="1" spc="-615" dirty="0" smtClean="0">
                          <a:effectLst/>
                          <a:latin typeface="Times New Roman" panose="02020603050405020304" pitchFamily="18" charset="0"/>
                          <a:ea typeface="Times New Roman" panose="02020603050405020304" pitchFamily="18" charset="0"/>
                          <a:cs typeface="Arial" panose="020B0604020202020204" pitchFamily="34" charset="0"/>
                        </a:rPr>
                        <a:t>O</a:t>
                      </a:r>
                      <a:r>
                        <a:rPr lang="en-US" sz="2000" b="1" spc="395" dirty="0" smtClean="0">
                          <a:effectLst/>
                          <a:latin typeface="Times New Roman" panose="02020603050405020304" pitchFamily="18" charset="0"/>
                          <a:ea typeface="Times New Roman" panose="02020603050405020304" pitchFamily="18" charset="0"/>
                          <a:cs typeface="Arial" panose="020B0604020202020204" pitchFamily="34" charset="0"/>
                        </a:rPr>
                        <a:t> </a:t>
                      </a:r>
                      <a:r>
                        <a:rPr lang="en-US" sz="2000" b="1" dirty="0" err="1" smtClean="0">
                          <a:effectLst/>
                          <a:latin typeface="Times New Roman" panose="02020603050405020304" pitchFamily="18" charset="0"/>
                          <a:ea typeface="Times New Roman" panose="02020603050405020304" pitchFamily="18" charset="0"/>
                          <a:cs typeface="Arial" panose="020B0604020202020204" pitchFamily="34" charset="0"/>
                        </a:rPr>
                        <a:t>vercoat</a:t>
                      </a:r>
                      <a:r>
                        <a:rPr lang="en-US" sz="2000" b="1" spc="-5" dirty="0" smtClean="0">
                          <a:effectLst/>
                          <a:latin typeface="Times New Roman" panose="02020603050405020304" pitchFamily="18" charset="0"/>
                          <a:ea typeface="Times New Roman" panose="02020603050405020304" pitchFamily="18" charset="0"/>
                          <a:cs typeface="Arial" panose="020B0604020202020204" pitchFamily="34" charset="0"/>
                        </a:rPr>
                        <a:t> </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gridSpan="2">
                  <a:txBody>
                    <a:bodyPr/>
                    <a:lstStyle/>
                    <a:p>
                      <a:pPr marL="207645" marR="0" algn="l">
                        <a:spcBef>
                          <a:spcPts val="165"/>
                        </a:spcBef>
                        <a:spcAft>
                          <a:spcPts val="0"/>
                        </a:spcAft>
                      </a:pPr>
                      <a:r>
                        <a:rPr lang="en-US" sz="2000" b="1" spc="-615" dirty="0" smtClean="0">
                          <a:effectLst/>
                          <a:latin typeface="Times New Roman" panose="02020603050405020304" pitchFamily="18" charset="0"/>
                          <a:ea typeface="Times New Roman" panose="02020603050405020304" pitchFamily="18" charset="0"/>
                          <a:cs typeface="Arial" panose="020B0604020202020204" pitchFamily="34" charset="0"/>
                        </a:rPr>
                        <a:t>N</a:t>
                      </a:r>
                      <a:r>
                        <a:rPr lang="en-US" sz="2000" b="1" spc="390" dirty="0" smtClean="0">
                          <a:effectLst/>
                          <a:latin typeface="Times New Roman" panose="02020603050405020304" pitchFamily="18" charset="0"/>
                          <a:ea typeface="Times New Roman" panose="02020603050405020304" pitchFamily="18" charset="0"/>
                          <a:cs typeface="Arial" panose="020B0604020202020204" pitchFamily="34" charset="0"/>
                        </a:rPr>
                        <a:t> </a:t>
                      </a:r>
                      <a:r>
                        <a:rPr lang="en-US" sz="2000" b="1" dirty="0" err="1" smtClean="0">
                          <a:effectLst/>
                          <a:latin typeface="Times New Roman" panose="02020603050405020304" pitchFamily="18" charset="0"/>
                          <a:ea typeface="Times New Roman" panose="02020603050405020304" pitchFamily="18" charset="0"/>
                          <a:cs typeface="Arial" panose="020B0604020202020204" pitchFamily="34" charset="0"/>
                        </a:rPr>
                        <a:t>ormal</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2466254495"/>
                  </a:ext>
                </a:extLst>
              </a:tr>
              <a:tr h="826935">
                <a:tc>
                  <a:txBody>
                    <a:bodyPr/>
                    <a:lstStyle/>
                    <a:p>
                      <a:pPr marL="0" marR="0" algn="ctr">
                        <a:spcBef>
                          <a:spcPts val="0"/>
                        </a:spcBef>
                        <a:spcAft>
                          <a:spcPts val="0"/>
                        </a:spcAft>
                      </a:pPr>
                      <a:r>
                        <a:rPr lang="en-US" sz="2400" dirty="0">
                          <a:effectLst/>
                          <a:latin typeface="Times New Roman" panose="02020603050405020304" pitchFamily="18" charset="0"/>
                          <a:ea typeface="Times New Roman" panose="02020603050405020304" pitchFamily="18" charset="0"/>
                          <a:cs typeface="Arial" panose="020B0604020202020204" pitchFamily="34" charset="0"/>
                        </a:rPr>
                        <a:t> </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245"/>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Our </a:t>
                      </a: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Result</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245"/>
                        </a:spcBef>
                        <a:spcAft>
                          <a:spcPts val="0"/>
                        </a:spcAft>
                      </a:pPr>
                      <a:r>
                        <a:rPr lang="en-US" sz="2000" dirty="0" err="1" smtClean="0"/>
                        <a:t>Ziyuan</a:t>
                      </a:r>
                      <a:r>
                        <a:rPr lang="en-US" sz="2000" dirty="0" smtClean="0"/>
                        <a:t> Zhang</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245"/>
                        </a:spcBef>
                        <a:spcAft>
                          <a:spcPts val="0"/>
                        </a:spcAft>
                      </a:pPr>
                      <a:r>
                        <a:rPr lang="en-US" sz="2000" dirty="0" smtClean="0"/>
                        <a:t>Liang Wang</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245"/>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Our </a:t>
                      </a: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Result</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245"/>
                        </a:spcBef>
                        <a:spcAft>
                          <a:spcPts val="0"/>
                        </a:spcAft>
                      </a:pPr>
                      <a:r>
                        <a:rPr lang="en-US" sz="2000" dirty="0" smtClean="0">
                          <a:effectLst/>
                          <a:latin typeface="Times New Roman" panose="02020603050405020304" pitchFamily="18" charset="0"/>
                          <a:ea typeface="Times New Roman" panose="02020603050405020304" pitchFamily="18" charset="0"/>
                          <a:cs typeface="Arial" panose="020B0604020202020204" pitchFamily="34" charset="0"/>
                        </a:rPr>
                        <a:t>Deng. Et al.</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245"/>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Our </a:t>
                      </a: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Result</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08563950"/>
                  </a:ext>
                </a:extLst>
              </a:tr>
              <a:tr h="320386">
                <a:tc>
                  <a:txBody>
                    <a:bodyPr/>
                    <a:lstStyle/>
                    <a:p>
                      <a:pPr marL="3175" marR="0" algn="ctr">
                        <a:spcBef>
                          <a:spcPts val="380"/>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0</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37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87.64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375"/>
                        </a:spcBef>
                        <a:spcAft>
                          <a:spcPts val="0"/>
                        </a:spcAft>
                      </a:pPr>
                      <a:r>
                        <a:rPr lang="en-US" sz="2000" dirty="0" smtClean="0">
                          <a:effectLst/>
                          <a:latin typeface="Times New Roman" panose="02020603050405020304" pitchFamily="18" charset="0"/>
                          <a:ea typeface="Times New Roman" panose="02020603050405020304" pitchFamily="18" charset="0"/>
                          <a:cs typeface="Arial" panose="020B0604020202020204" pitchFamily="34" charset="0"/>
                        </a:rPr>
                        <a:t>78.49</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375"/>
                        </a:spcBef>
                        <a:spcAft>
                          <a:spcPts val="0"/>
                        </a:spcAft>
                      </a:pPr>
                      <a:r>
                        <a:rPr lang="en-US" sz="2000" dirty="0" smtClean="0">
                          <a:effectLst/>
                          <a:latin typeface="Times New Roman" panose="02020603050405020304" pitchFamily="18" charset="0"/>
                          <a:ea typeface="Times New Roman" panose="02020603050405020304" pitchFamily="18" charset="0"/>
                          <a:cs typeface="Arial" panose="020B0604020202020204" pitchFamily="34" charset="0"/>
                        </a:rPr>
                        <a:t>75.59</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12725" algn="ctr">
                        <a:spcBef>
                          <a:spcPts val="37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78.35</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37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93.59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9690" algn="ctr">
                        <a:spcBef>
                          <a:spcPts val="37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98.14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7797433"/>
                  </a:ext>
                </a:extLst>
              </a:tr>
              <a:tr h="326073">
                <a:tc>
                  <a:txBody>
                    <a:bodyPr/>
                    <a:lstStyle/>
                    <a:p>
                      <a:pPr marL="0" marR="0" algn="ctr">
                        <a:spcBef>
                          <a:spcPts val="60"/>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18</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88.49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94.74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98.35</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90.30</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95.44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969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98.14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7060619"/>
                  </a:ext>
                </a:extLst>
              </a:tr>
              <a:tr h="326073">
                <a:tc>
                  <a:txBody>
                    <a:bodyPr/>
                    <a:lstStyle/>
                    <a:p>
                      <a:pPr marL="1270" marR="0" algn="ctr">
                        <a:spcBef>
                          <a:spcPts val="60"/>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36</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85.49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98.75</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94.34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12725" algn="ctr">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98.44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94.29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969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98.14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3365055"/>
                  </a:ext>
                </a:extLst>
              </a:tr>
              <a:tr h="326073">
                <a:tc>
                  <a:txBody>
                    <a:bodyPr/>
                    <a:lstStyle/>
                    <a:p>
                      <a:pPr marL="2540" marR="0" algn="ctr">
                        <a:spcBef>
                          <a:spcPts val="60"/>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54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88.69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55"/>
                        </a:spcBef>
                        <a:spcAft>
                          <a:spcPts val="0"/>
                        </a:spcAft>
                      </a:pPr>
                      <a:r>
                        <a:rPr lang="en-US" sz="2000" dirty="0">
                          <a:effectLst/>
                          <a:latin typeface="Times New Roman" panose="02020603050405020304" pitchFamily="18" charset="0"/>
                          <a:ea typeface="Times New Roman" panose="02020603050405020304" pitchFamily="18" charset="0"/>
                          <a:cs typeface="Arial" panose="020B0604020202020204" pitchFamily="34" charset="0"/>
                        </a:rPr>
                        <a:t>96.50</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96.39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12725" algn="ctr">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98.35</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94.14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55"/>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 </a:t>
                      </a: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98.04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80072139"/>
                  </a:ext>
                </a:extLst>
              </a:tr>
              <a:tr h="326073">
                <a:tc>
                  <a:txBody>
                    <a:bodyPr/>
                    <a:lstStyle/>
                    <a:p>
                      <a:pPr marL="3175" marR="0" algn="ctr">
                        <a:spcBef>
                          <a:spcPts val="65"/>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72</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87.44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96.40</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55"/>
                        </a:spcBef>
                        <a:spcAft>
                          <a:spcPts val="0"/>
                        </a:spcAft>
                      </a:pPr>
                      <a:r>
                        <a:rPr lang="en-US" sz="2000" dirty="0" smtClean="0">
                          <a:effectLst/>
                          <a:latin typeface="Times New Roman" panose="02020603050405020304" pitchFamily="18" charset="0"/>
                          <a:ea typeface="Times New Roman" panose="02020603050405020304" pitchFamily="18" charset="0"/>
                          <a:cs typeface="Arial" panose="020B0604020202020204" pitchFamily="34" charset="0"/>
                        </a:rPr>
                        <a:t>95.69</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98.06</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55"/>
                        </a:spcBef>
                        <a:spcAft>
                          <a:spcPts val="0"/>
                        </a:spcAft>
                      </a:pPr>
                      <a:r>
                        <a:rPr lang="en-US" sz="2000" dirty="0">
                          <a:effectLst/>
                          <a:latin typeface="Times New Roman" panose="02020603050405020304" pitchFamily="18" charset="0"/>
                          <a:ea typeface="Times New Roman" panose="02020603050405020304" pitchFamily="18" charset="0"/>
                          <a:cs typeface="Arial" panose="020B0604020202020204" pitchFamily="34" charset="0"/>
                        </a:rPr>
                        <a:t>95.14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a:t>
                      </a: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98.05</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0509422"/>
                  </a:ext>
                </a:extLst>
              </a:tr>
              <a:tr h="326073">
                <a:tc>
                  <a:txBody>
                    <a:bodyPr/>
                    <a:lstStyle/>
                    <a:p>
                      <a:pPr marL="2540" marR="0" algn="ctr">
                        <a:spcBef>
                          <a:spcPts val="60"/>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90</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88.59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55"/>
                        </a:spcBef>
                        <a:spcAft>
                          <a:spcPts val="0"/>
                        </a:spcAft>
                      </a:pPr>
                      <a:r>
                        <a:rPr lang="en-US" sz="2000" dirty="0" smtClean="0">
                          <a:effectLst/>
                          <a:latin typeface="Times New Roman" panose="02020603050405020304" pitchFamily="18" charset="0"/>
                          <a:ea typeface="Times New Roman" panose="02020603050405020304" pitchFamily="18" charset="0"/>
                          <a:cs typeface="Arial" panose="020B0604020202020204" pitchFamily="34" charset="0"/>
                        </a:rPr>
                        <a:t>96.44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55"/>
                        </a:spcBef>
                        <a:spcAft>
                          <a:spcPts val="0"/>
                        </a:spcAft>
                      </a:pPr>
                      <a:r>
                        <a:rPr lang="en-US" sz="2000" dirty="0" smtClean="0">
                          <a:effectLst/>
                          <a:latin typeface="Times New Roman" panose="02020603050405020304" pitchFamily="18" charset="0"/>
                          <a:ea typeface="Times New Roman" panose="02020603050405020304" pitchFamily="18" charset="0"/>
                          <a:cs typeface="Arial" panose="020B0604020202020204" pitchFamily="34" charset="0"/>
                        </a:rPr>
                        <a:t>96.59</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97.08</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96.14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55"/>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 </a:t>
                      </a: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99.05</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2357929"/>
                  </a:ext>
                </a:extLst>
              </a:tr>
              <a:tr h="326073">
                <a:tc>
                  <a:txBody>
                    <a:bodyPr/>
                    <a:lstStyle/>
                    <a:p>
                      <a:pPr marL="0" marR="0" algn="ctr">
                        <a:spcBef>
                          <a:spcPts val="60"/>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108</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83.63</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96.30</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90.34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12725" algn="ctr">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96.29</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96.44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9690" algn="ctr">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99.14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0580953"/>
                  </a:ext>
                </a:extLst>
              </a:tr>
              <a:tr h="326073">
                <a:tc>
                  <a:txBody>
                    <a:bodyPr/>
                    <a:lstStyle/>
                    <a:p>
                      <a:pPr marL="0" marR="0" algn="ctr">
                        <a:spcBef>
                          <a:spcPts val="60"/>
                        </a:spcBef>
                        <a:spcAft>
                          <a:spcPts val="0"/>
                        </a:spcAft>
                      </a:pPr>
                      <a:r>
                        <a:rPr lang="en-US" sz="2000" dirty="0">
                          <a:effectLst/>
                          <a:latin typeface="Gill Sans MT" panose="020B0502020104020203" pitchFamily="34" charset="0"/>
                          <a:ea typeface="Times New Roman" panose="02020603050405020304" pitchFamily="18" charset="0"/>
                          <a:cs typeface="Arial" panose="020B0604020202020204" pitchFamily="34" charset="0"/>
                        </a:rPr>
                        <a:t>124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81.58</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92.39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90.64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12725" algn="ctr">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95.30</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97.29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9690" algn="ctr">
                        <a:spcBef>
                          <a:spcPts val="55"/>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97.29</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1806155"/>
                  </a:ext>
                </a:extLst>
              </a:tr>
              <a:tr h="326073">
                <a:tc>
                  <a:txBody>
                    <a:bodyPr/>
                    <a:lstStyle/>
                    <a:p>
                      <a:pPr marL="0" marR="0" algn="ctr">
                        <a:spcBef>
                          <a:spcPts val="60"/>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144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81.63</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94.34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94.64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12725" algn="ctr">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94.15</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97.74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9690" algn="ctr">
                        <a:spcBef>
                          <a:spcPts val="55"/>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96.14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66421087"/>
                  </a:ext>
                </a:extLst>
              </a:tr>
              <a:tr h="328662">
                <a:tc>
                  <a:txBody>
                    <a:bodyPr/>
                    <a:lstStyle/>
                    <a:p>
                      <a:pPr marL="0" marR="0" algn="ctr">
                        <a:spcBef>
                          <a:spcPts val="60"/>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162</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55"/>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88.78</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94.34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90.64</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12725" algn="ctr">
                        <a:spcBef>
                          <a:spcPts val="55"/>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 94.59</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55"/>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97.59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59690" algn="ctr">
                        <a:spcBef>
                          <a:spcPts val="55"/>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95.14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10598261"/>
                  </a:ext>
                </a:extLst>
              </a:tr>
              <a:tr h="363599">
                <a:tc>
                  <a:txBody>
                    <a:bodyPr/>
                    <a:lstStyle/>
                    <a:p>
                      <a:pPr marL="0" marR="0" algn="ctr">
                        <a:spcBef>
                          <a:spcPts val="65"/>
                        </a:spcBef>
                        <a:spcAft>
                          <a:spcPts val="0"/>
                        </a:spcAft>
                      </a:pPr>
                      <a:r>
                        <a:rPr lang="en-US" sz="2000">
                          <a:effectLst/>
                          <a:latin typeface="Gill Sans MT" panose="020B0502020104020203" pitchFamily="34" charset="0"/>
                          <a:ea typeface="Times New Roman" panose="02020603050405020304" pitchFamily="18" charset="0"/>
                          <a:cs typeface="Arial" panose="020B0604020202020204" pitchFamily="34" charset="0"/>
                        </a:rPr>
                        <a:t>180</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60"/>
                        </a:spcBef>
                        <a:spcAft>
                          <a:spcPts val="0"/>
                        </a:spcAft>
                      </a:pPr>
                      <a:r>
                        <a:rPr lang="en-US" sz="2000" b="1">
                          <a:effectLst/>
                          <a:latin typeface="Times New Roman" panose="02020603050405020304" pitchFamily="18" charset="0"/>
                          <a:ea typeface="Times New Roman" panose="02020603050405020304" pitchFamily="18" charset="0"/>
                          <a:cs typeface="Arial" panose="020B0604020202020204" pitchFamily="34" charset="0"/>
                        </a:rPr>
                        <a:t>86.49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76200" marR="0" algn="ctr">
                        <a:spcBef>
                          <a:spcPts val="60"/>
                        </a:spcBef>
                        <a:spcAft>
                          <a:spcPts val="0"/>
                        </a:spcAft>
                      </a:pPr>
                      <a:r>
                        <a:rPr lang="en-US" sz="2000" dirty="0" smtClean="0">
                          <a:effectLst/>
                          <a:latin typeface="Times New Roman" panose="02020603050405020304" pitchFamily="18" charset="0"/>
                          <a:ea typeface="Times New Roman" panose="02020603050405020304" pitchFamily="18" charset="0"/>
                          <a:cs typeface="Arial" panose="020B0604020202020204" pitchFamily="34" charset="0"/>
                        </a:rPr>
                        <a:t>76.37</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191135" algn="ctr">
                        <a:spcBef>
                          <a:spcPts val="60"/>
                        </a:spcBef>
                        <a:spcAft>
                          <a:spcPts val="0"/>
                        </a:spcAft>
                      </a:pPr>
                      <a:r>
                        <a:rPr lang="en-US" sz="2000" dirty="0" smtClean="0">
                          <a:effectLst/>
                          <a:latin typeface="Times New Roman" panose="02020603050405020304" pitchFamily="18" charset="0"/>
                          <a:ea typeface="Times New Roman" panose="02020603050405020304" pitchFamily="18" charset="0"/>
                          <a:cs typeface="Arial" panose="020B0604020202020204" pitchFamily="34" charset="0"/>
                        </a:rPr>
                        <a:t>75.24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212725" algn="ctr">
                        <a:spcBef>
                          <a:spcPts val="60"/>
                        </a:spcBef>
                        <a:spcAft>
                          <a:spcPts val="0"/>
                        </a:spcAft>
                      </a:pP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77.44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33350" marR="191135" algn="ctr">
                        <a:spcBef>
                          <a:spcPts val="60"/>
                        </a:spcBef>
                        <a:spcAft>
                          <a:spcPts val="0"/>
                        </a:spcAft>
                      </a:pPr>
                      <a:r>
                        <a:rPr lang="en-US" sz="2000">
                          <a:effectLst/>
                          <a:latin typeface="Times New Roman" panose="02020603050405020304" pitchFamily="18" charset="0"/>
                          <a:ea typeface="Times New Roman" panose="02020603050405020304" pitchFamily="18" charset="0"/>
                          <a:cs typeface="Arial" panose="020B0604020202020204" pitchFamily="34" charset="0"/>
                        </a:rPr>
                        <a:t>95.29</a:t>
                      </a:r>
                      <a:endParaRPr lang="en-US" sz="360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l">
                        <a:spcBef>
                          <a:spcPts val="60"/>
                        </a:spcBef>
                        <a:spcAft>
                          <a:spcPts val="0"/>
                        </a:spcAft>
                      </a:pPr>
                      <a:r>
                        <a:rPr lang="en-US" sz="2000" b="1" dirty="0">
                          <a:effectLst/>
                          <a:latin typeface="Times New Roman" panose="02020603050405020304" pitchFamily="18" charset="0"/>
                          <a:ea typeface="Times New Roman" panose="02020603050405020304" pitchFamily="18" charset="0"/>
                          <a:cs typeface="Arial" panose="020B0604020202020204" pitchFamily="34" charset="0"/>
                        </a:rPr>
                        <a:t>  </a:t>
                      </a:r>
                      <a:r>
                        <a:rPr lang="en-US" sz="2000" b="1" dirty="0" smtClean="0">
                          <a:effectLst/>
                          <a:latin typeface="Times New Roman" panose="02020603050405020304" pitchFamily="18" charset="0"/>
                          <a:ea typeface="Times New Roman" panose="02020603050405020304" pitchFamily="18" charset="0"/>
                          <a:cs typeface="Arial" panose="020B0604020202020204" pitchFamily="34" charset="0"/>
                        </a:rPr>
                        <a:t>98.04</a:t>
                      </a:r>
                      <a:endParaRPr lang="en-US" sz="36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8124382"/>
                  </a:ext>
                </a:extLst>
              </a:tr>
            </a:tbl>
          </a:graphicData>
        </a:graphic>
      </p:graphicFrame>
      <p:sp>
        <p:nvSpPr>
          <p:cNvPr id="8" name="TextBox 7"/>
          <p:cNvSpPr txBox="1"/>
          <p:nvPr/>
        </p:nvSpPr>
        <p:spPr>
          <a:xfrm>
            <a:off x="7861299" y="1388136"/>
            <a:ext cx="4229101" cy="1200329"/>
          </a:xfrm>
          <a:prstGeom prst="rect">
            <a:avLst/>
          </a:prstGeom>
          <a:noFill/>
        </p:spPr>
        <p:txBody>
          <a:bodyPr wrap="square" rtlCol="0">
            <a:spAutoFit/>
          </a:bodyPr>
          <a:lstStyle/>
          <a:p>
            <a:pPr algn="just"/>
            <a:r>
              <a:rPr lang="en-US" dirty="0"/>
              <a:t>Recognition of human gait while carrying a bag falls under </a:t>
            </a:r>
            <a:r>
              <a:rPr lang="en-US" dirty="0" smtClean="0"/>
              <a:t>81–90</a:t>
            </a:r>
            <a:r>
              <a:rPr lang="en-US" dirty="0"/>
              <a:t>%. In overcoat clothing recognition rate is </a:t>
            </a:r>
            <a:r>
              <a:rPr lang="en-US" dirty="0" smtClean="0"/>
              <a:t>77–100</a:t>
            </a:r>
            <a:r>
              <a:rPr lang="en-US" dirty="0"/>
              <a:t>%. For normal gait is in 95–100%. </a:t>
            </a:r>
          </a:p>
        </p:txBody>
      </p:sp>
    </p:spTree>
    <p:extLst>
      <p:ext uri="{BB962C8B-B14F-4D97-AF65-F5344CB8AC3E}">
        <p14:creationId xmlns:p14="http://schemas.microsoft.com/office/powerpoint/2010/main" val="271902839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Performance</a:t>
            </a:r>
            <a:endParaRPr lang="en-US" b="1" dirty="0"/>
          </a:p>
        </p:txBody>
      </p:sp>
      <p:pic>
        <p:nvPicPr>
          <p:cNvPr id="5" name="Picture 4"/>
          <p:cNvPicPr/>
          <p:nvPr/>
        </p:nvPicPr>
        <p:blipFill rotWithShape="1">
          <a:blip r:embed="rId2">
            <a:extLst>
              <a:ext uri="{28A0092B-C50C-407E-A947-70E740481C1C}">
                <a14:useLocalDpi xmlns:a14="http://schemas.microsoft.com/office/drawing/2010/main" val="0"/>
              </a:ext>
            </a:extLst>
          </a:blip>
          <a:srcRect l="52464" t="34922"/>
          <a:stretch/>
        </p:blipFill>
        <p:spPr bwMode="auto">
          <a:xfrm>
            <a:off x="2046056" y="1411288"/>
            <a:ext cx="7809143" cy="497681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019059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1AEB8A9-B768-4E30-BA55-D919E66873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DB2F03-BA9F-4994-871E-6CEDE3FA67D3}"/>
              </a:ext>
            </a:extLst>
          </p:cNvPr>
          <p:cNvSpPr>
            <a:spLocks noGrp="1"/>
          </p:cNvSpPr>
          <p:nvPr>
            <p:ph type="title"/>
          </p:nvPr>
        </p:nvSpPr>
        <p:spPr>
          <a:xfrm>
            <a:off x="386081" y="640080"/>
            <a:ext cx="3353814" cy="5613236"/>
          </a:xfrm>
        </p:spPr>
        <p:txBody>
          <a:bodyPr vert="horz" lIns="91440" tIns="45720" rIns="91440" bIns="45720" rtlCol="0" anchor="ctr">
            <a:normAutofit/>
          </a:bodyPr>
          <a:lstStyle/>
          <a:p>
            <a:r>
              <a:rPr lang="en-IN" dirty="0">
                <a:solidFill>
                  <a:srgbClr val="FFFFFF"/>
                </a:solidFill>
              </a:rPr>
              <a:t>Result Analysis</a:t>
            </a:r>
            <a:endParaRPr lang="en-US" kern="1200" dirty="0">
              <a:solidFill>
                <a:srgbClr val="FFFFFF"/>
              </a:solidFill>
              <a:latin typeface="+mj-lt"/>
              <a:ea typeface="+mj-ea"/>
              <a:cs typeface="+mj-cs"/>
            </a:endParaRPr>
          </a:p>
        </p:txBody>
      </p:sp>
      <p:pic>
        <p:nvPicPr>
          <p:cNvPr id="6" name="Picture 5">
            <a:extLst>
              <a:ext uri="{FF2B5EF4-FFF2-40B4-BE49-F238E27FC236}">
                <a16:creationId xmlns:a16="http://schemas.microsoft.com/office/drawing/2014/main" id="{AC216E61-F145-47F5-BCCE-F9D3292DE7EE}"/>
              </a:ext>
            </a:extLst>
          </p:cNvPr>
          <p:cNvPicPr/>
          <p:nvPr/>
        </p:nvPicPr>
        <p:blipFill>
          <a:blip r:embed="rId2"/>
          <a:stretch>
            <a:fillRect/>
          </a:stretch>
        </p:blipFill>
        <p:spPr>
          <a:xfrm>
            <a:off x="4059935" y="640080"/>
            <a:ext cx="8056023" cy="3129280"/>
          </a:xfrm>
          <a:prstGeom prst="rect">
            <a:avLst/>
          </a:prstGeom>
        </p:spPr>
      </p:pic>
      <p:graphicFrame>
        <p:nvGraphicFramePr>
          <p:cNvPr id="7" name="Content Placeholder 2">
            <a:extLst>
              <a:ext uri="{FF2B5EF4-FFF2-40B4-BE49-F238E27FC236}">
                <a16:creationId xmlns:a16="http://schemas.microsoft.com/office/drawing/2014/main" id="{563F97D9-2F50-4489-83C1-DE5E0C76C9E8}"/>
              </a:ext>
            </a:extLst>
          </p:cNvPr>
          <p:cNvGraphicFramePr>
            <a:graphicFrameLocks noGrp="1"/>
          </p:cNvGraphicFramePr>
          <p:nvPr>
            <p:ph idx="1"/>
            <p:extLst>
              <p:ext uri="{D42A27DB-BD31-4B8C-83A1-F6EECF244321}">
                <p14:modId xmlns:p14="http://schemas.microsoft.com/office/powerpoint/2010/main" val="2668556653"/>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9238377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1AEB8A9-B768-4E30-BA55-D919E668734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01" y="-2"/>
            <a:ext cx="4069936" cy="6858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DB2F03-BA9F-4994-871E-6CEDE3FA67D3}"/>
              </a:ext>
            </a:extLst>
          </p:cNvPr>
          <p:cNvSpPr>
            <a:spLocks noGrp="1"/>
          </p:cNvSpPr>
          <p:nvPr>
            <p:ph type="title"/>
          </p:nvPr>
        </p:nvSpPr>
        <p:spPr>
          <a:xfrm>
            <a:off x="386081" y="640080"/>
            <a:ext cx="3353814" cy="5613236"/>
          </a:xfrm>
        </p:spPr>
        <p:txBody>
          <a:bodyPr vert="horz" lIns="91440" tIns="45720" rIns="91440" bIns="45720" rtlCol="0" anchor="ctr">
            <a:normAutofit/>
          </a:bodyPr>
          <a:lstStyle/>
          <a:p>
            <a:r>
              <a:rPr lang="en-IN" dirty="0">
                <a:solidFill>
                  <a:srgbClr val="FFFFFF"/>
                </a:solidFill>
              </a:rPr>
              <a:t>Result Analysis</a:t>
            </a:r>
            <a:endParaRPr lang="en-US" kern="1200" dirty="0">
              <a:solidFill>
                <a:srgbClr val="FFFFFF"/>
              </a:solidFill>
              <a:latin typeface="+mj-lt"/>
              <a:ea typeface="+mj-ea"/>
              <a:cs typeface="+mj-cs"/>
            </a:endParaRPr>
          </a:p>
        </p:txBody>
      </p:sp>
      <p:graphicFrame>
        <p:nvGraphicFramePr>
          <p:cNvPr id="8" name="Chart 7">
            <a:extLst>
              <a:ext uri="{FF2B5EF4-FFF2-40B4-BE49-F238E27FC236}">
                <a16:creationId xmlns:a16="http://schemas.microsoft.com/office/drawing/2014/main" id="{614BED75-6460-4A51-8C9F-32E710270E86}"/>
              </a:ext>
            </a:extLst>
          </p:cNvPr>
          <p:cNvGraphicFramePr/>
          <p:nvPr>
            <p:extLst/>
          </p:nvPr>
        </p:nvGraphicFramePr>
        <p:xfrm>
          <a:off x="5295136" y="238678"/>
          <a:ext cx="5661660" cy="32080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8AB39A0E-6F5F-4872-92E9-5643554E3A7F}"/>
              </a:ext>
            </a:extLst>
          </p:cNvPr>
          <p:cNvGraphicFramePr/>
          <p:nvPr>
            <p:extLst/>
          </p:nvPr>
        </p:nvGraphicFramePr>
        <p:xfrm>
          <a:off x="5295136" y="3619500"/>
          <a:ext cx="5699760" cy="3238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9813646"/>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Conclusion</a:t>
            </a:r>
            <a:endParaRPr lang="en-US" b="1" dirty="0"/>
          </a:p>
        </p:txBody>
      </p:sp>
      <p:sp>
        <p:nvSpPr>
          <p:cNvPr id="3" name="Content Placeholder 2"/>
          <p:cNvSpPr>
            <a:spLocks noGrp="1"/>
          </p:cNvSpPr>
          <p:nvPr>
            <p:ph idx="1"/>
          </p:nvPr>
        </p:nvSpPr>
        <p:spPr/>
        <p:txBody>
          <a:bodyPr>
            <a:normAutofit/>
          </a:bodyPr>
          <a:lstStyle/>
          <a:p>
            <a:pPr marL="0" indent="0" algn="just">
              <a:buNone/>
            </a:pPr>
            <a:r>
              <a:rPr lang="en-US" dirty="0" smtClean="0"/>
              <a:t>Experimental result shows the proposed approach is more robust and efficient than previous state of art. Further, it has produced better results than the previous model-free approaches. </a:t>
            </a:r>
          </a:p>
          <a:p>
            <a:pPr marL="0" indent="0" algn="just">
              <a:buNone/>
            </a:pPr>
            <a:r>
              <a:rPr lang="en-US" dirty="0" smtClean="0"/>
              <a:t>The major contributions of this research can be summarized as below:</a:t>
            </a:r>
          </a:p>
          <a:p>
            <a:pPr algn="just"/>
            <a:r>
              <a:rPr lang="en-US" dirty="0" smtClean="0"/>
              <a:t>Provides efficient multi variant model.</a:t>
            </a:r>
          </a:p>
          <a:p>
            <a:pPr algn="just"/>
            <a:r>
              <a:rPr lang="en-US" dirty="0" smtClean="0"/>
              <a:t>Proposed methodology gives better result than the existing methods (that is with bag, Overcoat, Normal). </a:t>
            </a:r>
          </a:p>
          <a:p>
            <a:pPr algn="just"/>
            <a:r>
              <a:rPr lang="en-US" dirty="0" smtClean="0"/>
              <a:t>As the results are good in all the angles this system can actually be used for real surveillance for providing security. </a:t>
            </a:r>
          </a:p>
          <a:p>
            <a:endParaRPr lang="en-US" dirty="0"/>
          </a:p>
        </p:txBody>
      </p:sp>
    </p:spTree>
    <p:extLst>
      <p:ext uri="{BB962C8B-B14F-4D97-AF65-F5344CB8AC3E}">
        <p14:creationId xmlns:p14="http://schemas.microsoft.com/office/powerpoint/2010/main" val="15413519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References	</a:t>
            </a:r>
            <a:endParaRPr lang="en-US" b="1" dirty="0"/>
          </a:p>
        </p:txBody>
      </p:sp>
      <p:sp>
        <p:nvSpPr>
          <p:cNvPr id="3" name="Content Placeholder 2"/>
          <p:cNvSpPr>
            <a:spLocks noGrp="1"/>
          </p:cNvSpPr>
          <p:nvPr>
            <p:ph idx="1"/>
          </p:nvPr>
        </p:nvSpPr>
        <p:spPr/>
        <p:txBody>
          <a:bodyPr>
            <a:noAutofit/>
          </a:bodyPr>
          <a:lstStyle/>
          <a:p>
            <a:pPr marL="0" indent="0" algn="just">
              <a:buNone/>
            </a:pPr>
            <a:r>
              <a:rPr lang="en-US" sz="2000" dirty="0" smtClean="0"/>
              <a:t>[</a:t>
            </a:r>
            <a:r>
              <a:rPr lang="en-US" sz="2000" dirty="0"/>
              <a:t>1] </a:t>
            </a:r>
            <a:r>
              <a:rPr lang="en-US" sz="2000" dirty="0" err="1"/>
              <a:t>Ziyuan</a:t>
            </a:r>
            <a:r>
              <a:rPr lang="en-US" sz="2000" dirty="0"/>
              <a:t> Zhang, Luan Tran, Feng Liu, On Learning Disentangled Representations for Gait Recognition, IEEE Transactions On Pattern Analysis and Machine Intelligence,2019</a:t>
            </a:r>
            <a:r>
              <a:rPr lang="en-US" sz="2000" dirty="0" smtClean="0"/>
              <a:t>.</a:t>
            </a:r>
          </a:p>
          <a:p>
            <a:pPr marL="0" indent="0" algn="just">
              <a:buNone/>
            </a:pPr>
            <a:r>
              <a:rPr lang="en-US" sz="2000" dirty="0" smtClean="0"/>
              <a:t>[2] Liang Wang, </a:t>
            </a:r>
            <a:r>
              <a:rPr lang="en-US" sz="2000" dirty="0" err="1" smtClean="0"/>
              <a:t>Tieniu</a:t>
            </a:r>
            <a:r>
              <a:rPr lang="en-US" sz="2000" dirty="0" smtClean="0"/>
              <a:t> Tan Silhouette Analysis-Based Gait Recognition for Human Identification Transactions On Pattern Analysis and Machine Intelligence, Vol. 25, No. 12, December 2018 </a:t>
            </a:r>
            <a:endParaRPr lang="en-US" sz="2000" dirty="0"/>
          </a:p>
          <a:p>
            <a:pPr marL="0" indent="0" algn="just">
              <a:buNone/>
            </a:pPr>
            <a:r>
              <a:rPr lang="en-US" sz="2000" dirty="0"/>
              <a:t>[3] W. </a:t>
            </a:r>
            <a:r>
              <a:rPr lang="en-US" sz="2000" dirty="0" err="1"/>
              <a:t>Kusakunniran</a:t>
            </a:r>
            <a:r>
              <a:rPr lang="en-US" sz="2000" dirty="0"/>
              <a:t>, “Attribute-based learning for gait recognition using </a:t>
            </a:r>
            <a:r>
              <a:rPr lang="en-US" sz="2000" dirty="0" err="1"/>
              <a:t>spatio</a:t>
            </a:r>
            <a:r>
              <a:rPr lang="en-US" sz="2000" dirty="0"/>
              <a:t>-temporal interest points,” Image Vis. </a:t>
            </a:r>
            <a:r>
              <a:rPr lang="en-US" sz="2000" dirty="0" err="1"/>
              <a:t>Comput</a:t>
            </a:r>
            <a:r>
              <a:rPr lang="en-US" sz="2000" dirty="0"/>
              <a:t>., vol. 32, no. 12, pp. 1117–1126, 2014</a:t>
            </a:r>
            <a:r>
              <a:rPr lang="en-US" sz="2000" dirty="0" smtClean="0"/>
              <a:t>.</a:t>
            </a:r>
            <a:r>
              <a:rPr lang="en-US" sz="2000" dirty="0"/>
              <a:t> </a:t>
            </a:r>
          </a:p>
          <a:p>
            <a:pPr marL="0" indent="0" algn="just">
              <a:buNone/>
            </a:pPr>
            <a:r>
              <a:rPr lang="en-US" sz="2000" dirty="0"/>
              <a:t>[4] </a:t>
            </a:r>
            <a:r>
              <a:rPr lang="en-US" sz="2000" dirty="0" err="1"/>
              <a:t>Haung</a:t>
            </a:r>
            <a:r>
              <a:rPr lang="en-US" sz="2000" dirty="0"/>
              <a:t>, Y., Wang, L., Wang, X., &amp; Tan, T. A Comprehensive Study on Cross-View Gait based Human Identification with Deep CNNs. Transactions On Pattern Analysis and Machine Intelligence 2017. </a:t>
            </a:r>
            <a:endParaRPr lang="en-US" sz="2000" dirty="0" smtClean="0"/>
          </a:p>
          <a:p>
            <a:pPr marL="0" lvl="0" indent="0" algn="just">
              <a:buNone/>
            </a:pPr>
            <a:r>
              <a:rPr lang="en-US" sz="2000" dirty="0" smtClean="0"/>
              <a:t>[5] Wang</a:t>
            </a:r>
            <a:r>
              <a:rPr lang="en-US" sz="2000" dirty="0"/>
              <a:t>, L., Tan, T., Ning, H., Hu, W.: ‘Silhouette analysis-based gait recognition for human identification’, </a:t>
            </a:r>
            <a:r>
              <a:rPr lang="en-US" sz="2000" i="1" dirty="0"/>
              <a:t>IEEE Trans on </a:t>
            </a:r>
            <a:r>
              <a:rPr lang="en-US" sz="2000" i="1" dirty="0" err="1"/>
              <a:t>Patt</a:t>
            </a:r>
            <a:r>
              <a:rPr lang="en-US" sz="2000" i="1" dirty="0"/>
              <a:t> Anal and Machine </a:t>
            </a:r>
            <a:r>
              <a:rPr lang="en-US" sz="2000" i="1" dirty="0" err="1"/>
              <a:t>Intell</a:t>
            </a:r>
            <a:r>
              <a:rPr lang="en-US" sz="2000" dirty="0"/>
              <a:t>, 2003, 25, (12), pp. </a:t>
            </a:r>
            <a:r>
              <a:rPr lang="en-US" sz="2000" dirty="0" smtClean="0"/>
              <a:t>1505–1518 2018.</a:t>
            </a:r>
            <a:endParaRPr lang="en-US" sz="2000" dirty="0"/>
          </a:p>
          <a:p>
            <a:pPr marL="0" indent="0" algn="just">
              <a:buNone/>
            </a:pPr>
            <a:endParaRPr lang="en-US" sz="1800" dirty="0" smtClean="0"/>
          </a:p>
          <a:p>
            <a:pPr marL="0" indent="0" algn="just">
              <a:buNone/>
            </a:pPr>
            <a:endParaRPr lang="en-US" sz="1800" dirty="0"/>
          </a:p>
        </p:txBody>
      </p:sp>
    </p:spTree>
    <p:extLst>
      <p:ext uri="{BB962C8B-B14F-4D97-AF65-F5344CB8AC3E}">
        <p14:creationId xmlns:p14="http://schemas.microsoft.com/office/powerpoint/2010/main" val="31308185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166</TotalTime>
  <Words>1299</Words>
  <Application>Microsoft Office PowerPoint</Application>
  <PresentationFormat>Widescreen</PresentationFormat>
  <Paragraphs>237</Paragraphs>
  <Slides>20</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20</vt:i4>
      </vt:variant>
    </vt:vector>
  </HeadingPairs>
  <TitlesOfParts>
    <vt:vector size="30" baseType="lpstr">
      <vt:lpstr>Arial</vt:lpstr>
      <vt:lpstr>Calibri</vt:lpstr>
      <vt:lpstr>Calibri Light</vt:lpstr>
      <vt:lpstr>Cambria Math</vt:lpstr>
      <vt:lpstr>Courier New</vt:lpstr>
      <vt:lpstr>Gill Sans MT</vt:lpstr>
      <vt:lpstr>Montserrat</vt:lpstr>
      <vt:lpstr>Times New Roman</vt:lpstr>
      <vt:lpstr>Office Theme</vt:lpstr>
      <vt:lpstr>1_Office Theme</vt:lpstr>
      <vt:lpstr>Surveillance System to Provide Secured Gait Signatures Using Deep Learning</vt:lpstr>
      <vt:lpstr>Introduction</vt:lpstr>
      <vt:lpstr>Types of Gait Recognition</vt:lpstr>
      <vt:lpstr>Model-free gait recognition</vt:lpstr>
      <vt:lpstr>PowerPoint Presentation</vt:lpstr>
      <vt:lpstr>PowerPoint Presentation</vt:lpstr>
      <vt:lpstr>Methodology</vt:lpstr>
      <vt:lpstr>Dataset</vt:lpstr>
      <vt:lpstr>PowerPoint Presentation</vt:lpstr>
      <vt:lpstr>Convolution Neural Network</vt:lpstr>
      <vt:lpstr>PowerPoint Presentation</vt:lpstr>
      <vt:lpstr>PowerPoint Presentation</vt:lpstr>
      <vt:lpstr>PowerPoint Presentation</vt:lpstr>
      <vt:lpstr>PowerPoint Presentation</vt:lpstr>
      <vt:lpstr>Results</vt:lpstr>
      <vt:lpstr>Performance</vt:lpstr>
      <vt:lpstr>Result Analysis</vt:lpstr>
      <vt:lpstr>Result Analysis</vt:lpstr>
      <vt:lpstr>Conclusion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Surveillance System to Provide Secured Gait Signatures Using Deep Learning</dc:title>
  <dc:creator>Anubha-MUJ</dc:creator>
  <cp:lastModifiedBy>Anubha-MUJ</cp:lastModifiedBy>
  <cp:revision>65</cp:revision>
  <dcterms:created xsi:type="dcterms:W3CDTF">2019-12-03T10:38:29Z</dcterms:created>
  <dcterms:modified xsi:type="dcterms:W3CDTF">2020-01-30T04:43:25Z</dcterms:modified>
</cp:coreProperties>
</file>