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743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37960" y="0"/>
            <a:ext cx="5650992" cy="6858000"/>
          </a:xfrm>
          <a:prstGeom prst="rect">
            <a:avLst/>
          </a:prstGeom>
          <a:solidFill>
            <a:srgbClr val="0B2538"/>
          </a:solidFill>
          <a:ln w="12700">
            <a:solidFill>
              <a:srgbClr val="0B253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0" y="4526280"/>
            <a:ext cx="38404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7" name="Image 1" descr="/mnt/data/enose_assets/crops/assemb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036" y="4572000"/>
            <a:ext cx="2140808" cy="1508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" y="1051560"/>
            <a:ext cx="56235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Cloud-Assisted IoT-Enabled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Smoke Monitoring System</a:t>
            </a:r>
            <a:endParaRPr lang="en-US" sz="3500" dirty="0"/>
          </a:p>
        </p:txBody>
      </p:sp>
      <p:sp>
        <p:nvSpPr>
          <p:cNvPr id="9" name="Text 5"/>
          <p:cNvSpPr/>
          <p:nvPr/>
        </p:nvSpPr>
        <p:spPr>
          <a:xfrm>
            <a:off x="658368" y="249631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7C7D8"/>
                </a:solidFill>
              </a:rPr>
              <a:t>(e-Nose) using Machine Learning Techniques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58368" y="3044952"/>
            <a:ext cx="1024128" cy="0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8368" y="3355848"/>
            <a:ext cx="5349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CE8F6"/>
                </a:solidFill>
              </a:rPr>
              <a:t>An intelligent warning prototype using Arduino, MQ-2 gas sensor, LEDs and buzzer for privacy-preserving cigarette smoke detection in public spaces.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8368" y="54406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</a:rPr>
              <a:t>Presented at SSIC 2019 · Springer Proceedings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58368" y="57424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C7D8"/>
                </a:solidFill>
              </a:rPr>
              <a:t>Anubha Parashar · Manipal University Jaipur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02920" y="6629400"/>
            <a:ext cx="5440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7C8491"/>
                </a:solidFill>
              </a:rPr>
              <a:t>Source: uploaded certificate and ICCT17 paper</a:t>
            </a:r>
            <a:endParaRPr lang="en-US" sz="620" dirty="0"/>
          </a:p>
        </p:txBody>
      </p:sp>
      <p:sp>
        <p:nvSpPr>
          <p:cNvPr id="15" name="Text 11"/>
          <p:cNvSpPr/>
          <p:nvPr/>
        </p:nvSpPr>
        <p:spPr>
          <a:xfrm>
            <a:off x="1129284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C8491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framing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problem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20140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2030"/>
                </a:solidFill>
              </a:rPr>
              <a:t>Public no-smoking rules often fail without immediate, non-invasive enforcement feedback.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21792" y="2331720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0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and passive smoking both create serious health risks.
</a:t>
            </a:r>
            <a:r>
              <a:rPr lang="en-US" sz="16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0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Camera-based detection can be costly and privacy-sensitive.
</a:t>
            </a:r>
            <a:r>
              <a:rPr lang="en-US" sz="16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0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sensor-based warning device can alert smokers in real time.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234440"/>
            <a:ext cx="49834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2700" dist="50800" dir="2700000" algn="bl" rotWithShape="0">
              <a:srgbClr val="9AA5B1">
                <a:alpha val="14000"/>
              </a:srgbClr>
            </a:outerShdw>
          </a:effectLst>
        </p:spPr>
      </p:sp>
      <p:pic>
        <p:nvPicPr>
          <p:cNvPr id="8" name="Image 0" descr="/mnt/data/enose_assets/crops/mq2_sen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318229"/>
            <a:ext cx="4873752" cy="188982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3611880"/>
            <a:ext cx="49834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2700" dist="50800" dir="2700000" algn="bl" rotWithShape="0">
              <a:srgbClr val="9AA5B1">
                <a:alpha val="14000"/>
              </a:srgbClr>
            </a:outerShdw>
          </a:effectLst>
        </p:spPr>
      </p:sp>
      <p:pic>
        <p:nvPicPr>
          <p:cNvPr id="10" name="Image 1" descr="/mnt/data/enose_assets/crops/design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20" y="3685032"/>
            <a:ext cx="3291840" cy="186537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8368" y="4800600"/>
            <a:ext cx="1783080" cy="841248"/>
          </a:xfrm>
          <a:prstGeom prst="roundRect">
            <a:avLst>
              <a:gd name="adj" fmla="val 130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58368" y="4800600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2960" y="4910328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30"/>
                </a:solidFill>
              </a:rPr>
              <a:t>Sensor-based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822960" y="527608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677A"/>
                </a:solidFill>
              </a:rPr>
              <a:t>No camera required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679192" y="4800600"/>
            <a:ext cx="1645920" cy="841248"/>
          </a:xfrm>
          <a:prstGeom prst="roundRect">
            <a:avLst>
              <a:gd name="adj" fmla="val 130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679192" y="4800600"/>
            <a:ext cx="73152" cy="8412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843784" y="49103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30"/>
                </a:solidFill>
              </a:rPr>
              <a:t>Low cost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2843784" y="527608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677A"/>
                </a:solidFill>
              </a:rPr>
              <a:t>Easy to assemble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553712" y="4800600"/>
            <a:ext cx="1645920" cy="841248"/>
          </a:xfrm>
          <a:prstGeom prst="roundRect">
            <a:avLst>
              <a:gd name="adj" fmla="val 130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53712" y="4800600"/>
            <a:ext cx="73152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18304" y="4910328"/>
            <a:ext cx="1371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30"/>
                </a:solidFill>
              </a:rPr>
              <a:t>Real time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4718304" y="527608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677A"/>
                </a:solidFill>
              </a:rPr>
              <a:t>Immediate warning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502920" y="6629400"/>
            <a:ext cx="5440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7C8491"/>
                </a:solidFill>
              </a:rPr>
              <a:t>Source: uploaded paper, ICCT17_paper_308.pdf</a:t>
            </a:r>
            <a:endParaRPr lang="en-US" sz="620" dirty="0"/>
          </a:p>
        </p:txBody>
      </p:sp>
      <p:sp>
        <p:nvSpPr>
          <p:cNvPr id="24" name="Text 20"/>
          <p:cNvSpPr/>
          <p:nvPr/>
        </p:nvSpPr>
        <p:spPr>
          <a:xfrm>
            <a:off x="1129284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C8491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concept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e-Nose solution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20140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258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A"/>
                </a:solidFill>
              </a:rPr>
              <a:t>A simple closed-loop device: sense smoke particles, compare against a threshold, and trigger human-readable alerts.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67128" y="3127248"/>
            <a:ext cx="9144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44568" y="3127248"/>
            <a:ext cx="9144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922008" y="3127248"/>
            <a:ext cx="9144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49808" y="2788920"/>
            <a:ext cx="502920" cy="502920"/>
          </a:xfrm>
          <a:prstGeom prst="rect">
            <a:avLst/>
          </a:prstGeom>
          <a:solidFill>
            <a:srgbClr val="14B8A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08176" y="2770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0"/>
                </a:solidFill>
              </a:rPr>
              <a:t>Sense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08176" y="309981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B677A"/>
                </a:solidFill>
              </a:rPr>
              <a:t>MQ-2 samples ambient gases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3127248" y="2788920"/>
            <a:ext cx="502920" cy="502920"/>
          </a:xfrm>
          <a:prstGeom prst="rect">
            <a:avLst/>
          </a:prstGeom>
          <a:solidFill>
            <a:srgbClr val="14B8A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85616" y="2770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0"/>
                </a:solidFill>
              </a:rPr>
              <a:t>Convert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85616" y="309981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B677A"/>
                </a:solidFill>
              </a:rPr>
              <a:t>Arduino reads analog voltage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5504688" y="2788920"/>
            <a:ext cx="502920" cy="502920"/>
          </a:xfrm>
          <a:prstGeom prst="rect">
            <a:avLst/>
          </a:prstGeom>
          <a:solidFill>
            <a:srgbClr val="14B8A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63056" y="2770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0"/>
                </a:solidFill>
              </a:rPr>
              <a:t>Decide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63056" y="309981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B677A"/>
                </a:solidFill>
              </a:rPr>
              <a:t>Reading &gt; threshold?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7882128" y="2788920"/>
            <a:ext cx="502920" cy="502920"/>
          </a:xfrm>
          <a:prstGeom prst="rect">
            <a:avLst/>
          </a:prstGeom>
          <a:solidFill>
            <a:srgbClr val="EF444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40496" y="2770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0"/>
                </a:solidFill>
              </a:rPr>
              <a:t>Alert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40496" y="309981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B677A"/>
                </a:solidFill>
              </a:rPr>
              <a:t>Red LED + buzzer, or green LED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914400" y="4206240"/>
            <a:ext cx="42976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2700" dist="50800" dir="2700000" algn="bl" rotWithShape="0">
              <a:srgbClr val="9AA5B1">
                <a:alpha val="14000"/>
              </a:srgbClr>
            </a:outerShdw>
          </a:effectLst>
        </p:spPr>
      </p:sp>
      <p:pic>
        <p:nvPicPr>
          <p:cNvPr id="22" name="Image 0" descr="/mnt/data/enose_assets/crops/design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664" y="4297680"/>
            <a:ext cx="2501153" cy="141732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583680" y="4160520"/>
            <a:ext cx="4389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2700" dist="50800" dir="2700000" algn="bl" rotWithShape="0">
              <a:srgbClr val="9AA5B1">
                <a:alpha val="14000"/>
              </a:srgbClr>
            </a:outerShdw>
          </a:effectLst>
        </p:spPr>
      </p:sp>
      <p:pic>
        <p:nvPicPr>
          <p:cNvPr id="24" name="Image 1" descr="/mnt/data/enose_assets/crops/gas_conn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4233672"/>
            <a:ext cx="3621024" cy="95097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355080" y="5486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A"/>
                </a:solidFill>
              </a:rPr>
              <a:t>Core design from the paper: sensor input + Arduino microcontroller + LED/buzzer outputs.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02920" y="6629400"/>
            <a:ext cx="5440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7C8491"/>
                </a:solidFill>
              </a:rPr>
              <a:t>Source: uploaded paper, ICCT17_paper_308.pdf</a:t>
            </a:r>
            <a:endParaRPr lang="en-US" sz="620" dirty="0"/>
          </a:p>
        </p:txBody>
      </p:sp>
      <p:sp>
        <p:nvSpPr>
          <p:cNvPr id="27" name="Text 23"/>
          <p:cNvSpPr/>
          <p:nvPr/>
        </p:nvSpPr>
        <p:spPr>
          <a:xfrm>
            <a:off x="1129284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C8491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build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 stack and signal path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20140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470916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2700" dist="50800" dir="2700000" algn="bl" rotWithShape="0">
              <a:srgbClr val="9AA5B1">
                <a:alpha val="14000"/>
              </a:srgbClr>
            </a:outerShdw>
          </a:effectLst>
        </p:spPr>
      </p:sp>
      <p:pic>
        <p:nvPicPr>
          <p:cNvPr id="6" name="Image 0" descr="/mnt/data/enose_assets/crops/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91" y="1399032"/>
            <a:ext cx="4233377" cy="2734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1261872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2700" dist="50800" dir="2700000" algn="bl" rotWithShape="0">
              <a:srgbClr val="9AA5B1">
                <a:alpha val="14000"/>
              </a:srgbClr>
            </a:outerShdw>
          </a:effectLst>
        </p:spPr>
      </p:sp>
      <p:pic>
        <p:nvPicPr>
          <p:cNvPr id="8" name="Image 1" descr="/mnt/data/enose_assets/crops/arduino_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0930" y="1316736"/>
            <a:ext cx="3597461" cy="17647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989320" y="3502152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2700" dist="50800" dir="2700000" algn="bl" rotWithShape="0">
              <a:srgbClr val="9AA5B1">
                <a:alpha val="14000"/>
              </a:srgbClr>
            </a:outerShdw>
          </a:effectLst>
        </p:spPr>
      </p:sp>
      <p:pic>
        <p:nvPicPr>
          <p:cNvPr id="10" name="Image 2" descr="/mnt/data/enose_assets/crops/buzz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184" y="3574174"/>
            <a:ext cx="2221992" cy="127327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641080" y="3502152"/>
            <a:ext cx="2788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2700" dist="50800" dir="2700000" algn="bl" rotWithShape="0">
              <a:srgbClr val="9AA5B1">
                <a:alpha val="14000"/>
              </a:srgbClr>
            </a:outerShdw>
          </a:effectLst>
        </p:spPr>
      </p:sp>
      <p:pic>
        <p:nvPicPr>
          <p:cNvPr id="12" name="Image 3" descr="/mnt/data/enose_assets/crops/mq2_sens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7656" y="3684286"/>
            <a:ext cx="2715768" cy="10530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580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0"/>
                </a:solidFill>
              </a:rPr>
              <a:t>Bill of materials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685800" y="489204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5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Arduino UNO board
</a:t>
            </a:r>
            <a:r>
              <a:rPr lang="en-US" sz="13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5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MQ-2 smoke detection sensor
</a:t>
            </a:r>
            <a:r>
              <a:rPr lang="en-US" sz="13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5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Breadboard + jumper wires
</a:t>
            </a:r>
            <a:r>
              <a:rPr lang="en-US" sz="13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5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Red/Green LEDs, buzzer, resistors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989320" y="5257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0"/>
                </a:solidFill>
              </a:rPr>
              <a:t>Signal path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5989320" y="557784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B677A"/>
                </a:solidFill>
              </a:rPr>
              <a:t>MQ-2 output voltage → Arduino analog read → threshold decision → LED/buzzer action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502920" y="6629400"/>
            <a:ext cx="5440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7C8491"/>
                </a:solidFill>
              </a:rPr>
              <a:t>Source: uploaded paper, ICCT17_paper_308.pdf</a:t>
            </a:r>
            <a:endParaRPr lang="en-US" sz="620" dirty="0"/>
          </a:p>
        </p:txBody>
      </p:sp>
      <p:sp>
        <p:nvSpPr>
          <p:cNvPr id="18" name="Text 12"/>
          <p:cNvSpPr/>
          <p:nvPr/>
        </p:nvSpPr>
        <p:spPr>
          <a:xfrm>
            <a:off x="1129284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C8491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Sensing logic: smoke thresholding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20140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98448"/>
            <a:ext cx="4160520" cy="50749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2700" dist="50800" dir="2700000" algn="bl" rotWithShape="0">
              <a:srgbClr val="9AA5B1">
                <a:alpha val="14000"/>
              </a:srgbClr>
            </a:outerShdw>
          </a:effectLst>
        </p:spPr>
      </p:sp>
      <p:pic>
        <p:nvPicPr>
          <p:cNvPr id="6" name="Image 0" descr="/mnt/data/enose_assets/crops/algorith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80" y="1335024"/>
            <a:ext cx="3978679" cy="5001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57800" y="1417320"/>
            <a:ext cx="29718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2700" dist="50800" dir="2700000" algn="bl" rotWithShape="0">
              <a:srgbClr val="9AA5B1">
                <a:alpha val="14000"/>
              </a:srgbClr>
            </a:outerShdw>
          </a:effectLst>
        </p:spPr>
      </p:sp>
      <p:pic>
        <p:nvPicPr>
          <p:cNvPr id="8" name="Image 1" descr="/mnt/data/enose_assets/crops/gas_princi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523762"/>
            <a:ext cx="2880360" cy="93011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732520" y="1298448"/>
            <a:ext cx="2880360" cy="37033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2700" dist="50800" dir="2700000" algn="bl" rotWithShape="0">
              <a:srgbClr val="9AA5B1">
                <a:alpha val="14000"/>
              </a:srgbClr>
            </a:outerShdw>
          </a:effectLst>
        </p:spPr>
      </p:sp>
      <p:pic>
        <p:nvPicPr>
          <p:cNvPr id="10" name="Image 2" descr="/mnt/data/enose_assets/crops/work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1474074"/>
            <a:ext cx="2788920" cy="3352067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257800" y="2971800"/>
            <a:ext cx="2331720" cy="841248"/>
          </a:xfrm>
          <a:prstGeom prst="roundRect">
            <a:avLst>
              <a:gd name="adj" fmla="val 130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257800" y="2971800"/>
            <a:ext cx="73152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422392" y="3081528"/>
            <a:ext cx="2057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30"/>
                </a:solidFill>
              </a:rPr>
              <a:t>400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5422392" y="3447288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677A"/>
                </a:solidFill>
              </a:rPr>
              <a:t>Configured smoke threshold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257800" y="3977640"/>
            <a:ext cx="2331720" cy="841248"/>
          </a:xfrm>
          <a:prstGeom prst="roundRect">
            <a:avLst>
              <a:gd name="adj" fmla="val 130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257800" y="3977640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422392" y="4087368"/>
            <a:ext cx="2057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30"/>
                </a:solidFill>
              </a:rPr>
              <a:t>A5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5422392" y="4453128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677A"/>
                </a:solidFill>
              </a:rPr>
              <a:t>Arduino analog input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5257800" y="4983480"/>
            <a:ext cx="2331720" cy="841248"/>
          </a:xfrm>
          <a:prstGeom prst="roundRect">
            <a:avLst>
              <a:gd name="adj" fmla="val 130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257800" y="4983480"/>
            <a:ext cx="73152" cy="8412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422392" y="5093208"/>
            <a:ext cx="2057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30"/>
                </a:solidFill>
              </a:rPr>
              <a:t>100 ms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5422392" y="5458968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677A"/>
                </a:solidFill>
              </a:rPr>
              <a:t>Loop delay between reads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8732520" y="5257800"/>
            <a:ext cx="2880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77A"/>
                </a:solidFill>
              </a:rPr>
              <a:t>When sensor reading exceeds the threshold, the prototype turns the red LED on and plays a buzzer tone; otherwise, the green LED remains on.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02920" y="6629400"/>
            <a:ext cx="5440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7C8491"/>
                </a:solidFill>
              </a:rPr>
              <a:t>Source: uploaded paper, ICCT17_paper_308.pdf</a:t>
            </a:r>
            <a:endParaRPr lang="en-US" sz="620" dirty="0"/>
          </a:p>
        </p:txBody>
      </p:sp>
      <p:sp>
        <p:nvSpPr>
          <p:cNvPr id="25" name="Text 20"/>
          <p:cNvSpPr/>
          <p:nvPr/>
        </p:nvSpPr>
        <p:spPr>
          <a:xfrm>
            <a:off x="1129284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C8491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assembly and test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20140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6235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2700" dist="50800" dir="2700000" algn="bl" rotWithShape="0">
              <a:srgbClr val="9AA5B1">
                <a:alpha val="14000"/>
              </a:srgbClr>
            </a:outerShdw>
          </a:effectLst>
        </p:spPr>
      </p:sp>
      <p:pic>
        <p:nvPicPr>
          <p:cNvPr id="6" name="Image 0" descr="/mnt/data/enose_assets/crops/assemb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6706"/>
            <a:ext cx="5532120" cy="389882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29400" y="1234440"/>
            <a:ext cx="4846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2700" dist="50800" dir="2700000" algn="bl" rotWithShape="0">
              <a:srgbClr val="9AA5B1">
                <a:alpha val="14000"/>
              </a:srgbClr>
            </a:outerShdw>
          </a:effectLst>
        </p:spPr>
      </p:sp>
      <p:pic>
        <p:nvPicPr>
          <p:cNvPr id="8" name="Image 1" descr="/mnt/data/enose_assets/crops/testing_set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062" y="1280160"/>
            <a:ext cx="4262996" cy="2377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29400" y="4133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0"/>
                </a:solidFill>
              </a:rPr>
              <a:t>Experiment structure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629400" y="449884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5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environment: no smoke, green LED on.
</a:t>
            </a:r>
            <a:r>
              <a:rPr lang="en-US" sz="14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5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burning cigarette smoke near sensor.
</a:t>
            </a:r>
            <a:r>
              <a:rPr lang="en-US" sz="14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5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alert state and recovery as smoke dissipates.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02920" y="6629400"/>
            <a:ext cx="5440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7C8491"/>
                </a:solidFill>
              </a:rPr>
              <a:t>Source: uploaded paper, ICCT17_paper_308.pdf</a:t>
            </a:r>
            <a:endParaRPr lang="en-US" sz="620" dirty="0"/>
          </a:p>
        </p:txBody>
      </p:sp>
      <p:sp>
        <p:nvSpPr>
          <p:cNvPr id="12" name="Text 8"/>
          <p:cNvSpPr/>
          <p:nvPr/>
        </p:nvSpPr>
        <p:spPr>
          <a:xfrm>
            <a:off x="1129284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C8491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results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Three-phase behavior during testing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20140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2743200" cy="256032"/>
          </a:xfrm>
          <a:prstGeom prst="rect">
            <a:avLst/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1 · no smoke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7" name="Image 0" descr="/mnt/data/enose_assets/crops/no_smok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838735"/>
            <a:ext cx="3264408" cy="19460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34840" y="1325880"/>
            <a:ext cx="274320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 · smoke alert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434840" y="169164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10" name="Image 1" descr="/mnt/data/enose_assets/crops/smoke_alert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1870124"/>
            <a:ext cx="3264408" cy="1883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92440" y="1325880"/>
            <a:ext cx="2743200" cy="256032"/>
          </a:xfrm>
          <a:prstGeom prst="rect">
            <a:avLst/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3 · smoke removed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092440" y="169164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pic>
        <p:nvPicPr>
          <p:cNvPr id="13" name="Image 2" descr="/mnt/data/enose_assets/crops/no_smoke_af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9016" y="1781748"/>
            <a:ext cx="3264408" cy="20600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4572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30"/>
                </a:solidFill>
              </a:rPr>
              <a:t>Observed transition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777240" y="4956048"/>
            <a:ext cx="10469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A"/>
                </a:solidFill>
              </a:rPr>
              <a:t>The readings rise above the 400 threshold when smoke is introduced, then fall as smoke particles dissipate. The user-facing alert changes accordingly.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914400" y="5669280"/>
            <a:ext cx="2468880" cy="841248"/>
          </a:xfrm>
          <a:prstGeom prst="roundRect">
            <a:avLst>
              <a:gd name="adj" fmla="val 130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14400" y="5669280"/>
            <a:ext cx="73152" cy="8412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078992" y="577900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30"/>
                </a:solidFill>
              </a:rPr>
              <a:t>Green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1078992" y="614476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677A"/>
                </a:solidFill>
              </a:rPr>
              <a:t>Normal / safe indication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846320" y="5669280"/>
            <a:ext cx="2468880" cy="841248"/>
          </a:xfrm>
          <a:prstGeom prst="roundRect">
            <a:avLst>
              <a:gd name="adj" fmla="val 130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46320" y="5669280"/>
            <a:ext cx="73152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010912" y="577900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30"/>
                </a:solidFill>
              </a:rPr>
              <a:t>Red + buzzer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5010912" y="614476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677A"/>
                </a:solidFill>
              </a:rPr>
              <a:t>Smoke warning state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8595360" y="5669280"/>
            <a:ext cx="2468880" cy="841248"/>
          </a:xfrm>
          <a:prstGeom prst="roundRect">
            <a:avLst>
              <a:gd name="adj" fmla="val 130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595360" y="5669280"/>
            <a:ext cx="73152" cy="8412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59952" y="577900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30"/>
                </a:solidFill>
              </a:rPr>
              <a:t>Green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8759952" y="614476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677A"/>
                </a:solidFill>
              </a:rPr>
              <a:t>Return to baseline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502920" y="6629400"/>
            <a:ext cx="5440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7C8491"/>
                </a:solidFill>
              </a:rPr>
              <a:t>Source: uploaded paper, ICCT17_paper_308.pdf</a:t>
            </a:r>
            <a:endParaRPr lang="en-US" sz="620" dirty="0"/>
          </a:p>
        </p:txBody>
      </p:sp>
      <p:sp>
        <p:nvSpPr>
          <p:cNvPr id="29" name="Text 24"/>
          <p:cNvSpPr/>
          <p:nvPr/>
        </p:nvSpPr>
        <p:spPr>
          <a:xfrm>
            <a:off x="1129284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C8491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and evidence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20140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571500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2700" dist="50800" dir="2700000" algn="bl" rotWithShape="0">
              <a:srgbClr val="9AA5B1">
                <a:alpha val="14000"/>
              </a:srgbClr>
            </a:outerShdw>
          </a:effectLst>
        </p:spPr>
      </p:sp>
      <p:pic>
        <p:nvPicPr>
          <p:cNvPr id="6" name="Image 0" descr="/mnt/data/enose_assets/crops/performance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468277"/>
            <a:ext cx="5641848" cy="36928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03720" y="1325880"/>
            <a:ext cx="2331720" cy="39776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2700" dist="50800" dir="2700000" algn="bl" rotWithShape="0">
              <a:srgbClr val="9AA5B1">
                <a:alpha val="14000"/>
              </a:srgbClr>
            </a:outerShdw>
          </a:effectLst>
        </p:spPr>
      </p:sp>
      <p:pic>
        <p:nvPicPr>
          <p:cNvPr id="8" name="Image 1" descr="/mnt/data/enose_assets/crops/results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636" y="1362456"/>
            <a:ext cx="1753888" cy="39044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5548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0"/>
                </a:solidFill>
              </a:rPr>
              <a:t>Key interpretation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555480" y="182880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5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readings stay below threshold.
</a:t>
            </a:r>
            <a:r>
              <a:rPr lang="en-US" sz="12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5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 source pushes readings above 400.
</a:t>
            </a:r>
            <a:r>
              <a:rPr lang="en-US" sz="12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5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readings reach around 520+ in the recorded samples.
</a:t>
            </a:r>
            <a:r>
              <a:rPr lang="en-US" sz="12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5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overall accuracy is 96.5%.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9555480" y="4251960"/>
            <a:ext cx="2011680" cy="841248"/>
          </a:xfrm>
          <a:prstGeom prst="roundRect">
            <a:avLst>
              <a:gd name="adj" fmla="val 130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555480" y="4251960"/>
            <a:ext cx="73152" cy="8412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720072" y="4361688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30"/>
                </a:solidFill>
              </a:rPr>
              <a:t>96.5%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9720072" y="472744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677A"/>
                </a:solidFill>
              </a:rPr>
              <a:t>Reported prototype accuracy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9555480" y="5303520"/>
            <a:ext cx="2011680" cy="841248"/>
          </a:xfrm>
          <a:prstGeom prst="roundRect">
            <a:avLst>
              <a:gd name="adj" fmla="val 1304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555480" y="5303520"/>
            <a:ext cx="73152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720072" y="5413248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30"/>
                </a:solidFill>
              </a:rPr>
              <a:t>≈ 520+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9720072" y="577900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677A"/>
                </a:solidFill>
              </a:rPr>
              <a:t>Peak sample readings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502920" y="6629400"/>
            <a:ext cx="5440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7C8491"/>
                </a:solidFill>
              </a:rPr>
              <a:t>Source: uploaded paper, ICCT17_paper_308.pdf</a:t>
            </a:r>
            <a:endParaRPr lang="en-US" sz="620" dirty="0"/>
          </a:p>
        </p:txBody>
      </p:sp>
      <p:sp>
        <p:nvSpPr>
          <p:cNvPr id="20" name="Text 16"/>
          <p:cNvSpPr/>
          <p:nvPr/>
        </p:nvSpPr>
        <p:spPr>
          <a:xfrm>
            <a:off x="1129284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C8491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proposition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work contributes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20140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17320"/>
            <a:ext cx="5440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030"/>
                </a:solidFill>
              </a:rPr>
              <a:t>A practical IoT prototype that converts invisible smoke particles into immediate, visible and audible feedback.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5486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0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Privacy-preserving alternative to video-based smoke detection.
</a:t>
            </a:r>
            <a:r>
              <a:rPr lang="en-US" sz="16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0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Low-cost components make the system deployable in public places.
</a:t>
            </a:r>
            <a:r>
              <a:rPr lang="en-US" sz="16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0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Arduino-based logic is easy to replicate and tune for different thresholds.
</a:t>
            </a:r>
            <a:r>
              <a:rPr lang="en-US" sz="16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0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design can be extended with multiple sensors and machine learning.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0" y="1307592"/>
            <a:ext cx="44805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2700" dist="50800" dir="2700000" algn="bl" rotWithShape="0">
              <a:srgbClr val="9AA5B1">
                <a:alpha val="14000"/>
              </a:srgbClr>
            </a:outerShdw>
          </a:effectLst>
        </p:spPr>
      </p:sp>
      <p:pic>
        <p:nvPicPr>
          <p:cNvPr id="8" name="Image 0" descr="/mnt/data/enose_assets/crops/design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579" y="1380744"/>
            <a:ext cx="3372522" cy="19110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66560" y="3749040"/>
            <a:ext cx="44805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2700" dist="50800" dir="2700000" algn="bl" rotWithShape="0">
              <a:srgbClr val="9AA5B1">
                <a:alpha val="14000"/>
              </a:srgbClr>
            </a:outerShdw>
          </a:effectLst>
        </p:spPr>
      </p:sp>
      <p:pic>
        <p:nvPicPr>
          <p:cNvPr id="10" name="Image 1" descr="/mnt/data/enose_assets/crops/assemb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2609" y="3803904"/>
            <a:ext cx="2828462" cy="19933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355080" y="1280160"/>
            <a:ext cx="0" cy="4754880"/>
          </a:xfrm>
          <a:prstGeom prst="line">
            <a:avLst/>
          </a:prstGeom>
          <a:noFill/>
          <a:ln w="12700">
            <a:solidFill>
              <a:srgbClr val="DDE6F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6629400"/>
            <a:ext cx="5440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7C8491"/>
                </a:solidFill>
              </a:rPr>
              <a:t>Source: uploaded paper, ICCT17_paper_308.pdf</a:t>
            </a:r>
            <a:endParaRPr lang="en-US" sz="620" dirty="0"/>
          </a:p>
        </p:txBody>
      </p:sp>
      <p:sp>
        <p:nvSpPr>
          <p:cNvPr id="13" name="Text 9"/>
          <p:cNvSpPr/>
          <p:nvPr/>
        </p:nvSpPr>
        <p:spPr>
          <a:xfrm>
            <a:off x="1129284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C8491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/>
          </a:solidFill>
          <a:ln w="12700">
            <a:solidFill>
              <a:srgbClr val="07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6692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Conference presentation &amp;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7C7D8"/>
                </a:solidFill>
              </a:rPr>
              <a:t>2nd International Conference on Smart IoT Systems: Innovations in Computing (SSIC 2019)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2057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</a:rPr>
              <a:t>Future enhancement pathway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514600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E6EE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multiple gas/environment sensors for richer context.
</a:t>
            </a:r>
            <a:r>
              <a:rPr lang="en-US" sz="15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E6EE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machine learning to distinguish cigarette smoke from other gases.
</a:t>
            </a:r>
            <a:r>
              <a:rPr lang="en-US" sz="15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E6EE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alerts to a cloud dashboard for monitoring and analytics.
</a:t>
            </a:r>
            <a:r>
              <a:rPr lang="en-US" sz="15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E6EE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the system for reliable deployment in public areas.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534924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</a:rPr>
              <a:t>The project demonstrates how simple embedded sensing can become a scalable, smart public-health intervention.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02920" y="6629400"/>
            <a:ext cx="5440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7C8491"/>
                </a:solidFill>
              </a:rPr>
              <a:t>Source: uploaded certificate and paper</a:t>
            </a:r>
            <a:endParaRPr lang="en-US" sz="620" dirty="0"/>
          </a:p>
        </p:txBody>
      </p:sp>
      <p:sp>
        <p:nvSpPr>
          <p:cNvPr id="11" name="Text 8"/>
          <p:cNvSpPr/>
          <p:nvPr/>
        </p:nvSpPr>
        <p:spPr>
          <a:xfrm>
            <a:off x="1129284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C8491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Office PowerPoint</Application>
  <PresentationFormat>Widescreen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Cloud-Assisted IoT-Enabled Smoke Monitoring System (e-Nose)</dc:title>
  <dc:subject>An Intelligent Warning to Smokers by e-Nose</dc:subject>
  <dc:creator>OpenAI</dc:creator>
  <cp:lastModifiedBy>Anubha</cp:lastModifiedBy>
  <cp:revision>3</cp:revision>
  <dcterms:created xsi:type="dcterms:W3CDTF">2026-05-14T15:19:13Z</dcterms:created>
  <dcterms:modified xsi:type="dcterms:W3CDTF">2026-05-14T16:23:10Z</dcterms:modified>
</cp:coreProperties>
</file>