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comment1.xml" ContentType="application/vnd.openxmlformats-officedocument.presentationml.comment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6"/>
  </p:notesMasterIdLst>
  <p:handoutMasterIdLst>
    <p:handoutMasterId r:id="rId37"/>
  </p:handoutMasterIdLst>
  <p:sldIdLst>
    <p:sldId id="883" r:id="rId2"/>
    <p:sldId id="884" r:id="rId3"/>
    <p:sldId id="945" r:id="rId4"/>
    <p:sldId id="946" r:id="rId5"/>
    <p:sldId id="948" r:id="rId6"/>
    <p:sldId id="963" r:id="rId7"/>
    <p:sldId id="817" r:id="rId8"/>
    <p:sldId id="962" r:id="rId9"/>
    <p:sldId id="848" r:id="rId10"/>
    <p:sldId id="902" r:id="rId11"/>
    <p:sldId id="956" r:id="rId12"/>
    <p:sldId id="903" r:id="rId13"/>
    <p:sldId id="904" r:id="rId14"/>
    <p:sldId id="910" r:id="rId15"/>
    <p:sldId id="905" r:id="rId16"/>
    <p:sldId id="906" r:id="rId17"/>
    <p:sldId id="907" r:id="rId18"/>
    <p:sldId id="908" r:id="rId19"/>
    <p:sldId id="909" r:id="rId20"/>
    <p:sldId id="912" r:id="rId21"/>
    <p:sldId id="913" r:id="rId22"/>
    <p:sldId id="914" r:id="rId23"/>
    <p:sldId id="915" r:id="rId24"/>
    <p:sldId id="954" r:id="rId25"/>
    <p:sldId id="918" r:id="rId26"/>
    <p:sldId id="919" r:id="rId27"/>
    <p:sldId id="964" r:id="rId28"/>
    <p:sldId id="959" r:id="rId29"/>
    <p:sldId id="922" r:id="rId30"/>
    <p:sldId id="960" r:id="rId31"/>
    <p:sldId id="939" r:id="rId32"/>
    <p:sldId id="961" r:id="rId33"/>
    <p:sldId id="958" r:id="rId34"/>
    <p:sldId id="925"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inkiSharma" initials="P"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97" autoAdjust="0"/>
    <p:restoredTop sz="86397" autoAdjust="0"/>
  </p:normalViewPr>
  <p:slideViewPr>
    <p:cSldViewPr>
      <p:cViewPr varScale="1">
        <p:scale>
          <a:sx n="59" d="100"/>
          <a:sy n="59" d="100"/>
        </p:scale>
        <p:origin x="66" y="396"/>
      </p:cViewPr>
      <p:guideLst>
        <p:guide orient="horz" pos="2160"/>
        <p:guide pos="2880"/>
      </p:guideLst>
    </p:cSldViewPr>
  </p:slideViewPr>
  <p:outlineViewPr>
    <p:cViewPr>
      <p:scale>
        <a:sx n="33" d="100"/>
        <a:sy n="33" d="100"/>
      </p:scale>
      <p:origin x="240" y="617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5-11-29T20:14:47.069" idx="1">
    <p:pos x="10" y="10"/>
    <p:text>please make simple looks quite abrupt</p:text>
  </p:cm>
</p:cmLst>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468B7B-1921-4188-893E-AB9EDCDB63E3}" type="doc">
      <dgm:prSet loTypeId="urn:microsoft.com/office/officeart/2005/8/layout/vList2" loCatId="list" qsTypeId="urn:microsoft.com/office/officeart/2005/8/quickstyle/simple3" qsCatId="simple" csTypeId="urn:microsoft.com/office/officeart/2005/8/colors/accent2_2" csCatId="accent2" phldr="1"/>
      <dgm:spPr/>
      <dgm:t>
        <a:bodyPr/>
        <a:lstStyle/>
        <a:p>
          <a:endParaRPr lang="en-US"/>
        </a:p>
      </dgm:t>
    </dgm:pt>
    <dgm:pt modelId="{CF11F8F0-D581-4E87-B826-6AE1139E8B3B}">
      <dgm:prSet custT="1"/>
      <dgm:spPr/>
      <dgm:t>
        <a:bodyPr/>
        <a:lstStyle/>
        <a:p>
          <a:pPr rtl="0"/>
          <a:r>
            <a:rPr lang="en-US" sz="1800" b="1" dirty="0" smtClean="0">
              <a:latin typeface="Arial" pitchFamily="34" charset="0"/>
              <a:cs typeface="Arial" pitchFamily="34" charset="0"/>
            </a:rPr>
            <a:t>GAIT/ Human GAIT</a:t>
          </a:r>
          <a:endParaRPr lang="en-US" sz="1800" dirty="0">
            <a:latin typeface="Arial" pitchFamily="34" charset="0"/>
            <a:cs typeface="Arial" pitchFamily="34" charset="0"/>
          </a:endParaRPr>
        </a:p>
      </dgm:t>
    </dgm:pt>
    <dgm:pt modelId="{F99CDB02-40D4-4B0B-A452-4997DBEC643D}" type="parTrans" cxnId="{2769487D-3511-446B-9E92-3D42BDE7053A}">
      <dgm:prSet/>
      <dgm:spPr/>
      <dgm:t>
        <a:bodyPr/>
        <a:lstStyle/>
        <a:p>
          <a:endParaRPr lang="en-US"/>
        </a:p>
      </dgm:t>
    </dgm:pt>
    <dgm:pt modelId="{90A5063E-DE0C-47D7-967A-90370DE7C31D}" type="sibTrans" cxnId="{2769487D-3511-446B-9E92-3D42BDE7053A}">
      <dgm:prSet/>
      <dgm:spPr/>
      <dgm:t>
        <a:bodyPr/>
        <a:lstStyle/>
        <a:p>
          <a:endParaRPr lang="en-US"/>
        </a:p>
      </dgm:t>
    </dgm:pt>
    <dgm:pt modelId="{CA644C80-7FF7-4B20-87BF-CAC1C6FF9959}">
      <dgm:prSet custT="1"/>
      <dgm:spPr/>
      <dgm:t>
        <a:bodyPr/>
        <a:lstStyle/>
        <a:p>
          <a:pPr rtl="0"/>
          <a:r>
            <a:rPr lang="en-US" sz="1800" b="1" dirty="0" smtClean="0">
              <a:latin typeface="Arial" pitchFamily="34" charset="0"/>
              <a:cs typeface="Arial" pitchFamily="34" charset="0"/>
            </a:rPr>
            <a:t>AIM</a:t>
          </a:r>
          <a:endParaRPr lang="en-US" sz="1800" dirty="0">
            <a:latin typeface="Arial" pitchFamily="34" charset="0"/>
            <a:cs typeface="Arial" pitchFamily="34" charset="0"/>
          </a:endParaRPr>
        </a:p>
      </dgm:t>
    </dgm:pt>
    <dgm:pt modelId="{B3BD4DDF-FA4E-4654-975F-E338292B4FE7}" type="parTrans" cxnId="{29F398A6-601E-4240-A7DE-E2900A75850E}">
      <dgm:prSet/>
      <dgm:spPr/>
      <dgm:t>
        <a:bodyPr/>
        <a:lstStyle/>
        <a:p>
          <a:endParaRPr lang="en-US"/>
        </a:p>
      </dgm:t>
    </dgm:pt>
    <dgm:pt modelId="{9A5C9BA3-9590-4EF1-AE74-2DB4759F006A}" type="sibTrans" cxnId="{29F398A6-601E-4240-A7DE-E2900A75850E}">
      <dgm:prSet/>
      <dgm:spPr/>
      <dgm:t>
        <a:bodyPr/>
        <a:lstStyle/>
        <a:p>
          <a:endParaRPr lang="en-US"/>
        </a:p>
      </dgm:t>
    </dgm:pt>
    <dgm:pt modelId="{324302BB-853C-4DCB-BB9D-7D4CFC6B5E28}">
      <dgm:prSet custT="1"/>
      <dgm:spPr/>
      <dgm:t>
        <a:bodyPr/>
        <a:lstStyle/>
        <a:p>
          <a:pPr rtl="0"/>
          <a:r>
            <a:rPr lang="en-US" sz="1800" b="1" dirty="0" smtClean="0">
              <a:latin typeface="Arial" pitchFamily="34" charset="0"/>
              <a:cs typeface="Arial" pitchFamily="34" charset="0"/>
            </a:rPr>
            <a:t>Proposed work and Methodology</a:t>
          </a:r>
          <a:endParaRPr lang="en-US" sz="1800" b="1" dirty="0">
            <a:latin typeface="Arial" pitchFamily="34" charset="0"/>
            <a:cs typeface="Arial" pitchFamily="34" charset="0"/>
          </a:endParaRPr>
        </a:p>
      </dgm:t>
    </dgm:pt>
    <dgm:pt modelId="{3975494C-AD03-4E9B-BFCD-FCA3CA5B0C23}" type="parTrans" cxnId="{7E5C5DA2-508D-4055-A63E-5690C36473DC}">
      <dgm:prSet/>
      <dgm:spPr/>
      <dgm:t>
        <a:bodyPr/>
        <a:lstStyle/>
        <a:p>
          <a:endParaRPr lang="en-US"/>
        </a:p>
      </dgm:t>
    </dgm:pt>
    <dgm:pt modelId="{BA6D1F3E-3CF4-469C-A29E-9210BF7BBF89}" type="sibTrans" cxnId="{7E5C5DA2-508D-4055-A63E-5690C36473DC}">
      <dgm:prSet/>
      <dgm:spPr/>
      <dgm:t>
        <a:bodyPr/>
        <a:lstStyle/>
        <a:p>
          <a:endParaRPr lang="en-US"/>
        </a:p>
      </dgm:t>
    </dgm:pt>
    <dgm:pt modelId="{C57D3FD3-A88A-4B2B-B103-122CEDEC2124}">
      <dgm:prSet custT="1"/>
      <dgm:spPr/>
      <dgm:t>
        <a:bodyPr/>
        <a:lstStyle/>
        <a:p>
          <a:pPr rtl="0"/>
          <a:r>
            <a:rPr lang="en-US" sz="1800" b="1" dirty="0" smtClean="0">
              <a:latin typeface="Arial" pitchFamily="34" charset="0"/>
              <a:cs typeface="Arial" pitchFamily="34" charset="0"/>
            </a:rPr>
            <a:t>Data Collection &amp; Demos</a:t>
          </a:r>
          <a:endParaRPr lang="en-US" sz="1800" b="1" dirty="0">
            <a:latin typeface="Arial" pitchFamily="34" charset="0"/>
            <a:cs typeface="Arial" pitchFamily="34" charset="0"/>
          </a:endParaRPr>
        </a:p>
      </dgm:t>
    </dgm:pt>
    <dgm:pt modelId="{3218A2D0-D020-4265-B04D-65ED9AC29BD5}" type="parTrans" cxnId="{78E919A7-F920-44C8-B840-9EB8BC054514}">
      <dgm:prSet/>
      <dgm:spPr/>
      <dgm:t>
        <a:bodyPr/>
        <a:lstStyle/>
        <a:p>
          <a:endParaRPr lang="en-US"/>
        </a:p>
      </dgm:t>
    </dgm:pt>
    <dgm:pt modelId="{06468EAE-7EFA-4825-B215-A016570C54D7}" type="sibTrans" cxnId="{78E919A7-F920-44C8-B840-9EB8BC054514}">
      <dgm:prSet/>
      <dgm:spPr/>
      <dgm:t>
        <a:bodyPr/>
        <a:lstStyle/>
        <a:p>
          <a:endParaRPr lang="en-US"/>
        </a:p>
      </dgm:t>
    </dgm:pt>
    <dgm:pt modelId="{7C8E68D7-F2AC-48C6-A423-7E69970A4327}">
      <dgm:prSet custT="1"/>
      <dgm:spPr/>
      <dgm:t>
        <a:bodyPr/>
        <a:lstStyle/>
        <a:p>
          <a:pPr rtl="0"/>
          <a:r>
            <a:rPr lang="en-US" sz="1800" b="1" dirty="0" smtClean="0">
              <a:latin typeface="Arial" pitchFamily="34" charset="0"/>
              <a:cs typeface="Arial" pitchFamily="34" charset="0"/>
            </a:rPr>
            <a:t>Conclusion</a:t>
          </a:r>
          <a:endParaRPr lang="en-US" sz="1800" b="1" dirty="0">
            <a:latin typeface="Arial" pitchFamily="34" charset="0"/>
            <a:cs typeface="Arial" pitchFamily="34" charset="0"/>
          </a:endParaRPr>
        </a:p>
      </dgm:t>
    </dgm:pt>
    <dgm:pt modelId="{6FFBE517-6EE4-4FE7-AC7D-6D248DDD7B69}" type="parTrans" cxnId="{A0C0B2AE-4FC1-4566-8770-552DC46B2276}">
      <dgm:prSet/>
      <dgm:spPr/>
      <dgm:t>
        <a:bodyPr/>
        <a:lstStyle/>
        <a:p>
          <a:endParaRPr lang="en-US"/>
        </a:p>
      </dgm:t>
    </dgm:pt>
    <dgm:pt modelId="{08764379-3F25-4032-8514-425E2D950377}" type="sibTrans" cxnId="{A0C0B2AE-4FC1-4566-8770-552DC46B2276}">
      <dgm:prSet/>
      <dgm:spPr/>
      <dgm:t>
        <a:bodyPr/>
        <a:lstStyle/>
        <a:p>
          <a:endParaRPr lang="en-US"/>
        </a:p>
      </dgm:t>
    </dgm:pt>
    <dgm:pt modelId="{E25C6E38-5F69-45A0-9D26-1472286B7568}">
      <dgm:prSet custT="1"/>
      <dgm:spPr/>
      <dgm:t>
        <a:bodyPr/>
        <a:lstStyle/>
        <a:p>
          <a:pPr rtl="0"/>
          <a:r>
            <a:rPr lang="en-US" sz="1800" b="1" dirty="0" smtClean="0">
              <a:latin typeface="Arial" pitchFamily="34" charset="0"/>
              <a:cs typeface="Arial" pitchFamily="34" charset="0"/>
            </a:rPr>
            <a:t>Result analysis </a:t>
          </a:r>
          <a:endParaRPr lang="en-US" sz="1800" b="1" dirty="0">
            <a:latin typeface="Arial" pitchFamily="34" charset="0"/>
            <a:cs typeface="Arial" pitchFamily="34" charset="0"/>
          </a:endParaRPr>
        </a:p>
      </dgm:t>
    </dgm:pt>
    <dgm:pt modelId="{3B1E5419-B4E0-4D76-8E75-86EB32534D11}" type="parTrans" cxnId="{87AEE6D5-D799-491E-AFD3-796139B7C7A8}">
      <dgm:prSet/>
      <dgm:spPr/>
      <dgm:t>
        <a:bodyPr/>
        <a:lstStyle/>
        <a:p>
          <a:endParaRPr lang="en-US"/>
        </a:p>
      </dgm:t>
    </dgm:pt>
    <dgm:pt modelId="{83928AC9-AB6F-47E5-A4B9-5ACDB804D82D}" type="sibTrans" cxnId="{87AEE6D5-D799-491E-AFD3-796139B7C7A8}">
      <dgm:prSet/>
      <dgm:spPr/>
      <dgm:t>
        <a:bodyPr/>
        <a:lstStyle/>
        <a:p>
          <a:endParaRPr lang="en-US"/>
        </a:p>
      </dgm:t>
    </dgm:pt>
    <dgm:pt modelId="{0D4741D4-5E8A-431B-8CD9-C5413D8D6D95}">
      <dgm:prSet custT="1"/>
      <dgm:spPr/>
      <dgm:t>
        <a:bodyPr/>
        <a:lstStyle/>
        <a:p>
          <a:pPr rtl="0"/>
          <a:r>
            <a:rPr lang="en-US" sz="1600" b="1" dirty="0" smtClean="0">
              <a:latin typeface="Arial" pitchFamily="34" charset="0"/>
              <a:cs typeface="Arial" pitchFamily="34" charset="0"/>
            </a:rPr>
            <a:t>Classification using KNN and Back Propagation </a:t>
          </a:r>
          <a:endParaRPr lang="en-US" sz="1600" b="1" dirty="0">
            <a:latin typeface="Arial" pitchFamily="34" charset="0"/>
            <a:cs typeface="Arial" pitchFamily="34" charset="0"/>
          </a:endParaRPr>
        </a:p>
      </dgm:t>
    </dgm:pt>
    <dgm:pt modelId="{6F1D7530-94AD-40C6-8FC4-9783105394F5}" type="parTrans" cxnId="{D42EA374-7491-4BCA-ACF8-704B1807A45B}">
      <dgm:prSet/>
      <dgm:spPr/>
      <dgm:t>
        <a:bodyPr/>
        <a:lstStyle/>
        <a:p>
          <a:endParaRPr lang="en-US"/>
        </a:p>
      </dgm:t>
    </dgm:pt>
    <dgm:pt modelId="{D0A507A2-7D20-45CF-8E1D-CDCE495A6459}" type="sibTrans" cxnId="{D42EA374-7491-4BCA-ACF8-704B1807A45B}">
      <dgm:prSet/>
      <dgm:spPr/>
      <dgm:t>
        <a:bodyPr/>
        <a:lstStyle/>
        <a:p>
          <a:endParaRPr lang="en-US"/>
        </a:p>
      </dgm:t>
    </dgm:pt>
    <dgm:pt modelId="{0A20204B-ACA3-4F99-A786-A4743B3D8273}">
      <dgm:prSet custT="1"/>
      <dgm:spPr/>
      <dgm:t>
        <a:bodyPr/>
        <a:lstStyle/>
        <a:p>
          <a:pPr rtl="0"/>
          <a:r>
            <a:rPr lang="en-US" sz="1800" b="1" dirty="0" smtClean="0">
              <a:latin typeface="Arial" pitchFamily="34" charset="0"/>
              <a:cs typeface="Arial" pitchFamily="34" charset="0"/>
            </a:rPr>
            <a:t>Problem Statement</a:t>
          </a:r>
          <a:endParaRPr lang="en-US" sz="1800" b="1" dirty="0">
            <a:latin typeface="Arial" pitchFamily="34" charset="0"/>
            <a:cs typeface="Arial" pitchFamily="34" charset="0"/>
          </a:endParaRPr>
        </a:p>
      </dgm:t>
    </dgm:pt>
    <dgm:pt modelId="{23329794-CA3D-4F72-A54E-3831B2A2ABEF}" type="parTrans" cxnId="{9406FC4B-5CA8-41C1-BDB9-3911C49BAB6F}">
      <dgm:prSet/>
      <dgm:spPr/>
      <dgm:t>
        <a:bodyPr/>
        <a:lstStyle/>
        <a:p>
          <a:endParaRPr lang="en-US"/>
        </a:p>
      </dgm:t>
    </dgm:pt>
    <dgm:pt modelId="{A650C011-EA09-4BC1-8AF3-765A38A62D42}" type="sibTrans" cxnId="{9406FC4B-5CA8-41C1-BDB9-3911C49BAB6F}">
      <dgm:prSet/>
      <dgm:spPr/>
      <dgm:t>
        <a:bodyPr/>
        <a:lstStyle/>
        <a:p>
          <a:endParaRPr lang="en-US"/>
        </a:p>
      </dgm:t>
    </dgm:pt>
    <dgm:pt modelId="{9C06DC36-F13E-43A7-B81D-EE2DD97B90E0}">
      <dgm:prSet custT="1"/>
      <dgm:spPr/>
      <dgm:t>
        <a:bodyPr/>
        <a:lstStyle/>
        <a:p>
          <a:pPr rtl="0"/>
          <a:r>
            <a:rPr lang="en-US" sz="1800" b="1" dirty="0" smtClean="0">
              <a:latin typeface="Arial" pitchFamily="34" charset="0"/>
              <a:cs typeface="Arial" pitchFamily="34" charset="0"/>
            </a:rPr>
            <a:t>Proposed Solution</a:t>
          </a:r>
          <a:endParaRPr lang="en-US" sz="1800" dirty="0">
            <a:latin typeface="Arial" pitchFamily="34" charset="0"/>
            <a:cs typeface="Arial" pitchFamily="34" charset="0"/>
          </a:endParaRPr>
        </a:p>
      </dgm:t>
    </dgm:pt>
    <dgm:pt modelId="{FBE16D1C-3015-42A2-8729-4B56C2E9F3D2}" type="parTrans" cxnId="{1C3F9CB3-02B1-4641-B5B1-21FC7254DC89}">
      <dgm:prSet/>
      <dgm:spPr/>
      <dgm:t>
        <a:bodyPr/>
        <a:lstStyle/>
        <a:p>
          <a:endParaRPr lang="en-US"/>
        </a:p>
      </dgm:t>
    </dgm:pt>
    <dgm:pt modelId="{DCBD336E-C72C-4E4B-B501-7DDC34461F41}" type="sibTrans" cxnId="{1C3F9CB3-02B1-4641-B5B1-21FC7254DC89}">
      <dgm:prSet/>
      <dgm:spPr/>
      <dgm:t>
        <a:bodyPr/>
        <a:lstStyle/>
        <a:p>
          <a:endParaRPr lang="en-US"/>
        </a:p>
      </dgm:t>
    </dgm:pt>
    <dgm:pt modelId="{81DADC67-78C8-4E9B-AAA7-0D0D25848D7B}" type="pres">
      <dgm:prSet presAssocID="{E5468B7B-1921-4188-893E-AB9EDCDB63E3}" presName="linear" presStyleCnt="0">
        <dgm:presLayoutVars>
          <dgm:animLvl val="lvl"/>
          <dgm:resizeHandles val="exact"/>
        </dgm:presLayoutVars>
      </dgm:prSet>
      <dgm:spPr/>
      <dgm:t>
        <a:bodyPr/>
        <a:lstStyle/>
        <a:p>
          <a:endParaRPr lang="en-US"/>
        </a:p>
      </dgm:t>
    </dgm:pt>
    <dgm:pt modelId="{44250668-2EC9-4AC5-8D16-9BEFCE4A9902}" type="pres">
      <dgm:prSet presAssocID="{CF11F8F0-D581-4E87-B826-6AE1139E8B3B}" presName="parentText" presStyleLbl="node1" presStyleIdx="0" presStyleCnt="9">
        <dgm:presLayoutVars>
          <dgm:chMax val="0"/>
          <dgm:bulletEnabled val="1"/>
        </dgm:presLayoutVars>
      </dgm:prSet>
      <dgm:spPr/>
      <dgm:t>
        <a:bodyPr/>
        <a:lstStyle/>
        <a:p>
          <a:endParaRPr lang="en-US"/>
        </a:p>
      </dgm:t>
    </dgm:pt>
    <dgm:pt modelId="{989308E9-7D77-4790-B3B7-241C40ACFC3C}" type="pres">
      <dgm:prSet presAssocID="{90A5063E-DE0C-47D7-967A-90370DE7C31D}" presName="spacer" presStyleCnt="0"/>
      <dgm:spPr/>
      <dgm:t>
        <a:bodyPr/>
        <a:lstStyle/>
        <a:p>
          <a:endParaRPr lang="en-US"/>
        </a:p>
      </dgm:t>
    </dgm:pt>
    <dgm:pt modelId="{9F78C2A5-E2C8-4896-B9B9-B3B29366520B}" type="pres">
      <dgm:prSet presAssocID="{0A20204B-ACA3-4F99-A786-A4743B3D8273}" presName="parentText" presStyleLbl="node1" presStyleIdx="1" presStyleCnt="9">
        <dgm:presLayoutVars>
          <dgm:chMax val="0"/>
          <dgm:bulletEnabled val="1"/>
        </dgm:presLayoutVars>
      </dgm:prSet>
      <dgm:spPr/>
      <dgm:t>
        <a:bodyPr/>
        <a:lstStyle/>
        <a:p>
          <a:endParaRPr lang="en-US"/>
        </a:p>
      </dgm:t>
    </dgm:pt>
    <dgm:pt modelId="{BB0AD7B7-2A08-447D-91A2-89EAF4200E44}" type="pres">
      <dgm:prSet presAssocID="{A650C011-EA09-4BC1-8AF3-765A38A62D42}" presName="spacer" presStyleCnt="0"/>
      <dgm:spPr/>
      <dgm:t>
        <a:bodyPr/>
        <a:lstStyle/>
        <a:p>
          <a:endParaRPr lang="en-US"/>
        </a:p>
      </dgm:t>
    </dgm:pt>
    <dgm:pt modelId="{7A2AD361-FE1C-4B21-B16B-2342A9710088}" type="pres">
      <dgm:prSet presAssocID="{9C06DC36-F13E-43A7-B81D-EE2DD97B90E0}" presName="parentText" presStyleLbl="node1" presStyleIdx="2" presStyleCnt="9" custLinFactNeighborX="-19820" custLinFactNeighborY="289">
        <dgm:presLayoutVars>
          <dgm:chMax val="0"/>
          <dgm:bulletEnabled val="1"/>
        </dgm:presLayoutVars>
      </dgm:prSet>
      <dgm:spPr/>
      <dgm:t>
        <a:bodyPr/>
        <a:lstStyle/>
        <a:p>
          <a:endParaRPr lang="en-US"/>
        </a:p>
      </dgm:t>
    </dgm:pt>
    <dgm:pt modelId="{98A70910-6114-4352-9FDD-9B1A03C720F4}" type="pres">
      <dgm:prSet presAssocID="{DCBD336E-C72C-4E4B-B501-7DDC34461F41}" presName="spacer" presStyleCnt="0"/>
      <dgm:spPr/>
      <dgm:t>
        <a:bodyPr/>
        <a:lstStyle/>
        <a:p>
          <a:endParaRPr lang="en-US"/>
        </a:p>
      </dgm:t>
    </dgm:pt>
    <dgm:pt modelId="{474D8491-AB8C-4FCE-98DB-204CF5F49B62}" type="pres">
      <dgm:prSet presAssocID="{CA644C80-7FF7-4B20-87BF-CAC1C6FF9959}" presName="parentText" presStyleLbl="node1" presStyleIdx="3" presStyleCnt="9">
        <dgm:presLayoutVars>
          <dgm:chMax val="0"/>
          <dgm:bulletEnabled val="1"/>
        </dgm:presLayoutVars>
      </dgm:prSet>
      <dgm:spPr/>
      <dgm:t>
        <a:bodyPr/>
        <a:lstStyle/>
        <a:p>
          <a:endParaRPr lang="en-US"/>
        </a:p>
      </dgm:t>
    </dgm:pt>
    <dgm:pt modelId="{E7EAA6F8-9141-4708-8A61-7493A521449C}" type="pres">
      <dgm:prSet presAssocID="{9A5C9BA3-9590-4EF1-AE74-2DB4759F006A}" presName="spacer" presStyleCnt="0"/>
      <dgm:spPr/>
      <dgm:t>
        <a:bodyPr/>
        <a:lstStyle/>
        <a:p>
          <a:endParaRPr lang="en-US"/>
        </a:p>
      </dgm:t>
    </dgm:pt>
    <dgm:pt modelId="{B4C9C996-4AD6-4F30-8D4A-3983F023938C}" type="pres">
      <dgm:prSet presAssocID="{324302BB-853C-4DCB-BB9D-7D4CFC6B5E28}" presName="parentText" presStyleLbl="node1" presStyleIdx="4" presStyleCnt="9">
        <dgm:presLayoutVars>
          <dgm:chMax val="0"/>
          <dgm:bulletEnabled val="1"/>
        </dgm:presLayoutVars>
      </dgm:prSet>
      <dgm:spPr/>
      <dgm:t>
        <a:bodyPr/>
        <a:lstStyle/>
        <a:p>
          <a:endParaRPr lang="en-US"/>
        </a:p>
      </dgm:t>
    </dgm:pt>
    <dgm:pt modelId="{E0AF6791-EA71-4164-AFE5-7E3BCE9A0796}" type="pres">
      <dgm:prSet presAssocID="{BA6D1F3E-3CF4-469C-A29E-9210BF7BBF89}" presName="spacer" presStyleCnt="0"/>
      <dgm:spPr/>
      <dgm:t>
        <a:bodyPr/>
        <a:lstStyle/>
        <a:p>
          <a:endParaRPr lang="en-US"/>
        </a:p>
      </dgm:t>
    </dgm:pt>
    <dgm:pt modelId="{736D4D8A-2E6F-4C73-9348-11B14E6C9782}" type="pres">
      <dgm:prSet presAssocID="{C57D3FD3-A88A-4B2B-B103-122CEDEC2124}" presName="parentText" presStyleLbl="node1" presStyleIdx="5" presStyleCnt="9">
        <dgm:presLayoutVars>
          <dgm:chMax val="0"/>
          <dgm:bulletEnabled val="1"/>
        </dgm:presLayoutVars>
      </dgm:prSet>
      <dgm:spPr/>
      <dgm:t>
        <a:bodyPr/>
        <a:lstStyle/>
        <a:p>
          <a:endParaRPr lang="en-US"/>
        </a:p>
      </dgm:t>
    </dgm:pt>
    <dgm:pt modelId="{9EC4A88D-4AD4-42D8-A364-D6F3CDE7E02F}" type="pres">
      <dgm:prSet presAssocID="{06468EAE-7EFA-4825-B215-A016570C54D7}" presName="spacer" presStyleCnt="0"/>
      <dgm:spPr/>
      <dgm:t>
        <a:bodyPr/>
        <a:lstStyle/>
        <a:p>
          <a:endParaRPr lang="en-US"/>
        </a:p>
      </dgm:t>
    </dgm:pt>
    <dgm:pt modelId="{62C20B38-F832-412D-9092-6B5448890D7E}" type="pres">
      <dgm:prSet presAssocID="{0D4741D4-5E8A-431B-8CD9-C5413D8D6D95}" presName="parentText" presStyleLbl="node1" presStyleIdx="6" presStyleCnt="9">
        <dgm:presLayoutVars>
          <dgm:chMax val="0"/>
          <dgm:bulletEnabled val="1"/>
        </dgm:presLayoutVars>
      </dgm:prSet>
      <dgm:spPr/>
      <dgm:t>
        <a:bodyPr/>
        <a:lstStyle/>
        <a:p>
          <a:endParaRPr lang="en-US"/>
        </a:p>
      </dgm:t>
    </dgm:pt>
    <dgm:pt modelId="{43B538BC-A940-4EE5-9216-B0475E415692}" type="pres">
      <dgm:prSet presAssocID="{D0A507A2-7D20-45CF-8E1D-CDCE495A6459}" presName="spacer" presStyleCnt="0"/>
      <dgm:spPr/>
      <dgm:t>
        <a:bodyPr/>
        <a:lstStyle/>
        <a:p>
          <a:endParaRPr lang="en-US"/>
        </a:p>
      </dgm:t>
    </dgm:pt>
    <dgm:pt modelId="{262FFCBE-4A82-43DC-97A0-575BCD6C155D}" type="pres">
      <dgm:prSet presAssocID="{E25C6E38-5F69-45A0-9D26-1472286B7568}" presName="parentText" presStyleLbl="node1" presStyleIdx="7" presStyleCnt="9">
        <dgm:presLayoutVars>
          <dgm:chMax val="0"/>
          <dgm:bulletEnabled val="1"/>
        </dgm:presLayoutVars>
      </dgm:prSet>
      <dgm:spPr/>
      <dgm:t>
        <a:bodyPr/>
        <a:lstStyle/>
        <a:p>
          <a:endParaRPr lang="en-US"/>
        </a:p>
      </dgm:t>
    </dgm:pt>
    <dgm:pt modelId="{D9E4C6AE-C1B8-4EDD-ADED-5BF8BA5E01F3}" type="pres">
      <dgm:prSet presAssocID="{83928AC9-AB6F-47E5-A4B9-5ACDB804D82D}" presName="spacer" presStyleCnt="0"/>
      <dgm:spPr/>
      <dgm:t>
        <a:bodyPr/>
        <a:lstStyle/>
        <a:p>
          <a:endParaRPr lang="en-US"/>
        </a:p>
      </dgm:t>
    </dgm:pt>
    <dgm:pt modelId="{B4C4AB09-8FBD-4B60-97E0-CDEF6CF31B61}" type="pres">
      <dgm:prSet presAssocID="{7C8E68D7-F2AC-48C6-A423-7E69970A4327}" presName="parentText" presStyleLbl="node1" presStyleIdx="8" presStyleCnt="9">
        <dgm:presLayoutVars>
          <dgm:chMax val="0"/>
          <dgm:bulletEnabled val="1"/>
        </dgm:presLayoutVars>
      </dgm:prSet>
      <dgm:spPr/>
      <dgm:t>
        <a:bodyPr/>
        <a:lstStyle/>
        <a:p>
          <a:endParaRPr lang="en-US"/>
        </a:p>
      </dgm:t>
    </dgm:pt>
  </dgm:ptLst>
  <dgm:cxnLst>
    <dgm:cxn modelId="{9406FC4B-5CA8-41C1-BDB9-3911C49BAB6F}" srcId="{E5468B7B-1921-4188-893E-AB9EDCDB63E3}" destId="{0A20204B-ACA3-4F99-A786-A4743B3D8273}" srcOrd="1" destOrd="0" parTransId="{23329794-CA3D-4F72-A54E-3831B2A2ABEF}" sibTransId="{A650C011-EA09-4BC1-8AF3-765A38A62D42}"/>
    <dgm:cxn modelId="{78E919A7-F920-44C8-B840-9EB8BC054514}" srcId="{E5468B7B-1921-4188-893E-AB9EDCDB63E3}" destId="{C57D3FD3-A88A-4B2B-B103-122CEDEC2124}" srcOrd="5" destOrd="0" parTransId="{3218A2D0-D020-4265-B04D-65ED9AC29BD5}" sibTransId="{06468EAE-7EFA-4825-B215-A016570C54D7}"/>
    <dgm:cxn modelId="{2769487D-3511-446B-9E92-3D42BDE7053A}" srcId="{E5468B7B-1921-4188-893E-AB9EDCDB63E3}" destId="{CF11F8F0-D581-4E87-B826-6AE1139E8B3B}" srcOrd="0" destOrd="0" parTransId="{F99CDB02-40D4-4B0B-A452-4997DBEC643D}" sibTransId="{90A5063E-DE0C-47D7-967A-90370DE7C31D}"/>
    <dgm:cxn modelId="{4CB9DDBA-56CD-4159-8EF0-5A1483F782F7}" type="presOf" srcId="{CA644C80-7FF7-4B20-87BF-CAC1C6FF9959}" destId="{474D8491-AB8C-4FCE-98DB-204CF5F49B62}" srcOrd="0" destOrd="0" presId="urn:microsoft.com/office/officeart/2005/8/layout/vList2"/>
    <dgm:cxn modelId="{87AEE6D5-D799-491E-AFD3-796139B7C7A8}" srcId="{E5468B7B-1921-4188-893E-AB9EDCDB63E3}" destId="{E25C6E38-5F69-45A0-9D26-1472286B7568}" srcOrd="7" destOrd="0" parTransId="{3B1E5419-B4E0-4D76-8E75-86EB32534D11}" sibTransId="{83928AC9-AB6F-47E5-A4B9-5ACDB804D82D}"/>
    <dgm:cxn modelId="{2C3EEDCE-7B5E-4AFC-BA09-4A50F666AD9D}" type="presOf" srcId="{E5468B7B-1921-4188-893E-AB9EDCDB63E3}" destId="{81DADC67-78C8-4E9B-AAA7-0D0D25848D7B}" srcOrd="0" destOrd="0" presId="urn:microsoft.com/office/officeart/2005/8/layout/vList2"/>
    <dgm:cxn modelId="{2B566BBC-569C-4C87-9E93-B92E001ED364}" type="presOf" srcId="{0D4741D4-5E8A-431B-8CD9-C5413D8D6D95}" destId="{62C20B38-F832-412D-9092-6B5448890D7E}" srcOrd="0" destOrd="0" presId="urn:microsoft.com/office/officeart/2005/8/layout/vList2"/>
    <dgm:cxn modelId="{7E5C5DA2-508D-4055-A63E-5690C36473DC}" srcId="{E5468B7B-1921-4188-893E-AB9EDCDB63E3}" destId="{324302BB-853C-4DCB-BB9D-7D4CFC6B5E28}" srcOrd="4" destOrd="0" parTransId="{3975494C-AD03-4E9B-BFCD-FCA3CA5B0C23}" sibTransId="{BA6D1F3E-3CF4-469C-A29E-9210BF7BBF89}"/>
    <dgm:cxn modelId="{1C3F9CB3-02B1-4641-B5B1-21FC7254DC89}" srcId="{E5468B7B-1921-4188-893E-AB9EDCDB63E3}" destId="{9C06DC36-F13E-43A7-B81D-EE2DD97B90E0}" srcOrd="2" destOrd="0" parTransId="{FBE16D1C-3015-42A2-8729-4B56C2E9F3D2}" sibTransId="{DCBD336E-C72C-4E4B-B501-7DDC34461F41}"/>
    <dgm:cxn modelId="{898DF76C-9546-4E5D-82D1-2311BB12C76D}" type="presOf" srcId="{C57D3FD3-A88A-4B2B-B103-122CEDEC2124}" destId="{736D4D8A-2E6F-4C73-9348-11B14E6C9782}" srcOrd="0" destOrd="0" presId="urn:microsoft.com/office/officeart/2005/8/layout/vList2"/>
    <dgm:cxn modelId="{58BE50AF-6CED-4E8F-9812-F52F72591807}" type="presOf" srcId="{7C8E68D7-F2AC-48C6-A423-7E69970A4327}" destId="{B4C4AB09-8FBD-4B60-97E0-CDEF6CF31B61}" srcOrd="0" destOrd="0" presId="urn:microsoft.com/office/officeart/2005/8/layout/vList2"/>
    <dgm:cxn modelId="{22362573-9A38-44E1-9D84-299ED7B7E8C8}" type="presOf" srcId="{0A20204B-ACA3-4F99-A786-A4743B3D8273}" destId="{9F78C2A5-E2C8-4896-B9B9-B3B29366520B}" srcOrd="0" destOrd="0" presId="urn:microsoft.com/office/officeart/2005/8/layout/vList2"/>
    <dgm:cxn modelId="{CAF2FB94-5E32-4666-85C0-BF8D98A2D99B}" type="presOf" srcId="{324302BB-853C-4DCB-BB9D-7D4CFC6B5E28}" destId="{B4C9C996-4AD6-4F30-8D4A-3983F023938C}" srcOrd="0" destOrd="0" presId="urn:microsoft.com/office/officeart/2005/8/layout/vList2"/>
    <dgm:cxn modelId="{B54661BD-300A-4095-BFBE-6203EF6645F3}" type="presOf" srcId="{9C06DC36-F13E-43A7-B81D-EE2DD97B90E0}" destId="{7A2AD361-FE1C-4B21-B16B-2342A9710088}" srcOrd="0" destOrd="0" presId="urn:microsoft.com/office/officeart/2005/8/layout/vList2"/>
    <dgm:cxn modelId="{29F398A6-601E-4240-A7DE-E2900A75850E}" srcId="{E5468B7B-1921-4188-893E-AB9EDCDB63E3}" destId="{CA644C80-7FF7-4B20-87BF-CAC1C6FF9959}" srcOrd="3" destOrd="0" parTransId="{B3BD4DDF-FA4E-4654-975F-E338292B4FE7}" sibTransId="{9A5C9BA3-9590-4EF1-AE74-2DB4759F006A}"/>
    <dgm:cxn modelId="{A0C0B2AE-4FC1-4566-8770-552DC46B2276}" srcId="{E5468B7B-1921-4188-893E-AB9EDCDB63E3}" destId="{7C8E68D7-F2AC-48C6-A423-7E69970A4327}" srcOrd="8" destOrd="0" parTransId="{6FFBE517-6EE4-4FE7-AC7D-6D248DDD7B69}" sibTransId="{08764379-3F25-4032-8514-425E2D950377}"/>
    <dgm:cxn modelId="{1825FDF3-818A-45C7-8D23-57493C378CC3}" type="presOf" srcId="{CF11F8F0-D581-4E87-B826-6AE1139E8B3B}" destId="{44250668-2EC9-4AC5-8D16-9BEFCE4A9902}" srcOrd="0" destOrd="0" presId="urn:microsoft.com/office/officeart/2005/8/layout/vList2"/>
    <dgm:cxn modelId="{1FAAB60F-FE0E-49F2-B566-BE7EF0E4A958}" type="presOf" srcId="{E25C6E38-5F69-45A0-9D26-1472286B7568}" destId="{262FFCBE-4A82-43DC-97A0-575BCD6C155D}" srcOrd="0" destOrd="0" presId="urn:microsoft.com/office/officeart/2005/8/layout/vList2"/>
    <dgm:cxn modelId="{D42EA374-7491-4BCA-ACF8-704B1807A45B}" srcId="{E5468B7B-1921-4188-893E-AB9EDCDB63E3}" destId="{0D4741D4-5E8A-431B-8CD9-C5413D8D6D95}" srcOrd="6" destOrd="0" parTransId="{6F1D7530-94AD-40C6-8FC4-9783105394F5}" sibTransId="{D0A507A2-7D20-45CF-8E1D-CDCE495A6459}"/>
    <dgm:cxn modelId="{BD71E064-953E-4556-AA2A-BEA036B8F31D}" type="presParOf" srcId="{81DADC67-78C8-4E9B-AAA7-0D0D25848D7B}" destId="{44250668-2EC9-4AC5-8D16-9BEFCE4A9902}" srcOrd="0" destOrd="0" presId="urn:microsoft.com/office/officeart/2005/8/layout/vList2"/>
    <dgm:cxn modelId="{E08E2E81-B195-47A9-A177-A0DE3E1C9A09}" type="presParOf" srcId="{81DADC67-78C8-4E9B-AAA7-0D0D25848D7B}" destId="{989308E9-7D77-4790-B3B7-241C40ACFC3C}" srcOrd="1" destOrd="0" presId="urn:microsoft.com/office/officeart/2005/8/layout/vList2"/>
    <dgm:cxn modelId="{74A3061C-A1E1-495D-9E70-96564E850C86}" type="presParOf" srcId="{81DADC67-78C8-4E9B-AAA7-0D0D25848D7B}" destId="{9F78C2A5-E2C8-4896-B9B9-B3B29366520B}" srcOrd="2" destOrd="0" presId="urn:microsoft.com/office/officeart/2005/8/layout/vList2"/>
    <dgm:cxn modelId="{9231A794-EF90-4B45-B9A4-A3077E8453F4}" type="presParOf" srcId="{81DADC67-78C8-4E9B-AAA7-0D0D25848D7B}" destId="{BB0AD7B7-2A08-447D-91A2-89EAF4200E44}" srcOrd="3" destOrd="0" presId="urn:microsoft.com/office/officeart/2005/8/layout/vList2"/>
    <dgm:cxn modelId="{72766C45-F93C-49D9-8ABB-3956442A627B}" type="presParOf" srcId="{81DADC67-78C8-4E9B-AAA7-0D0D25848D7B}" destId="{7A2AD361-FE1C-4B21-B16B-2342A9710088}" srcOrd="4" destOrd="0" presId="urn:microsoft.com/office/officeart/2005/8/layout/vList2"/>
    <dgm:cxn modelId="{76C10B96-A059-49E2-B144-609A9F3234B9}" type="presParOf" srcId="{81DADC67-78C8-4E9B-AAA7-0D0D25848D7B}" destId="{98A70910-6114-4352-9FDD-9B1A03C720F4}" srcOrd="5" destOrd="0" presId="urn:microsoft.com/office/officeart/2005/8/layout/vList2"/>
    <dgm:cxn modelId="{EB475334-68FE-40AC-9009-7634F3098C93}" type="presParOf" srcId="{81DADC67-78C8-4E9B-AAA7-0D0D25848D7B}" destId="{474D8491-AB8C-4FCE-98DB-204CF5F49B62}" srcOrd="6" destOrd="0" presId="urn:microsoft.com/office/officeart/2005/8/layout/vList2"/>
    <dgm:cxn modelId="{302C4162-8147-47E6-B10D-43916DA97650}" type="presParOf" srcId="{81DADC67-78C8-4E9B-AAA7-0D0D25848D7B}" destId="{E7EAA6F8-9141-4708-8A61-7493A521449C}" srcOrd="7" destOrd="0" presId="urn:microsoft.com/office/officeart/2005/8/layout/vList2"/>
    <dgm:cxn modelId="{22E83221-06A6-485A-AB2C-3A1F21959C33}" type="presParOf" srcId="{81DADC67-78C8-4E9B-AAA7-0D0D25848D7B}" destId="{B4C9C996-4AD6-4F30-8D4A-3983F023938C}" srcOrd="8" destOrd="0" presId="urn:microsoft.com/office/officeart/2005/8/layout/vList2"/>
    <dgm:cxn modelId="{2622284E-34B2-4557-939C-03B3C1370346}" type="presParOf" srcId="{81DADC67-78C8-4E9B-AAA7-0D0D25848D7B}" destId="{E0AF6791-EA71-4164-AFE5-7E3BCE9A0796}" srcOrd="9" destOrd="0" presId="urn:microsoft.com/office/officeart/2005/8/layout/vList2"/>
    <dgm:cxn modelId="{2E46B84D-8DE9-4720-8CE0-8B91DAAF5A46}" type="presParOf" srcId="{81DADC67-78C8-4E9B-AAA7-0D0D25848D7B}" destId="{736D4D8A-2E6F-4C73-9348-11B14E6C9782}" srcOrd="10" destOrd="0" presId="urn:microsoft.com/office/officeart/2005/8/layout/vList2"/>
    <dgm:cxn modelId="{A79CA92B-157C-416A-A5B7-FE786FC9BE9B}" type="presParOf" srcId="{81DADC67-78C8-4E9B-AAA7-0D0D25848D7B}" destId="{9EC4A88D-4AD4-42D8-A364-D6F3CDE7E02F}" srcOrd="11" destOrd="0" presId="urn:microsoft.com/office/officeart/2005/8/layout/vList2"/>
    <dgm:cxn modelId="{BA40BDBB-D036-43F1-B536-D5CB53D407EF}" type="presParOf" srcId="{81DADC67-78C8-4E9B-AAA7-0D0D25848D7B}" destId="{62C20B38-F832-412D-9092-6B5448890D7E}" srcOrd="12" destOrd="0" presId="urn:microsoft.com/office/officeart/2005/8/layout/vList2"/>
    <dgm:cxn modelId="{35BCCFBB-331A-4532-8A18-92C35E64B13C}" type="presParOf" srcId="{81DADC67-78C8-4E9B-AAA7-0D0D25848D7B}" destId="{43B538BC-A940-4EE5-9216-B0475E415692}" srcOrd="13" destOrd="0" presId="urn:microsoft.com/office/officeart/2005/8/layout/vList2"/>
    <dgm:cxn modelId="{8DCAE2D5-D324-4D46-B9E4-1A6AF3E472A0}" type="presParOf" srcId="{81DADC67-78C8-4E9B-AAA7-0D0D25848D7B}" destId="{262FFCBE-4A82-43DC-97A0-575BCD6C155D}" srcOrd="14" destOrd="0" presId="urn:microsoft.com/office/officeart/2005/8/layout/vList2"/>
    <dgm:cxn modelId="{B52C9727-86A1-432E-B285-5858A9CFF547}" type="presParOf" srcId="{81DADC67-78C8-4E9B-AAA7-0D0D25848D7B}" destId="{D9E4C6AE-C1B8-4EDD-ADED-5BF8BA5E01F3}" srcOrd="15" destOrd="0" presId="urn:microsoft.com/office/officeart/2005/8/layout/vList2"/>
    <dgm:cxn modelId="{7CEA951C-3E41-4798-8407-0F9BF0F545D8}" type="presParOf" srcId="{81DADC67-78C8-4E9B-AAA7-0D0D25848D7B}" destId="{B4C4AB09-8FBD-4B60-97E0-CDEF6CF31B61}" srcOrd="1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250668-2EC9-4AC5-8D16-9BEFCE4A9902}">
      <dsp:nvSpPr>
        <dsp:cNvPr id="0" name=""/>
        <dsp:cNvSpPr/>
      </dsp:nvSpPr>
      <dsp:spPr>
        <a:xfrm>
          <a:off x="0" y="42359"/>
          <a:ext cx="8458200" cy="542880"/>
        </a:xfrm>
        <a:prstGeom prst="roundRect">
          <a:avLst/>
        </a:prstGeom>
        <a:gradFill rotWithShape="0">
          <a:gsLst>
            <a:gs pos="20000">
              <a:schemeClr val="accent2">
                <a:hueOff val="0"/>
                <a:satOff val="0"/>
                <a:lumOff val="0"/>
                <a:alphaOff val="0"/>
                <a:tint val="9000"/>
              </a:schemeClr>
            </a:gs>
            <a:gs pos="100000">
              <a:schemeClr val="accent2">
                <a:hueOff val="0"/>
                <a:satOff val="0"/>
                <a:lumOff val="0"/>
                <a:alphaOff val="0"/>
                <a:tint val="70000"/>
                <a:satMod val="100000"/>
              </a:schemeClr>
            </a:gs>
          </a:gsLst>
          <a:path path="circle">
            <a:fillToRect l="-15000" t="-15000" r="115000" b="115000"/>
          </a:path>
        </a:gradFill>
        <a:ln>
          <a:noFill/>
        </a:ln>
        <a:effectLst>
          <a:outerShdw blurRad="130000" dist="101600" dir="2700000" algn="tl"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latin typeface="Arial" pitchFamily="34" charset="0"/>
              <a:cs typeface="Arial" pitchFamily="34" charset="0"/>
            </a:rPr>
            <a:t>GAIT/ Human GAIT</a:t>
          </a:r>
          <a:endParaRPr lang="en-US" sz="1800" kern="1200" dirty="0">
            <a:latin typeface="Arial" pitchFamily="34" charset="0"/>
            <a:cs typeface="Arial" pitchFamily="34" charset="0"/>
          </a:endParaRPr>
        </a:p>
      </dsp:txBody>
      <dsp:txXfrm>
        <a:off x="26501" y="68860"/>
        <a:ext cx="8405198" cy="489878"/>
      </dsp:txXfrm>
    </dsp:sp>
    <dsp:sp modelId="{9F78C2A5-E2C8-4896-B9B9-B3B29366520B}">
      <dsp:nvSpPr>
        <dsp:cNvPr id="0" name=""/>
        <dsp:cNvSpPr/>
      </dsp:nvSpPr>
      <dsp:spPr>
        <a:xfrm>
          <a:off x="0" y="668759"/>
          <a:ext cx="8458200" cy="542880"/>
        </a:xfrm>
        <a:prstGeom prst="roundRect">
          <a:avLst/>
        </a:prstGeom>
        <a:gradFill rotWithShape="0">
          <a:gsLst>
            <a:gs pos="20000">
              <a:schemeClr val="accent2">
                <a:hueOff val="0"/>
                <a:satOff val="0"/>
                <a:lumOff val="0"/>
                <a:alphaOff val="0"/>
                <a:tint val="9000"/>
              </a:schemeClr>
            </a:gs>
            <a:gs pos="100000">
              <a:schemeClr val="accent2">
                <a:hueOff val="0"/>
                <a:satOff val="0"/>
                <a:lumOff val="0"/>
                <a:alphaOff val="0"/>
                <a:tint val="70000"/>
                <a:satMod val="100000"/>
              </a:schemeClr>
            </a:gs>
          </a:gsLst>
          <a:path path="circle">
            <a:fillToRect l="-15000" t="-15000" r="115000" b="115000"/>
          </a:path>
        </a:gradFill>
        <a:ln>
          <a:noFill/>
        </a:ln>
        <a:effectLst>
          <a:outerShdw blurRad="130000" dist="101600" dir="2700000" algn="tl"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latin typeface="Arial" pitchFamily="34" charset="0"/>
              <a:cs typeface="Arial" pitchFamily="34" charset="0"/>
            </a:rPr>
            <a:t>Problem Statement</a:t>
          </a:r>
          <a:endParaRPr lang="en-US" sz="1800" b="1" kern="1200" dirty="0">
            <a:latin typeface="Arial" pitchFamily="34" charset="0"/>
            <a:cs typeface="Arial" pitchFamily="34" charset="0"/>
          </a:endParaRPr>
        </a:p>
      </dsp:txBody>
      <dsp:txXfrm>
        <a:off x="26501" y="695260"/>
        <a:ext cx="8405198" cy="489878"/>
      </dsp:txXfrm>
    </dsp:sp>
    <dsp:sp modelId="{7A2AD361-FE1C-4B21-B16B-2342A9710088}">
      <dsp:nvSpPr>
        <dsp:cNvPr id="0" name=""/>
        <dsp:cNvSpPr/>
      </dsp:nvSpPr>
      <dsp:spPr>
        <a:xfrm>
          <a:off x="0" y="1295401"/>
          <a:ext cx="8458200" cy="542880"/>
        </a:xfrm>
        <a:prstGeom prst="roundRect">
          <a:avLst/>
        </a:prstGeom>
        <a:gradFill rotWithShape="0">
          <a:gsLst>
            <a:gs pos="20000">
              <a:schemeClr val="accent2">
                <a:hueOff val="0"/>
                <a:satOff val="0"/>
                <a:lumOff val="0"/>
                <a:alphaOff val="0"/>
                <a:tint val="9000"/>
              </a:schemeClr>
            </a:gs>
            <a:gs pos="100000">
              <a:schemeClr val="accent2">
                <a:hueOff val="0"/>
                <a:satOff val="0"/>
                <a:lumOff val="0"/>
                <a:alphaOff val="0"/>
                <a:tint val="70000"/>
                <a:satMod val="100000"/>
              </a:schemeClr>
            </a:gs>
          </a:gsLst>
          <a:path path="circle">
            <a:fillToRect l="-15000" t="-15000" r="115000" b="115000"/>
          </a:path>
        </a:gradFill>
        <a:ln>
          <a:noFill/>
        </a:ln>
        <a:effectLst>
          <a:outerShdw blurRad="130000" dist="101600" dir="2700000" algn="tl"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latin typeface="Arial" pitchFamily="34" charset="0"/>
              <a:cs typeface="Arial" pitchFamily="34" charset="0"/>
            </a:rPr>
            <a:t>Proposed Solution</a:t>
          </a:r>
          <a:endParaRPr lang="en-US" sz="1800" kern="1200" dirty="0">
            <a:latin typeface="Arial" pitchFamily="34" charset="0"/>
            <a:cs typeface="Arial" pitchFamily="34" charset="0"/>
          </a:endParaRPr>
        </a:p>
      </dsp:txBody>
      <dsp:txXfrm>
        <a:off x="26501" y="1321902"/>
        <a:ext cx="8405198" cy="489878"/>
      </dsp:txXfrm>
    </dsp:sp>
    <dsp:sp modelId="{474D8491-AB8C-4FCE-98DB-204CF5F49B62}">
      <dsp:nvSpPr>
        <dsp:cNvPr id="0" name=""/>
        <dsp:cNvSpPr/>
      </dsp:nvSpPr>
      <dsp:spPr>
        <a:xfrm>
          <a:off x="0" y="1921559"/>
          <a:ext cx="8458200" cy="542880"/>
        </a:xfrm>
        <a:prstGeom prst="roundRect">
          <a:avLst/>
        </a:prstGeom>
        <a:gradFill rotWithShape="0">
          <a:gsLst>
            <a:gs pos="20000">
              <a:schemeClr val="accent2">
                <a:hueOff val="0"/>
                <a:satOff val="0"/>
                <a:lumOff val="0"/>
                <a:alphaOff val="0"/>
                <a:tint val="9000"/>
              </a:schemeClr>
            </a:gs>
            <a:gs pos="100000">
              <a:schemeClr val="accent2">
                <a:hueOff val="0"/>
                <a:satOff val="0"/>
                <a:lumOff val="0"/>
                <a:alphaOff val="0"/>
                <a:tint val="70000"/>
                <a:satMod val="100000"/>
              </a:schemeClr>
            </a:gs>
          </a:gsLst>
          <a:path path="circle">
            <a:fillToRect l="-15000" t="-15000" r="115000" b="115000"/>
          </a:path>
        </a:gradFill>
        <a:ln>
          <a:noFill/>
        </a:ln>
        <a:effectLst>
          <a:outerShdw blurRad="130000" dist="101600" dir="2700000" algn="tl"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latin typeface="Arial" pitchFamily="34" charset="0"/>
              <a:cs typeface="Arial" pitchFamily="34" charset="0"/>
            </a:rPr>
            <a:t>AIM</a:t>
          </a:r>
          <a:endParaRPr lang="en-US" sz="1800" kern="1200" dirty="0">
            <a:latin typeface="Arial" pitchFamily="34" charset="0"/>
            <a:cs typeface="Arial" pitchFamily="34" charset="0"/>
          </a:endParaRPr>
        </a:p>
      </dsp:txBody>
      <dsp:txXfrm>
        <a:off x="26501" y="1948060"/>
        <a:ext cx="8405198" cy="489878"/>
      </dsp:txXfrm>
    </dsp:sp>
    <dsp:sp modelId="{B4C9C996-4AD6-4F30-8D4A-3983F023938C}">
      <dsp:nvSpPr>
        <dsp:cNvPr id="0" name=""/>
        <dsp:cNvSpPr/>
      </dsp:nvSpPr>
      <dsp:spPr>
        <a:xfrm>
          <a:off x="0" y="2547959"/>
          <a:ext cx="8458200" cy="542880"/>
        </a:xfrm>
        <a:prstGeom prst="roundRect">
          <a:avLst/>
        </a:prstGeom>
        <a:gradFill rotWithShape="0">
          <a:gsLst>
            <a:gs pos="20000">
              <a:schemeClr val="accent2">
                <a:hueOff val="0"/>
                <a:satOff val="0"/>
                <a:lumOff val="0"/>
                <a:alphaOff val="0"/>
                <a:tint val="9000"/>
              </a:schemeClr>
            </a:gs>
            <a:gs pos="100000">
              <a:schemeClr val="accent2">
                <a:hueOff val="0"/>
                <a:satOff val="0"/>
                <a:lumOff val="0"/>
                <a:alphaOff val="0"/>
                <a:tint val="70000"/>
                <a:satMod val="100000"/>
              </a:schemeClr>
            </a:gs>
          </a:gsLst>
          <a:path path="circle">
            <a:fillToRect l="-15000" t="-15000" r="115000" b="115000"/>
          </a:path>
        </a:gradFill>
        <a:ln>
          <a:noFill/>
        </a:ln>
        <a:effectLst>
          <a:outerShdw blurRad="130000" dist="101600" dir="2700000" algn="tl"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latin typeface="Arial" pitchFamily="34" charset="0"/>
              <a:cs typeface="Arial" pitchFamily="34" charset="0"/>
            </a:rPr>
            <a:t>Proposed work and Methodology</a:t>
          </a:r>
          <a:endParaRPr lang="en-US" sz="1800" b="1" kern="1200" dirty="0">
            <a:latin typeface="Arial" pitchFamily="34" charset="0"/>
            <a:cs typeface="Arial" pitchFamily="34" charset="0"/>
          </a:endParaRPr>
        </a:p>
      </dsp:txBody>
      <dsp:txXfrm>
        <a:off x="26501" y="2574460"/>
        <a:ext cx="8405198" cy="489878"/>
      </dsp:txXfrm>
    </dsp:sp>
    <dsp:sp modelId="{736D4D8A-2E6F-4C73-9348-11B14E6C9782}">
      <dsp:nvSpPr>
        <dsp:cNvPr id="0" name=""/>
        <dsp:cNvSpPr/>
      </dsp:nvSpPr>
      <dsp:spPr>
        <a:xfrm>
          <a:off x="0" y="3174359"/>
          <a:ext cx="8458200" cy="542880"/>
        </a:xfrm>
        <a:prstGeom prst="roundRect">
          <a:avLst/>
        </a:prstGeom>
        <a:gradFill rotWithShape="0">
          <a:gsLst>
            <a:gs pos="20000">
              <a:schemeClr val="accent2">
                <a:hueOff val="0"/>
                <a:satOff val="0"/>
                <a:lumOff val="0"/>
                <a:alphaOff val="0"/>
                <a:tint val="9000"/>
              </a:schemeClr>
            </a:gs>
            <a:gs pos="100000">
              <a:schemeClr val="accent2">
                <a:hueOff val="0"/>
                <a:satOff val="0"/>
                <a:lumOff val="0"/>
                <a:alphaOff val="0"/>
                <a:tint val="70000"/>
                <a:satMod val="100000"/>
              </a:schemeClr>
            </a:gs>
          </a:gsLst>
          <a:path path="circle">
            <a:fillToRect l="-15000" t="-15000" r="115000" b="115000"/>
          </a:path>
        </a:gradFill>
        <a:ln>
          <a:noFill/>
        </a:ln>
        <a:effectLst>
          <a:outerShdw blurRad="130000" dist="101600" dir="2700000" algn="tl"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latin typeface="Arial" pitchFamily="34" charset="0"/>
              <a:cs typeface="Arial" pitchFamily="34" charset="0"/>
            </a:rPr>
            <a:t>Data Collection &amp; Demos</a:t>
          </a:r>
          <a:endParaRPr lang="en-US" sz="1800" b="1" kern="1200" dirty="0">
            <a:latin typeface="Arial" pitchFamily="34" charset="0"/>
            <a:cs typeface="Arial" pitchFamily="34" charset="0"/>
          </a:endParaRPr>
        </a:p>
      </dsp:txBody>
      <dsp:txXfrm>
        <a:off x="26501" y="3200860"/>
        <a:ext cx="8405198" cy="489878"/>
      </dsp:txXfrm>
    </dsp:sp>
    <dsp:sp modelId="{62C20B38-F832-412D-9092-6B5448890D7E}">
      <dsp:nvSpPr>
        <dsp:cNvPr id="0" name=""/>
        <dsp:cNvSpPr/>
      </dsp:nvSpPr>
      <dsp:spPr>
        <a:xfrm>
          <a:off x="0" y="3800759"/>
          <a:ext cx="8458200" cy="542880"/>
        </a:xfrm>
        <a:prstGeom prst="roundRect">
          <a:avLst/>
        </a:prstGeom>
        <a:gradFill rotWithShape="0">
          <a:gsLst>
            <a:gs pos="20000">
              <a:schemeClr val="accent2">
                <a:hueOff val="0"/>
                <a:satOff val="0"/>
                <a:lumOff val="0"/>
                <a:alphaOff val="0"/>
                <a:tint val="9000"/>
              </a:schemeClr>
            </a:gs>
            <a:gs pos="100000">
              <a:schemeClr val="accent2">
                <a:hueOff val="0"/>
                <a:satOff val="0"/>
                <a:lumOff val="0"/>
                <a:alphaOff val="0"/>
                <a:tint val="70000"/>
                <a:satMod val="100000"/>
              </a:schemeClr>
            </a:gs>
          </a:gsLst>
          <a:path path="circle">
            <a:fillToRect l="-15000" t="-15000" r="115000" b="115000"/>
          </a:path>
        </a:gradFill>
        <a:ln>
          <a:noFill/>
        </a:ln>
        <a:effectLst>
          <a:outerShdw blurRad="130000" dist="101600" dir="2700000" algn="tl"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b="1" kern="1200" dirty="0" smtClean="0">
              <a:latin typeface="Arial" pitchFamily="34" charset="0"/>
              <a:cs typeface="Arial" pitchFamily="34" charset="0"/>
            </a:rPr>
            <a:t>Classification using KNN and Back Propagation </a:t>
          </a:r>
          <a:endParaRPr lang="en-US" sz="1600" b="1" kern="1200" dirty="0">
            <a:latin typeface="Arial" pitchFamily="34" charset="0"/>
            <a:cs typeface="Arial" pitchFamily="34" charset="0"/>
          </a:endParaRPr>
        </a:p>
      </dsp:txBody>
      <dsp:txXfrm>
        <a:off x="26501" y="3827260"/>
        <a:ext cx="8405198" cy="489878"/>
      </dsp:txXfrm>
    </dsp:sp>
    <dsp:sp modelId="{262FFCBE-4A82-43DC-97A0-575BCD6C155D}">
      <dsp:nvSpPr>
        <dsp:cNvPr id="0" name=""/>
        <dsp:cNvSpPr/>
      </dsp:nvSpPr>
      <dsp:spPr>
        <a:xfrm>
          <a:off x="0" y="4427160"/>
          <a:ext cx="8458200" cy="542880"/>
        </a:xfrm>
        <a:prstGeom prst="roundRect">
          <a:avLst/>
        </a:prstGeom>
        <a:gradFill rotWithShape="0">
          <a:gsLst>
            <a:gs pos="20000">
              <a:schemeClr val="accent2">
                <a:hueOff val="0"/>
                <a:satOff val="0"/>
                <a:lumOff val="0"/>
                <a:alphaOff val="0"/>
                <a:tint val="9000"/>
              </a:schemeClr>
            </a:gs>
            <a:gs pos="100000">
              <a:schemeClr val="accent2">
                <a:hueOff val="0"/>
                <a:satOff val="0"/>
                <a:lumOff val="0"/>
                <a:alphaOff val="0"/>
                <a:tint val="70000"/>
                <a:satMod val="100000"/>
              </a:schemeClr>
            </a:gs>
          </a:gsLst>
          <a:path path="circle">
            <a:fillToRect l="-15000" t="-15000" r="115000" b="115000"/>
          </a:path>
        </a:gradFill>
        <a:ln>
          <a:noFill/>
        </a:ln>
        <a:effectLst>
          <a:outerShdw blurRad="130000" dist="101600" dir="2700000" algn="tl"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latin typeface="Arial" pitchFamily="34" charset="0"/>
              <a:cs typeface="Arial" pitchFamily="34" charset="0"/>
            </a:rPr>
            <a:t>Result analysis </a:t>
          </a:r>
          <a:endParaRPr lang="en-US" sz="1800" b="1" kern="1200" dirty="0">
            <a:latin typeface="Arial" pitchFamily="34" charset="0"/>
            <a:cs typeface="Arial" pitchFamily="34" charset="0"/>
          </a:endParaRPr>
        </a:p>
      </dsp:txBody>
      <dsp:txXfrm>
        <a:off x="26501" y="4453661"/>
        <a:ext cx="8405198" cy="489878"/>
      </dsp:txXfrm>
    </dsp:sp>
    <dsp:sp modelId="{B4C4AB09-8FBD-4B60-97E0-CDEF6CF31B61}">
      <dsp:nvSpPr>
        <dsp:cNvPr id="0" name=""/>
        <dsp:cNvSpPr/>
      </dsp:nvSpPr>
      <dsp:spPr>
        <a:xfrm>
          <a:off x="0" y="5053560"/>
          <a:ext cx="8458200" cy="542880"/>
        </a:xfrm>
        <a:prstGeom prst="roundRect">
          <a:avLst/>
        </a:prstGeom>
        <a:gradFill rotWithShape="0">
          <a:gsLst>
            <a:gs pos="20000">
              <a:schemeClr val="accent2">
                <a:hueOff val="0"/>
                <a:satOff val="0"/>
                <a:lumOff val="0"/>
                <a:alphaOff val="0"/>
                <a:tint val="9000"/>
              </a:schemeClr>
            </a:gs>
            <a:gs pos="100000">
              <a:schemeClr val="accent2">
                <a:hueOff val="0"/>
                <a:satOff val="0"/>
                <a:lumOff val="0"/>
                <a:alphaOff val="0"/>
                <a:tint val="70000"/>
                <a:satMod val="100000"/>
              </a:schemeClr>
            </a:gs>
          </a:gsLst>
          <a:path path="circle">
            <a:fillToRect l="-15000" t="-15000" r="115000" b="115000"/>
          </a:path>
        </a:gradFill>
        <a:ln>
          <a:noFill/>
        </a:ln>
        <a:effectLst>
          <a:outerShdw blurRad="130000" dist="101600" dir="2700000" algn="tl"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latin typeface="Arial" pitchFamily="34" charset="0"/>
              <a:cs typeface="Arial" pitchFamily="34" charset="0"/>
            </a:rPr>
            <a:t>Conclusion</a:t>
          </a:r>
          <a:endParaRPr lang="en-US" sz="1800" b="1" kern="1200" dirty="0">
            <a:latin typeface="Arial" pitchFamily="34" charset="0"/>
            <a:cs typeface="Arial" pitchFamily="34" charset="0"/>
          </a:endParaRPr>
        </a:p>
      </dsp:txBody>
      <dsp:txXfrm>
        <a:off x="26501" y="5080061"/>
        <a:ext cx="8405198" cy="48987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347C835-0F5D-4F9F-980B-4D41F3475D74}" type="datetimeFigureOut">
              <a:rPr lang="en-IN" smtClean="0"/>
              <a:pPr/>
              <a:t>06-09-2018</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FB49CEB-2823-4AB5-9C32-0637FE8CD34C}" type="slidenum">
              <a:rPr lang="en-IN" smtClean="0"/>
              <a:pPr/>
              <a:t>‹#›</a:t>
            </a:fld>
            <a:endParaRPr lang="en-IN"/>
          </a:p>
        </p:txBody>
      </p:sp>
    </p:spTree>
    <p:extLst>
      <p:ext uri="{BB962C8B-B14F-4D97-AF65-F5344CB8AC3E}">
        <p14:creationId xmlns:p14="http://schemas.microsoft.com/office/powerpoint/2010/main" val="25079114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305530C-C1F7-4031-AD8D-5D6609D27499}" type="datetimeFigureOut">
              <a:rPr lang="en-IN" smtClean="0"/>
              <a:pPr/>
              <a:t>06-09-2018</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BA7B091-E864-4D72-A684-9328F2AA3EC4}" type="slidenum">
              <a:rPr lang="en-IN" smtClean="0"/>
              <a:pPr/>
              <a:t>‹#›</a:t>
            </a:fld>
            <a:endParaRPr lang="en-IN"/>
          </a:p>
        </p:txBody>
      </p:sp>
    </p:spTree>
    <p:extLst>
      <p:ext uri="{BB962C8B-B14F-4D97-AF65-F5344CB8AC3E}">
        <p14:creationId xmlns:p14="http://schemas.microsoft.com/office/powerpoint/2010/main" val="328718550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4FE21025-D49C-4CBF-B5DA-D4C4911FFDDF}" type="slidenum">
              <a:rPr lang="he-IL" smtClean="0">
                <a:latin typeface="Arial" charset="0"/>
                <a:cs typeface="Arial" charset="0"/>
              </a:rPr>
              <a:pPr/>
              <a:t>2</a:t>
            </a:fld>
            <a:endParaRPr lang="en-US" smtClean="0">
              <a:latin typeface="Arial" charset="0"/>
              <a:cs typeface="Arial"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pPr eaLnBrk="1" hangingPunct="1"/>
            <a:endParaRPr lang="he-IL" smtClean="0">
              <a:latin typeface="Arial" charset="0"/>
              <a:cs typeface="Arial" charset="0"/>
            </a:endParaRPr>
          </a:p>
        </p:txBody>
      </p:sp>
    </p:spTree>
    <p:extLst>
      <p:ext uri="{BB962C8B-B14F-4D97-AF65-F5344CB8AC3E}">
        <p14:creationId xmlns:p14="http://schemas.microsoft.com/office/powerpoint/2010/main" val="32549998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664233-6103-4F2D-92AA-FFAB75C87514}" type="slidenum">
              <a:rPr lang="en-US"/>
              <a:pPr/>
              <a:t>12</a:t>
            </a:fld>
            <a:endParaRPr lang="en-US"/>
          </a:p>
        </p:txBody>
      </p:sp>
      <p:sp>
        <p:nvSpPr>
          <p:cNvPr id="395266" name="Rectangle 2"/>
          <p:cNvSpPr>
            <a:spLocks noGrp="1" noRot="1" noChangeAspect="1" noChangeArrowheads="1" noTextEdit="1"/>
          </p:cNvSpPr>
          <p:nvPr>
            <p:ph type="sldImg"/>
          </p:nvPr>
        </p:nvSpPr>
        <p:spPr>
          <a:ln/>
        </p:spPr>
      </p:sp>
      <p:sp>
        <p:nvSpPr>
          <p:cNvPr id="3952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1310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093BE5F4-CD5B-4651-80C5-AB65073FABBC}" type="datetime1">
              <a:rPr lang="en-US" smtClean="0"/>
              <a:pPr/>
              <a:t>9/6/2018</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r>
              <a:rPr lang="en-US" smtClean="0"/>
              <a:t>Push recovery capable Anthropomorphic Bipedal model</a:t>
            </a:r>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5A9B8384-26D2-44B7-B750-847CEE8EDC79}" type="datetime1">
              <a:rPr lang="en-US" smtClean="0"/>
              <a:pPr/>
              <a:t>9/6/2018</a:t>
            </a:fld>
            <a:endParaRPr lang="en-US"/>
          </a:p>
        </p:txBody>
      </p:sp>
      <p:sp>
        <p:nvSpPr>
          <p:cNvPr id="5" name="Footer Placeholder 4"/>
          <p:cNvSpPr>
            <a:spLocks noGrp="1"/>
          </p:cNvSpPr>
          <p:nvPr>
            <p:ph type="ftr" sz="quarter" idx="11"/>
          </p:nvPr>
        </p:nvSpPr>
        <p:spPr/>
        <p:txBody>
          <a:bodyPr/>
          <a:lstStyle/>
          <a:p>
            <a:r>
              <a:rPr lang="en-US" smtClean="0"/>
              <a:t>Push recovery capable Anthropomorphic Bipedal model</a:t>
            </a:r>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FF2D6635-5499-4768-8BF1-0AF47A6B29E7}" type="datetime1">
              <a:rPr lang="en-US" smtClean="0"/>
              <a:pPr/>
              <a:t>9/6/2018</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r>
              <a:rPr lang="en-US" smtClean="0"/>
              <a:t>Push recovery capable Anthropomorphic Bipedal model</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0CAB848A-F356-424F-958F-E263AA427F71}" type="datetime1">
              <a:rPr lang="en-US" smtClean="0"/>
              <a:pPr/>
              <a:t>9/6/2018</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r>
              <a:rPr lang="en-US" smtClean="0"/>
              <a:t>Push recovery capable Anthropomorphic Bipedal model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15C95718-3F62-488F-AF67-A9AD7DB538D2}" type="datetime1">
              <a:rPr lang="en-US" smtClean="0"/>
              <a:pPr/>
              <a:t>9/6/2018</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r>
              <a:rPr lang="en-US" smtClean="0"/>
              <a:t>Push recovery capable Anthropomorphic Bipedal model</a:t>
            </a:r>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2EB43DA9-CBD8-4486-A5EF-1C42AEC80CC3}" type="datetime1">
              <a:rPr lang="en-US" smtClean="0"/>
              <a:pPr/>
              <a:t>9/6/2018</a:t>
            </a:fld>
            <a:endParaRPr lang="en-US"/>
          </a:p>
        </p:txBody>
      </p:sp>
      <p:sp>
        <p:nvSpPr>
          <p:cNvPr id="4" name="Footer Placeholder 3"/>
          <p:cNvSpPr>
            <a:spLocks noGrp="1"/>
          </p:cNvSpPr>
          <p:nvPr>
            <p:ph type="ftr" sz="quarter" idx="11"/>
          </p:nvPr>
        </p:nvSpPr>
        <p:spPr/>
        <p:txBody>
          <a:bodyPr/>
          <a:lstStyle/>
          <a:p>
            <a:r>
              <a:rPr lang="en-US" smtClean="0"/>
              <a:t>Push recovery capable Anthropomorphic Bipedal model</a:t>
            </a:r>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C4A326-5734-44C6-BDC7-D5FF5CEBFFAD}" type="datetime1">
              <a:rPr lang="en-US" smtClean="0"/>
              <a:pPr/>
              <a:t>9/6/2018</a:t>
            </a:fld>
            <a:endParaRPr lang="en-US"/>
          </a:p>
        </p:txBody>
      </p:sp>
      <p:sp>
        <p:nvSpPr>
          <p:cNvPr id="3" name="Footer Placeholder 2"/>
          <p:cNvSpPr>
            <a:spLocks noGrp="1"/>
          </p:cNvSpPr>
          <p:nvPr>
            <p:ph type="ftr" sz="quarter" idx="11"/>
          </p:nvPr>
        </p:nvSpPr>
        <p:spPr/>
        <p:txBody>
          <a:bodyPr/>
          <a:lstStyle/>
          <a:p>
            <a:r>
              <a:rPr lang="en-US" smtClean="0"/>
              <a:t>Push recovery capable Anthropomorphic Bipedal model</a:t>
            </a:r>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2A6FDFF-E989-4E0B-9D3E-1B5A5180663C}" type="datetime1">
              <a:rPr lang="en-US" smtClean="0"/>
              <a:pPr/>
              <a:t>9/6/2018</a:t>
            </a:fld>
            <a:endParaRPr lang="en-US"/>
          </a:p>
        </p:txBody>
      </p:sp>
      <p:sp>
        <p:nvSpPr>
          <p:cNvPr id="6" name="Footer Placeholder 5"/>
          <p:cNvSpPr>
            <a:spLocks noGrp="1"/>
          </p:cNvSpPr>
          <p:nvPr>
            <p:ph type="ftr" sz="quarter" idx="11"/>
          </p:nvPr>
        </p:nvSpPr>
        <p:spPr/>
        <p:txBody>
          <a:bodyPr/>
          <a:lstStyle/>
          <a:p>
            <a:r>
              <a:rPr lang="en-US" smtClean="0"/>
              <a:t>Push recovery capable Anthropomorphic Bipedal model</a:t>
            </a:r>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B72435D4-3246-4925-9AE2-2777AE4798C9}" type="datetime1">
              <a:rPr lang="en-US" smtClean="0"/>
              <a:pPr/>
              <a:t>9/6/2018</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r>
              <a:rPr lang="en-US" smtClean="0"/>
              <a:t>Push recovery capable Anthropomorphic Bipedal model</a:t>
            </a:r>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55C221-7440-4E2A-91C8-70BB17D35EF0}" type="datetime1">
              <a:rPr lang="en-US" smtClean="0"/>
              <a:pPr/>
              <a:t>9/6/2018</a:t>
            </a:fld>
            <a:endParaRPr lang="en-US"/>
          </a:p>
        </p:txBody>
      </p:sp>
      <p:sp>
        <p:nvSpPr>
          <p:cNvPr id="5" name="Footer Placeholder 4"/>
          <p:cNvSpPr>
            <a:spLocks noGrp="1"/>
          </p:cNvSpPr>
          <p:nvPr>
            <p:ph type="ftr" sz="quarter" idx="11"/>
          </p:nvPr>
        </p:nvSpPr>
        <p:spPr/>
        <p:txBody>
          <a:bodyPr/>
          <a:lstStyle/>
          <a:p>
            <a:r>
              <a:rPr lang="en-US" smtClean="0"/>
              <a:t>Push recovery capable Anthropomorphic Bipedal model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34867BED-9E1A-41A8-B9D0-CB86DF5919A7}" type="datetime1">
              <a:rPr lang="en-US" smtClean="0"/>
              <a:pPr/>
              <a:t>9/6/2018</a:t>
            </a:fld>
            <a:endParaRPr lang="en-US"/>
          </a:p>
        </p:txBody>
      </p:sp>
      <p:sp>
        <p:nvSpPr>
          <p:cNvPr id="5" name="Footer Placeholder 4"/>
          <p:cNvSpPr>
            <a:spLocks noGrp="1"/>
          </p:cNvSpPr>
          <p:nvPr>
            <p:ph type="ftr" sz="quarter" idx="11"/>
          </p:nvPr>
        </p:nvSpPr>
        <p:spPr>
          <a:xfrm>
            <a:off x="457201" y="6248207"/>
            <a:ext cx="5573483" cy="365125"/>
          </a:xfrm>
        </p:spPr>
        <p:txBody>
          <a:bodyPr/>
          <a:lstStyle/>
          <a:p>
            <a:r>
              <a:rPr lang="en-US" smtClean="0"/>
              <a:t>Push recovery capable Anthropomorphic Bipedal model</a:t>
            </a:r>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23D65C4B-61D6-4BF9-AE51-0BC70183D4AB}" type="datetime1">
              <a:rPr lang="en-US" smtClean="0"/>
              <a:pPr/>
              <a:t>9/6/2018</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r>
              <a:rPr lang="en-US" smtClean="0"/>
              <a:t>Push recovery capable Anthropomorphic Bipedal model</a:t>
            </a:r>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comments" Target="../comments/comment1.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txBox="1">
            <a:spLocks noChangeArrowheads="1"/>
          </p:cNvSpPr>
          <p:nvPr/>
        </p:nvSpPr>
        <p:spPr bwMode="gray">
          <a:xfrm>
            <a:off x="0" y="3657600"/>
            <a:ext cx="9144000" cy="1108075"/>
          </a:xfrm>
          <a:prstGeom prst="rect">
            <a:avLst/>
          </a:prstGeom>
          <a:solidFill>
            <a:srgbClr val="C00000"/>
          </a:solidFill>
          <a:ln w="9525">
            <a:noFill/>
            <a:miter lim="800000"/>
            <a:headEnd/>
            <a:tailEnd/>
          </a:ln>
        </p:spPr>
        <p:txBody>
          <a:bodyPr lIns="540000" tIns="0" rIns="432000" bIns="0" anchor="ctr"/>
          <a:lstStyle/>
          <a:p>
            <a:pPr marL="354013" algn="ctr">
              <a:lnSpc>
                <a:spcPct val="85000"/>
              </a:lnSpc>
              <a:spcBef>
                <a:spcPct val="0"/>
              </a:spcBef>
              <a:buClrTx/>
              <a:buSzTx/>
              <a:buFontTx/>
              <a:buNone/>
              <a:defRPr/>
            </a:pPr>
            <a:r>
              <a:rPr lang="en-US" sz="2400" b="1" dirty="0" smtClean="0">
                <a:solidFill>
                  <a:schemeClr val="bg1"/>
                </a:solidFill>
                <a:latin typeface="Arial" pitchFamily="34" charset="0"/>
                <a:cs typeface="Arial" pitchFamily="34" charset="0"/>
              </a:rPr>
              <a:t>ANUBHA PARASHAR</a:t>
            </a:r>
          </a:p>
          <a:p>
            <a:pPr marL="354013" algn="ctr">
              <a:lnSpc>
                <a:spcPct val="85000"/>
              </a:lnSpc>
              <a:spcBef>
                <a:spcPct val="0"/>
              </a:spcBef>
              <a:buClrTx/>
              <a:buSzTx/>
              <a:buFontTx/>
              <a:buNone/>
              <a:defRPr/>
            </a:pPr>
            <a:r>
              <a:rPr lang="en-US" dirty="0" smtClean="0">
                <a:solidFill>
                  <a:schemeClr val="bg1"/>
                </a:solidFill>
                <a:latin typeface="Arial" pitchFamily="34" charset="0"/>
                <a:cs typeface="Arial" pitchFamily="34" charset="0"/>
              </a:rPr>
              <a:t>Pursuing PhD </a:t>
            </a:r>
            <a:endParaRPr lang="en-US" dirty="0">
              <a:solidFill>
                <a:schemeClr val="bg1"/>
              </a:solidFill>
              <a:latin typeface="Arial" pitchFamily="34" charset="0"/>
              <a:cs typeface="Arial" pitchFamily="34" charset="0"/>
            </a:endParaRPr>
          </a:p>
          <a:p>
            <a:pPr marL="354013" algn="ctr">
              <a:lnSpc>
                <a:spcPct val="85000"/>
              </a:lnSpc>
              <a:spcBef>
                <a:spcPct val="0"/>
              </a:spcBef>
              <a:buClrTx/>
              <a:buSzTx/>
              <a:buFontTx/>
              <a:buNone/>
              <a:defRPr/>
            </a:pPr>
            <a:r>
              <a:rPr lang="en-US" b="1" kern="0" dirty="0" smtClean="0">
                <a:solidFill>
                  <a:schemeClr val="bg1"/>
                </a:solidFill>
                <a:latin typeface="+mj-lt"/>
                <a:ea typeface="+mj-ea"/>
                <a:cs typeface="+mj-cs"/>
              </a:rPr>
              <a:t>SCHOOL OF COMPUTING AND INFORMATION TECHNOLOGY</a:t>
            </a:r>
            <a:endParaRPr lang="en-US" b="1" kern="0" dirty="0">
              <a:solidFill>
                <a:schemeClr val="bg1"/>
              </a:solidFill>
              <a:latin typeface="+mj-lt"/>
              <a:ea typeface="+mj-ea"/>
              <a:cs typeface="+mj-cs"/>
            </a:endParaRPr>
          </a:p>
        </p:txBody>
      </p:sp>
      <p:sp>
        <p:nvSpPr>
          <p:cNvPr id="9" name="Rectangle 4"/>
          <p:cNvSpPr>
            <a:spLocks noChangeArrowheads="1"/>
          </p:cNvSpPr>
          <p:nvPr/>
        </p:nvSpPr>
        <p:spPr bwMode="auto">
          <a:xfrm>
            <a:off x="609600" y="4876800"/>
            <a:ext cx="8534400" cy="1138773"/>
          </a:xfrm>
          <a:prstGeom prst="rect">
            <a:avLst/>
          </a:prstGeom>
          <a:noFill/>
          <a:ln w="9525">
            <a:noFill/>
            <a:miter lim="800000"/>
            <a:headEnd/>
            <a:tailEnd/>
          </a:ln>
        </p:spPr>
        <p:txBody>
          <a:bodyPr wrap="square">
            <a:spAutoFit/>
          </a:bodyPr>
          <a:lstStyle/>
          <a:p>
            <a:pPr algn="ctr"/>
            <a:r>
              <a:rPr lang="en-US" altLang="en-US" sz="2000" b="1" dirty="0" smtClean="0">
                <a:latin typeface="Bookman Old Style" pitchFamily="18" charset="0"/>
              </a:rPr>
              <a:t>Computer Science and Engineering</a:t>
            </a:r>
          </a:p>
          <a:p>
            <a:pPr algn="ctr"/>
            <a:r>
              <a:rPr lang="en-US" altLang="en-US" sz="2000" b="1" dirty="0" smtClean="0">
                <a:latin typeface="Bookman Old Style" pitchFamily="18" charset="0"/>
              </a:rPr>
              <a:t>MANIPAL UNIVERSITY, </a:t>
            </a:r>
            <a:r>
              <a:rPr lang="en-US" altLang="en-US" sz="2000" b="1" dirty="0" smtClean="0">
                <a:latin typeface="Bookman Old Style" pitchFamily="18" charset="0"/>
              </a:rPr>
              <a:t>JAIPUR,  INDIA</a:t>
            </a:r>
            <a:endParaRPr lang="en-US" altLang="en-US" sz="2000" b="1" dirty="0" smtClean="0">
              <a:latin typeface="Bookman Old Style" pitchFamily="18" charset="0"/>
            </a:endParaRPr>
          </a:p>
          <a:p>
            <a:pPr eaLnBrk="1" hangingPunct="1"/>
            <a:endParaRPr lang="en-US" altLang="en-US" sz="2800" dirty="0">
              <a:latin typeface="Bookman Old Style" pitchFamily="18" charset="0"/>
            </a:endParaRPr>
          </a:p>
        </p:txBody>
      </p:sp>
      <p:sp>
        <p:nvSpPr>
          <p:cNvPr id="10" name="Date Placeholder 9"/>
          <p:cNvSpPr>
            <a:spLocks noGrp="1"/>
          </p:cNvSpPr>
          <p:nvPr>
            <p:ph type="dt" sz="half" idx="10"/>
          </p:nvPr>
        </p:nvSpPr>
        <p:spPr/>
        <p:txBody>
          <a:bodyPr/>
          <a:lstStyle/>
          <a:p>
            <a:pPr algn="just"/>
            <a:fld id="{5E0C4E1B-F6F4-4C4A-8896-F0CDDF9AF9BB}" type="datetime1">
              <a:rPr lang="en-US" smtClean="0"/>
              <a:pPr algn="just"/>
              <a:t>9/6/2018</a:t>
            </a:fld>
            <a:endParaRPr lang="en-US" dirty="0"/>
          </a:p>
        </p:txBody>
      </p:sp>
      <p:sp>
        <p:nvSpPr>
          <p:cNvPr id="15" name="Title 14"/>
          <p:cNvSpPr>
            <a:spLocks noGrp="1"/>
          </p:cNvSpPr>
          <p:nvPr>
            <p:ph type="title"/>
          </p:nvPr>
        </p:nvSpPr>
        <p:spPr>
          <a:xfrm>
            <a:off x="0" y="1600200"/>
            <a:ext cx="9144000" cy="1600200"/>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sp3d extrusionH="57150">
              <a:bevelT w="38100" h="38100" prst="relaxedInset"/>
            </a:sp3d>
          </a:bodyPr>
          <a:lstStyle/>
          <a:p>
            <a:pPr algn="ctr">
              <a:spcAft>
                <a:spcPts val="300"/>
              </a:spcAft>
            </a:pPr>
            <a:r>
              <a:rPr lang="en-IN" sz="3200" b="1" dirty="0">
                <a:solidFill>
                  <a:srgbClr val="000000"/>
                </a:solidFill>
                <a:latin typeface="Helvetica" panose="020B0604020202020204" pitchFamily="34" charset="0"/>
                <a:ea typeface="Times New Roman" panose="02020603050405020304" pitchFamily="18" charset="0"/>
                <a:cs typeface="Times New Roman" panose="02020603050405020304" pitchFamily="18" charset="0"/>
              </a:rPr>
              <a:t>Tracing Gesture and Extracting Gait Features to Recognize Parkinson’s Disease </a:t>
            </a:r>
            <a:r>
              <a:rPr lang="en-IN" sz="3200" b="1" dirty="0" smtClean="0">
                <a:solidFill>
                  <a:srgbClr val="000000"/>
                </a:solidFill>
                <a:latin typeface="Helvetica" panose="020B0604020202020204" pitchFamily="34" charset="0"/>
                <a:ea typeface="Times New Roman" panose="02020603050405020304" pitchFamily="18" charset="0"/>
                <a:cs typeface="Times New Roman" panose="02020603050405020304" pitchFamily="18" charset="0"/>
              </a:rPr>
              <a:t>Using Machine Learning Techniques</a:t>
            </a:r>
            <a:endParaRPr lang="en-IN" sz="3200" b="1" dirty="0">
              <a:effectLst/>
              <a:latin typeface="Helvetica" panose="020B0604020202020204" pitchFamily="34" charset="0"/>
              <a:ea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3907379186"/>
              </p:ext>
            </p:extLst>
          </p:nvPr>
        </p:nvGraphicFramePr>
        <p:xfrm>
          <a:off x="381000" y="1219200"/>
          <a:ext cx="8458200" cy="563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p:cNvSpPr>
            <a:spLocks noGrp="1"/>
          </p:cNvSpPr>
          <p:nvPr>
            <p:ph type="dt" sz="half" idx="10"/>
          </p:nvPr>
        </p:nvSpPr>
        <p:spPr>
          <a:xfrm>
            <a:off x="7696200" y="6492875"/>
            <a:ext cx="1295400" cy="365125"/>
          </a:xfrm>
        </p:spPr>
        <p:txBody>
          <a:bodyPr/>
          <a:lstStyle/>
          <a:p>
            <a:fld id="{2490660B-9F18-4039-93D1-FD225F3823F5}" type="datetime1">
              <a:rPr lang="en-US" smtClean="0"/>
              <a:pPr/>
              <a:t>9/6/2018</a:t>
            </a:fld>
            <a:endParaRPr lang="en-US" dirty="0"/>
          </a:p>
        </p:txBody>
      </p:sp>
      <p:sp>
        <p:nvSpPr>
          <p:cNvPr id="5" name="Title 4"/>
          <p:cNvSpPr>
            <a:spLocks noGrp="1"/>
          </p:cNvSpPr>
          <p:nvPr>
            <p:ph type="title"/>
          </p:nvPr>
        </p:nvSpPr>
        <p:spPr/>
        <p:txBody>
          <a:bodyPr/>
          <a:lstStyle/>
          <a:p>
            <a:r>
              <a:rPr lang="en-US" dirty="0" smtClean="0">
                <a:solidFill>
                  <a:srgbClr val="C00000"/>
                </a:solidFill>
              </a:rPr>
              <a:t>Outline</a:t>
            </a:r>
            <a:endParaRPr lang="en-US" dirty="0">
              <a:solidFill>
                <a:srgbClr val="C00000"/>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A9B8384-26D2-44B7-B750-847CEE8EDC79}" type="datetime1">
              <a:rPr lang="en-US" smtClean="0"/>
              <a:pPr/>
              <a:t>9/6/2018</a:t>
            </a:fld>
            <a:endParaRPr lang="en-US"/>
          </a:p>
        </p:txBody>
      </p:sp>
      <p:grpSp>
        <p:nvGrpSpPr>
          <p:cNvPr id="2" name="Diagram group"/>
          <p:cNvGrpSpPr/>
          <p:nvPr/>
        </p:nvGrpSpPr>
        <p:grpSpPr>
          <a:xfrm>
            <a:off x="152400" y="152400"/>
            <a:ext cx="8991600" cy="981045"/>
            <a:chOff x="0" y="4777"/>
            <a:chExt cx="5562600" cy="981045"/>
          </a:xfrm>
          <a:effectLst>
            <a:outerShdw blurRad="50800" dist="38100" dir="2700000" algn="tl" rotWithShape="0">
              <a:prstClr val="black">
                <a:alpha val="40000"/>
              </a:prstClr>
            </a:outerShdw>
          </a:effectLst>
          <a:scene3d>
            <a:camera prst="perspectiveRelaxed">
              <a:rot lat="19149996" lon="20104178" rev="1577324"/>
            </a:camera>
            <a:lightRig rig="soft" dir="t"/>
            <a:backdrop>
              <a:anchor x="0" y="0" z="-210000"/>
              <a:norm dx="0" dy="0" dz="914400"/>
              <a:up dx="0" dy="914400" dz="0"/>
            </a:backdrop>
          </a:scene3d>
        </p:grpSpPr>
        <p:grpSp>
          <p:nvGrpSpPr>
            <p:cNvPr id="4" name="Group 5"/>
            <p:cNvGrpSpPr/>
            <p:nvPr/>
          </p:nvGrpSpPr>
          <p:grpSpPr>
            <a:xfrm>
              <a:off x="0" y="4777"/>
              <a:ext cx="5562600" cy="981045"/>
              <a:chOff x="0" y="4777"/>
              <a:chExt cx="5562600" cy="981045"/>
            </a:xfrm>
          </p:grpSpPr>
          <p:sp>
            <p:nvSpPr>
              <p:cNvPr id="7" name="Rounded Rectangle 6"/>
              <p:cNvSpPr/>
              <p:nvPr/>
            </p:nvSpPr>
            <p:spPr>
              <a:xfrm>
                <a:off x="0" y="4777"/>
                <a:ext cx="5562600" cy="981045"/>
              </a:xfrm>
              <a:prstGeom prst="roundRect">
                <a:avLst/>
              </a:prstGeom>
              <a:sp3d extrusionH="152250" prstMaterial="matte">
                <a:bevelT/>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Rounded Rectangle 4"/>
              <p:cNvSpPr/>
              <p:nvPr/>
            </p:nvSpPr>
            <p:spPr>
              <a:xfrm>
                <a:off x="47891" y="52668"/>
                <a:ext cx="5466818" cy="885263"/>
              </a:xfrm>
              <a:prstGeom prst="rect">
                <a:avLst/>
              </a:prstGeom>
              <a:solidFill>
                <a:srgbClr val="C00000"/>
              </a:solidFill>
              <a:sp3d>
                <a:bevelT/>
              </a:sp3d>
            </p:spPr>
            <p:style>
              <a:lnRef idx="0">
                <a:scrgbClr r="0" g="0" b="0"/>
              </a:lnRef>
              <a:fillRef idx="0">
                <a:scrgbClr r="0" g="0" b="0"/>
              </a:fillRef>
              <a:effectRef idx="0">
                <a:scrgbClr r="0" g="0" b="0"/>
              </a:effectRef>
              <a:fontRef idx="minor">
                <a:schemeClr val="lt1"/>
              </a:fontRef>
            </p:style>
            <p:txBody>
              <a:bodyPr spcFirstLastPara="0" vert="horz" wrap="square" lIns="163830" tIns="163830" rIns="163830" bIns="163830" numCol="1" spcCol="1270" anchor="ctr" anchorCtr="0">
                <a:noAutofit/>
                <a:sp3d extrusionH="28000" prstMaterial="matte"/>
              </a:bodyPr>
              <a:lstStyle/>
              <a:p>
                <a:pPr lvl="0" defTabSz="1911350">
                  <a:lnSpc>
                    <a:spcPct val="90000"/>
                  </a:lnSpc>
                  <a:spcBef>
                    <a:spcPct val="0"/>
                  </a:spcBef>
                  <a:spcAft>
                    <a:spcPct val="35000"/>
                  </a:spcAft>
                </a:pPr>
                <a:r>
                  <a:rPr lang="en-US" sz="4400" dirty="0" smtClean="0"/>
                  <a:t>What is GAIT?</a:t>
                </a:r>
                <a:endParaRPr lang="en-US" sz="4300" kern="1200" dirty="0"/>
              </a:p>
            </p:txBody>
          </p:sp>
        </p:grpSp>
      </p:grpSp>
      <p:sp>
        <p:nvSpPr>
          <p:cNvPr id="11" name="Rectangle 10"/>
          <p:cNvSpPr/>
          <p:nvPr/>
        </p:nvSpPr>
        <p:spPr>
          <a:xfrm>
            <a:off x="228600" y="1905000"/>
            <a:ext cx="8915400" cy="4801314"/>
          </a:xfrm>
          <a:prstGeom prst="rect">
            <a:avLst/>
          </a:prstGeom>
        </p:spPr>
        <p:txBody>
          <a:bodyPr wrap="square">
            <a:spAutoFit/>
          </a:bodyPr>
          <a:lstStyle/>
          <a:p>
            <a:pPr algn="just"/>
            <a:r>
              <a:rPr lang="en-US" sz="5400" b="1" dirty="0" smtClean="0"/>
              <a:t>Gait</a:t>
            </a:r>
            <a:endParaRPr lang="en-IN" sz="5400" dirty="0" smtClean="0"/>
          </a:p>
          <a:p>
            <a:pPr algn="just">
              <a:buFont typeface="Wingdings" pitchFamily="2" charset="2"/>
              <a:buChar char="Ø"/>
            </a:pPr>
            <a:r>
              <a:rPr lang="en-US" sz="3600" b="1" dirty="0" smtClean="0"/>
              <a:t>Gait refers to the manner in which a person walks, and is one of the few biometric traits that can be used to recognize </a:t>
            </a:r>
            <a:r>
              <a:rPr lang="en-US" sz="3600" b="1" dirty="0" smtClean="0"/>
              <a:t>people/disease </a:t>
            </a:r>
            <a:r>
              <a:rPr lang="en-US" sz="3600" b="1" dirty="0" smtClean="0"/>
              <a:t>at a distance.</a:t>
            </a:r>
          </a:p>
          <a:p>
            <a:pPr algn="just">
              <a:buFont typeface="Wingdings" pitchFamily="2" charset="2"/>
              <a:buChar char="Ø"/>
            </a:pPr>
            <a:r>
              <a:rPr lang="en-US" sz="3600" b="1" dirty="0" smtClean="0"/>
              <a:t>Therefore, this trait is very appropriate in </a:t>
            </a:r>
            <a:r>
              <a:rPr lang="en-US" sz="3600" b="1" dirty="0" smtClean="0"/>
              <a:t>detecting disease</a:t>
            </a:r>
            <a:r>
              <a:rPr lang="en-US" sz="3600" b="1" dirty="0" smtClean="0"/>
              <a:t> </a:t>
            </a:r>
            <a:r>
              <a:rPr lang="en-US" sz="3600" b="1" dirty="0" smtClean="0"/>
              <a:t>and gait recognition system.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A9B8384-26D2-44B7-B750-847CEE8EDC79}" type="datetime1">
              <a:rPr lang="en-US" smtClean="0"/>
              <a:pPr/>
              <a:t>9/6/2018</a:t>
            </a:fld>
            <a:endParaRPr lang="en-US"/>
          </a:p>
        </p:txBody>
      </p:sp>
      <p:grpSp>
        <p:nvGrpSpPr>
          <p:cNvPr id="2" name="Diagram group"/>
          <p:cNvGrpSpPr/>
          <p:nvPr/>
        </p:nvGrpSpPr>
        <p:grpSpPr>
          <a:xfrm>
            <a:off x="152400" y="152400"/>
            <a:ext cx="8991600" cy="981045"/>
            <a:chOff x="0" y="4777"/>
            <a:chExt cx="5562600" cy="981045"/>
          </a:xfrm>
          <a:effectLst>
            <a:outerShdw blurRad="50800" dist="38100" dir="2700000" algn="tl" rotWithShape="0">
              <a:prstClr val="black">
                <a:alpha val="40000"/>
              </a:prstClr>
            </a:outerShdw>
          </a:effectLst>
          <a:scene3d>
            <a:camera prst="perspectiveRelaxed">
              <a:rot lat="19149996" lon="20104178" rev="1577324"/>
            </a:camera>
            <a:lightRig rig="soft" dir="t"/>
            <a:backdrop>
              <a:anchor x="0" y="0" z="-210000"/>
              <a:norm dx="0" dy="0" dz="914400"/>
              <a:up dx="0" dy="914400" dz="0"/>
            </a:backdrop>
          </a:scene3d>
        </p:grpSpPr>
        <p:grpSp>
          <p:nvGrpSpPr>
            <p:cNvPr id="4" name="Group 5"/>
            <p:cNvGrpSpPr/>
            <p:nvPr/>
          </p:nvGrpSpPr>
          <p:grpSpPr>
            <a:xfrm>
              <a:off x="0" y="4777"/>
              <a:ext cx="5562600" cy="981045"/>
              <a:chOff x="0" y="4777"/>
              <a:chExt cx="5562600" cy="981045"/>
            </a:xfrm>
          </p:grpSpPr>
          <p:sp>
            <p:nvSpPr>
              <p:cNvPr id="7" name="Rounded Rectangle 6"/>
              <p:cNvSpPr/>
              <p:nvPr/>
            </p:nvSpPr>
            <p:spPr>
              <a:xfrm>
                <a:off x="0" y="4777"/>
                <a:ext cx="5562600" cy="981045"/>
              </a:xfrm>
              <a:prstGeom prst="roundRect">
                <a:avLst/>
              </a:prstGeom>
              <a:sp3d extrusionH="152250" prstMaterial="matte">
                <a:bevelT/>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Rounded Rectangle 4"/>
              <p:cNvSpPr/>
              <p:nvPr/>
            </p:nvSpPr>
            <p:spPr>
              <a:xfrm>
                <a:off x="47891" y="52668"/>
                <a:ext cx="5466818" cy="885263"/>
              </a:xfrm>
              <a:prstGeom prst="rect">
                <a:avLst/>
              </a:prstGeom>
              <a:solidFill>
                <a:srgbClr val="C00000"/>
              </a:solidFill>
              <a:sp3d>
                <a:bevelT/>
              </a:sp3d>
            </p:spPr>
            <p:style>
              <a:lnRef idx="0">
                <a:scrgbClr r="0" g="0" b="0"/>
              </a:lnRef>
              <a:fillRef idx="0">
                <a:scrgbClr r="0" g="0" b="0"/>
              </a:fillRef>
              <a:effectRef idx="0">
                <a:scrgbClr r="0" g="0" b="0"/>
              </a:effectRef>
              <a:fontRef idx="minor">
                <a:schemeClr val="lt1"/>
              </a:fontRef>
            </p:style>
            <p:txBody>
              <a:bodyPr spcFirstLastPara="0" vert="horz" wrap="square" lIns="163830" tIns="163830" rIns="163830" bIns="163830" numCol="1" spcCol="1270" anchor="ctr" anchorCtr="0">
                <a:noAutofit/>
                <a:sp3d extrusionH="28000" prstMaterial="matte"/>
              </a:bodyPr>
              <a:lstStyle/>
              <a:p>
                <a:pPr lvl="0" defTabSz="1911350">
                  <a:lnSpc>
                    <a:spcPct val="90000"/>
                  </a:lnSpc>
                  <a:spcBef>
                    <a:spcPct val="0"/>
                  </a:spcBef>
                  <a:spcAft>
                    <a:spcPct val="35000"/>
                  </a:spcAft>
                </a:pPr>
                <a:r>
                  <a:rPr lang="en-US" sz="4400" b="1" dirty="0" smtClean="0"/>
                  <a:t>Human gait</a:t>
                </a:r>
                <a:endParaRPr lang="en-US" sz="4300" kern="1200" dirty="0"/>
              </a:p>
            </p:txBody>
          </p:sp>
        </p:grpSp>
      </p:grpSp>
      <p:sp>
        <p:nvSpPr>
          <p:cNvPr id="11" name="Rectangle 10"/>
          <p:cNvSpPr/>
          <p:nvPr/>
        </p:nvSpPr>
        <p:spPr>
          <a:xfrm>
            <a:off x="35417" y="2029757"/>
            <a:ext cx="8915400" cy="4401205"/>
          </a:xfrm>
          <a:prstGeom prst="rect">
            <a:avLst/>
          </a:prstGeom>
        </p:spPr>
        <p:txBody>
          <a:bodyPr wrap="square">
            <a:spAutoFit/>
          </a:bodyPr>
          <a:lstStyle/>
          <a:p>
            <a:pPr marL="342900" lvl="0" indent="-342900" algn="just" eaLnBrk="0" fontAlgn="base" hangingPunct="0">
              <a:spcBef>
                <a:spcPct val="20000"/>
              </a:spcBef>
              <a:spcAft>
                <a:spcPct val="0"/>
              </a:spcAft>
              <a:buFont typeface="Wingdings" pitchFamily="2" charset="2"/>
              <a:buChar char="Ø"/>
            </a:pPr>
            <a:r>
              <a:rPr lang="en-US" sz="2000" kern="0" dirty="0" smtClean="0">
                <a:latin typeface="Arial"/>
              </a:rPr>
              <a:t>Human gait analysis refers to the study of human locomotion.</a:t>
            </a:r>
          </a:p>
          <a:p>
            <a:pPr marL="342900" lvl="0" indent="-342900" algn="just" eaLnBrk="0" fontAlgn="base" hangingPunct="0">
              <a:spcBef>
                <a:spcPct val="20000"/>
              </a:spcBef>
              <a:spcAft>
                <a:spcPct val="0"/>
              </a:spcAft>
              <a:buFont typeface="Wingdings" pitchFamily="2" charset="2"/>
              <a:buChar char="Ø"/>
            </a:pPr>
            <a:r>
              <a:rPr lang="en-US" sz="2000" kern="0" dirty="0" smtClean="0">
                <a:latin typeface="Arial"/>
              </a:rPr>
              <a:t>Applications are in a large variety of domains, including entertainment, healthcare, security like surveillance scenario and pedestrian navigation. </a:t>
            </a:r>
          </a:p>
          <a:p>
            <a:pPr marL="342900" lvl="0" indent="-342900" algn="just" eaLnBrk="0" fontAlgn="base" hangingPunct="0">
              <a:spcBef>
                <a:spcPct val="20000"/>
              </a:spcBef>
              <a:spcAft>
                <a:spcPct val="0"/>
              </a:spcAft>
              <a:buFont typeface="Wingdings" pitchFamily="2" charset="2"/>
              <a:buChar char="Ø"/>
            </a:pPr>
            <a:r>
              <a:rPr lang="en-US" sz="2000" kern="0" dirty="0" smtClean="0">
                <a:latin typeface="Arial"/>
              </a:rPr>
              <a:t>The act of walking involves the coordination of different human body parts, such as the skeleton, the muscle and the neural systems. </a:t>
            </a:r>
          </a:p>
          <a:p>
            <a:pPr marL="342900" lvl="0" indent="-342900" algn="just" eaLnBrk="0" fontAlgn="base" hangingPunct="0">
              <a:spcBef>
                <a:spcPct val="20000"/>
              </a:spcBef>
              <a:spcAft>
                <a:spcPct val="0"/>
              </a:spcAft>
              <a:buFont typeface="Wingdings" pitchFamily="2" charset="2"/>
              <a:buChar char="Ø"/>
            </a:pPr>
            <a:r>
              <a:rPr lang="en-US" sz="2000" kern="0" dirty="0" smtClean="0">
                <a:latin typeface="Arial"/>
              </a:rPr>
              <a:t>Various factors can affect the complex interaction between the body parts, for example any pathological nature will require a distinction between ― </a:t>
            </a:r>
            <a:r>
              <a:rPr lang="en-US" sz="2000" b="1" kern="0" dirty="0" smtClean="0">
                <a:latin typeface="Arial"/>
              </a:rPr>
              <a:t>normal gait</a:t>
            </a:r>
            <a:r>
              <a:rPr lang="en-US" sz="2000" kern="0" dirty="0" smtClean="0">
                <a:latin typeface="Arial"/>
              </a:rPr>
              <a:t> and </a:t>
            </a:r>
            <a:r>
              <a:rPr lang="en-US" sz="2000" b="1" kern="0" dirty="0" smtClean="0">
                <a:latin typeface="Arial"/>
              </a:rPr>
              <a:t>pathological gait</a:t>
            </a:r>
            <a:r>
              <a:rPr lang="en-US" sz="2000" kern="0" dirty="0" smtClean="0">
                <a:latin typeface="Arial"/>
              </a:rPr>
              <a:t>. </a:t>
            </a:r>
          </a:p>
          <a:p>
            <a:pPr marL="342900" lvl="0" indent="-342900" algn="just" eaLnBrk="0" fontAlgn="base" hangingPunct="0">
              <a:spcBef>
                <a:spcPct val="20000"/>
              </a:spcBef>
              <a:spcAft>
                <a:spcPct val="0"/>
              </a:spcAft>
              <a:buFont typeface="Wingdings" pitchFamily="2" charset="2"/>
              <a:buChar char="Ø"/>
            </a:pPr>
            <a:r>
              <a:rPr lang="en-US" sz="2000" kern="0" dirty="0" smtClean="0">
                <a:latin typeface="Arial"/>
              </a:rPr>
              <a:t>Normal gait refers to the general human walking parameters without differentiating the age, sex or physical parameters. </a:t>
            </a:r>
          </a:p>
          <a:p>
            <a:pPr marL="342900" lvl="0" indent="-342900" algn="just" eaLnBrk="0" fontAlgn="base" hangingPunct="0">
              <a:spcBef>
                <a:spcPct val="20000"/>
              </a:spcBef>
              <a:spcAft>
                <a:spcPct val="0"/>
              </a:spcAft>
              <a:buFont typeface="Wingdings" pitchFamily="2" charset="2"/>
              <a:buChar char="Ø"/>
            </a:pPr>
            <a:r>
              <a:rPr lang="en-US" sz="2000" kern="0" dirty="0">
                <a:latin typeface="Arial"/>
              </a:rPr>
              <a:t>P</a:t>
            </a:r>
            <a:r>
              <a:rPr lang="en-US" sz="2000" kern="0" dirty="0" smtClean="0">
                <a:latin typeface="Arial"/>
              </a:rPr>
              <a:t>athological gait refers to an abnormal gait, for example affected by pathologies such as muscle weakness or skeleton deformities or due to anxiety.</a:t>
            </a:r>
            <a:endParaRPr lang="en-IN" sz="2000" kern="0" dirty="0" smtClean="0">
              <a:latin typeface="Aria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A9B8384-26D2-44B7-B750-847CEE8EDC79}" type="datetime1">
              <a:rPr lang="en-US" smtClean="0"/>
              <a:pPr/>
              <a:t>9/6/2018</a:t>
            </a:fld>
            <a:endParaRPr lang="en-US"/>
          </a:p>
        </p:txBody>
      </p:sp>
      <p:grpSp>
        <p:nvGrpSpPr>
          <p:cNvPr id="2" name="Diagram group"/>
          <p:cNvGrpSpPr/>
          <p:nvPr/>
        </p:nvGrpSpPr>
        <p:grpSpPr>
          <a:xfrm>
            <a:off x="762000" y="152400"/>
            <a:ext cx="5562600" cy="981045"/>
            <a:chOff x="0" y="4777"/>
            <a:chExt cx="5562600" cy="981045"/>
          </a:xfrm>
          <a:scene3d>
            <a:camera prst="perspectiveRelaxed">
              <a:rot lat="19149996" lon="20104178" rev="1577324"/>
            </a:camera>
            <a:lightRig rig="soft" dir="t"/>
            <a:backdrop>
              <a:anchor x="0" y="0" z="-210000"/>
              <a:norm dx="0" dy="0" dz="914400"/>
              <a:up dx="0" dy="914400" dz="0"/>
            </a:backdrop>
          </a:scene3d>
        </p:grpSpPr>
        <p:grpSp>
          <p:nvGrpSpPr>
            <p:cNvPr id="5" name="Group 6"/>
            <p:cNvGrpSpPr/>
            <p:nvPr/>
          </p:nvGrpSpPr>
          <p:grpSpPr>
            <a:xfrm>
              <a:off x="0" y="4777"/>
              <a:ext cx="5562600" cy="981045"/>
              <a:chOff x="0" y="4777"/>
              <a:chExt cx="5562600" cy="981045"/>
            </a:xfrm>
          </p:grpSpPr>
          <p:sp>
            <p:nvSpPr>
              <p:cNvPr id="8" name="Rounded Rectangle 7"/>
              <p:cNvSpPr/>
              <p:nvPr/>
            </p:nvSpPr>
            <p:spPr>
              <a:xfrm>
                <a:off x="0" y="4777"/>
                <a:ext cx="5562600" cy="981045"/>
              </a:xfrm>
              <a:prstGeom prst="roundRect">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sp>
          <p:sp>
            <p:nvSpPr>
              <p:cNvPr id="9" name="Rounded Rectangle 4"/>
              <p:cNvSpPr/>
              <p:nvPr/>
            </p:nvSpPr>
            <p:spPr>
              <a:xfrm>
                <a:off x="47891" y="52668"/>
                <a:ext cx="5466818" cy="885263"/>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3830" tIns="163830" rIns="163830" bIns="163830" numCol="1" spcCol="1270" anchor="ctr" anchorCtr="0">
                <a:noAutofit/>
                <a:sp3d extrusionH="28000" prstMaterial="matte"/>
              </a:bodyPr>
              <a:lstStyle/>
              <a:p>
                <a:pPr lvl="0" algn="l" defTabSz="1911350" rtl="0">
                  <a:lnSpc>
                    <a:spcPct val="90000"/>
                  </a:lnSpc>
                  <a:spcBef>
                    <a:spcPct val="0"/>
                  </a:spcBef>
                  <a:spcAft>
                    <a:spcPct val="35000"/>
                  </a:spcAft>
                </a:pPr>
                <a:r>
                  <a:rPr lang="en-US" sz="4300" kern="1200" dirty="0" smtClean="0"/>
                  <a:t>Problem Statement </a:t>
                </a:r>
                <a:endParaRPr lang="en-US" sz="4300" kern="1200" dirty="0"/>
              </a:p>
            </p:txBody>
          </p:sp>
        </p:grpSp>
      </p:grpSp>
      <p:sp>
        <p:nvSpPr>
          <p:cNvPr id="10" name="TextBox 9"/>
          <p:cNvSpPr txBox="1"/>
          <p:nvPr/>
        </p:nvSpPr>
        <p:spPr>
          <a:xfrm>
            <a:off x="0" y="1752600"/>
            <a:ext cx="8915400" cy="4524315"/>
          </a:xfrm>
          <a:prstGeom prst="rect">
            <a:avLst/>
          </a:prstGeom>
          <a:noFill/>
        </p:spPr>
        <p:txBody>
          <a:bodyPr wrap="square" rtlCol="0">
            <a:spAutoFit/>
          </a:bodyPr>
          <a:lstStyle/>
          <a:p>
            <a:pPr algn="just">
              <a:buFont typeface="Wingdings" pitchFamily="2" charset="2"/>
              <a:buChar char="Ø"/>
            </a:pPr>
            <a:r>
              <a:rPr lang="de-DE" sz="2400" dirty="0"/>
              <a:t>By using gait data doctors can differentiate between a normal walking person and a person impaired with Parkinson’s disease. </a:t>
            </a:r>
            <a:endParaRPr lang="de-DE" sz="2400" dirty="0"/>
          </a:p>
          <a:p>
            <a:pPr algn="just">
              <a:buFont typeface="Wingdings" pitchFamily="2" charset="2"/>
              <a:buChar char="Ø"/>
            </a:pPr>
            <a:endParaRPr lang="de-DE" sz="2400" dirty="0" smtClean="0"/>
          </a:p>
          <a:p>
            <a:pPr algn="just">
              <a:buFont typeface="Wingdings" pitchFamily="2" charset="2"/>
              <a:buChar char="Ø"/>
            </a:pPr>
            <a:r>
              <a:rPr lang="de-DE" sz="2400" dirty="0" smtClean="0"/>
              <a:t>When </a:t>
            </a:r>
            <a:r>
              <a:rPr lang="de-DE" sz="2400" dirty="0"/>
              <a:t>the treatment and medicines are given to the patient then analyzing the gait features can be one of the important activity to see whether the patient is recovering or not. </a:t>
            </a:r>
            <a:endParaRPr lang="de-DE" sz="2400" dirty="0" smtClean="0"/>
          </a:p>
          <a:p>
            <a:pPr algn="just">
              <a:buFont typeface="Wingdings" pitchFamily="2" charset="2"/>
              <a:buChar char="Ø"/>
            </a:pPr>
            <a:endParaRPr lang="de-DE" sz="2400" dirty="0" smtClean="0"/>
          </a:p>
          <a:p>
            <a:pPr algn="just">
              <a:buFont typeface="Wingdings" pitchFamily="2" charset="2"/>
              <a:buChar char="Ø"/>
            </a:pPr>
            <a:r>
              <a:rPr lang="de-DE" sz="2400" dirty="0" smtClean="0"/>
              <a:t>Parkinson’s </a:t>
            </a:r>
            <a:r>
              <a:rPr lang="de-DE" sz="2400" dirty="0"/>
              <a:t>is a very serious and inoperable disease. It is remediless. </a:t>
            </a:r>
            <a:endParaRPr lang="de-DE" sz="2400" dirty="0" smtClean="0"/>
          </a:p>
          <a:p>
            <a:pPr algn="just">
              <a:buFont typeface="Wingdings" pitchFamily="2" charset="2"/>
              <a:buChar char="Ø"/>
            </a:pPr>
            <a:endParaRPr lang="de-DE" sz="2400" dirty="0" smtClean="0"/>
          </a:p>
          <a:p>
            <a:pPr algn="just">
              <a:buFont typeface="Wingdings" pitchFamily="2" charset="2"/>
              <a:buChar char="Ø"/>
            </a:pPr>
            <a:r>
              <a:rPr lang="de-DE" sz="2400" dirty="0" smtClean="0"/>
              <a:t>A </a:t>
            </a:r>
            <a:r>
              <a:rPr lang="de-DE" sz="2400" dirty="0"/>
              <a:t>person suffering from Parkinson’s cannot be fully cured. But the agony can be minimalized or the growth rate of the disease can be slowed down if found in the premature stages. </a:t>
            </a:r>
            <a:endParaRPr lang="de-DE" sz="2400"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A9B8384-26D2-44B7-B750-847CEE8EDC79}" type="datetime1">
              <a:rPr lang="en-US" smtClean="0"/>
              <a:pPr/>
              <a:t>9/6/2018</a:t>
            </a:fld>
            <a:endParaRPr lang="en-US"/>
          </a:p>
        </p:txBody>
      </p:sp>
      <p:grpSp>
        <p:nvGrpSpPr>
          <p:cNvPr id="2" name="Diagram group"/>
          <p:cNvGrpSpPr/>
          <p:nvPr/>
        </p:nvGrpSpPr>
        <p:grpSpPr>
          <a:xfrm>
            <a:off x="762000" y="152400"/>
            <a:ext cx="5562600" cy="981045"/>
            <a:chOff x="0" y="4777"/>
            <a:chExt cx="5562600" cy="981045"/>
          </a:xfrm>
          <a:scene3d>
            <a:camera prst="perspectiveRelaxed">
              <a:rot lat="19149996" lon="20104178" rev="1577324"/>
            </a:camera>
            <a:lightRig rig="soft" dir="t"/>
            <a:backdrop>
              <a:anchor x="0" y="0" z="-210000"/>
              <a:norm dx="0" dy="0" dz="914400"/>
              <a:up dx="0" dy="914400" dz="0"/>
            </a:backdrop>
          </a:scene3d>
        </p:grpSpPr>
        <p:grpSp>
          <p:nvGrpSpPr>
            <p:cNvPr id="5" name="Group 6"/>
            <p:cNvGrpSpPr/>
            <p:nvPr/>
          </p:nvGrpSpPr>
          <p:grpSpPr>
            <a:xfrm>
              <a:off x="0" y="4777"/>
              <a:ext cx="5562600" cy="981045"/>
              <a:chOff x="0" y="4777"/>
              <a:chExt cx="5562600" cy="981045"/>
            </a:xfrm>
          </p:grpSpPr>
          <p:sp>
            <p:nvSpPr>
              <p:cNvPr id="8" name="Rounded Rectangle 7"/>
              <p:cNvSpPr/>
              <p:nvPr/>
            </p:nvSpPr>
            <p:spPr>
              <a:xfrm>
                <a:off x="0" y="4777"/>
                <a:ext cx="5562600" cy="981045"/>
              </a:xfrm>
              <a:prstGeom prst="roundRect">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sp>
          <p:sp>
            <p:nvSpPr>
              <p:cNvPr id="9" name="Rounded Rectangle 4"/>
              <p:cNvSpPr/>
              <p:nvPr/>
            </p:nvSpPr>
            <p:spPr>
              <a:xfrm>
                <a:off x="47891" y="52668"/>
                <a:ext cx="5466818" cy="885263"/>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3830" tIns="163830" rIns="163830" bIns="163830" numCol="1" spcCol="1270" anchor="ctr" anchorCtr="0">
                <a:noAutofit/>
                <a:sp3d extrusionH="28000" prstMaterial="matte"/>
              </a:bodyPr>
              <a:lstStyle/>
              <a:p>
                <a:pPr lvl="0" algn="l" defTabSz="1911350" rtl="0">
                  <a:lnSpc>
                    <a:spcPct val="90000"/>
                  </a:lnSpc>
                  <a:spcBef>
                    <a:spcPct val="0"/>
                  </a:spcBef>
                  <a:spcAft>
                    <a:spcPct val="35000"/>
                  </a:spcAft>
                </a:pPr>
                <a:r>
                  <a:rPr lang="en-US" sz="4300" kern="1200" dirty="0" smtClean="0"/>
                  <a:t>Problem Statement </a:t>
                </a:r>
                <a:endParaRPr lang="en-US" sz="4300" kern="1200" dirty="0"/>
              </a:p>
            </p:txBody>
          </p:sp>
        </p:grpSp>
      </p:grpSp>
      <p:pic>
        <p:nvPicPr>
          <p:cNvPr id="11" name="Picture 10"/>
          <p:cNvPicPr/>
          <p:nvPr/>
        </p:nvPicPr>
        <p:blipFill>
          <a:blip r:embed="rId2">
            <a:lum contrast="20000"/>
            <a:grayscl/>
            <a:extLst>
              <a:ext uri="{28A0092B-C50C-407E-A947-70E740481C1C}">
                <a14:useLocalDpi xmlns:a14="http://schemas.microsoft.com/office/drawing/2010/main" val="0"/>
              </a:ext>
            </a:extLst>
          </a:blip>
          <a:srcRect/>
          <a:stretch>
            <a:fillRect/>
          </a:stretch>
        </p:blipFill>
        <p:spPr bwMode="auto">
          <a:xfrm>
            <a:off x="914400" y="1600200"/>
            <a:ext cx="7162800" cy="4648200"/>
          </a:xfrm>
          <a:prstGeom prst="rect">
            <a:avLst/>
          </a:prstGeom>
          <a:noFill/>
          <a:ln w="6350" cmpd="sng">
            <a:solidFill>
              <a:srgbClr val="000000"/>
            </a:solidFill>
            <a:miter lim="800000"/>
            <a:headEnd/>
            <a:tailEnd/>
          </a:ln>
          <a:effectLst/>
        </p:spPr>
      </p:pic>
    </p:spTree>
    <p:extLst>
      <p:ext uri="{BB962C8B-B14F-4D97-AF65-F5344CB8AC3E}">
        <p14:creationId xmlns:p14="http://schemas.microsoft.com/office/powerpoint/2010/main" val="17588379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A9B8384-26D2-44B7-B750-847CEE8EDC79}" type="datetime1">
              <a:rPr lang="en-US" smtClean="0"/>
              <a:pPr/>
              <a:t>9/6/2018</a:t>
            </a:fld>
            <a:endParaRPr lang="en-US"/>
          </a:p>
        </p:txBody>
      </p:sp>
      <p:sp>
        <p:nvSpPr>
          <p:cNvPr id="4" name="Content Placeholder 3"/>
          <p:cNvSpPr>
            <a:spLocks noGrp="1"/>
          </p:cNvSpPr>
          <p:nvPr>
            <p:ph sz="quarter" idx="1"/>
          </p:nvPr>
        </p:nvSpPr>
        <p:spPr>
          <a:xfrm>
            <a:off x="228600" y="1676400"/>
            <a:ext cx="8686800" cy="4572000"/>
          </a:xfrm>
        </p:spPr>
        <p:txBody>
          <a:bodyPr>
            <a:noAutofit/>
          </a:bodyPr>
          <a:lstStyle/>
          <a:p>
            <a:pPr algn="just">
              <a:buFont typeface="Wingdings" pitchFamily="2" charset="2"/>
              <a:buChar char="Ø"/>
            </a:pPr>
            <a:r>
              <a:rPr lang="en-US" sz="2400" dirty="0" smtClean="0"/>
              <a:t>Identifying normal or pathological human gait. Therefore a robust method for detecting and capturing the </a:t>
            </a:r>
            <a:r>
              <a:rPr lang="en-US" sz="2400" dirty="0" smtClean="0"/>
              <a:t>gait </a:t>
            </a:r>
            <a:r>
              <a:rPr lang="en-US" sz="2400" dirty="0" smtClean="0"/>
              <a:t>of each individual person has to be found. </a:t>
            </a:r>
          </a:p>
          <a:p>
            <a:pPr algn="just"/>
            <a:r>
              <a:rPr lang="en-US" sz="2400" dirty="0" smtClean="0"/>
              <a:t>Human gait is supposed as unique biometric identification like thumb print. </a:t>
            </a:r>
          </a:p>
          <a:p>
            <a:pPr algn="just"/>
            <a:r>
              <a:rPr lang="en-US" sz="2400" dirty="0" smtClean="0"/>
              <a:t>So in GAIT analysis to examine the human walking moment we collect and analyze the data. </a:t>
            </a:r>
          </a:p>
          <a:p>
            <a:pPr algn="just">
              <a:buFont typeface="Wingdings" pitchFamily="2" charset="2"/>
              <a:buChar char="Ø"/>
            </a:pPr>
            <a:r>
              <a:rPr lang="de-DE" sz="2400" dirty="0"/>
              <a:t>This can be done with the aid of biometric techniques. We can collect the human locomotion data and check if there is any sign of disorder. </a:t>
            </a:r>
            <a:endParaRPr lang="de-DE" sz="2400" dirty="0" smtClean="0"/>
          </a:p>
          <a:p>
            <a:pPr algn="just">
              <a:buFont typeface="Wingdings" pitchFamily="2" charset="2"/>
              <a:buChar char="Ø"/>
            </a:pPr>
            <a:endParaRPr lang="de-DE" sz="2400" dirty="0"/>
          </a:p>
          <a:p>
            <a:pPr algn="just">
              <a:buFont typeface="Wingdings" pitchFamily="2" charset="2"/>
              <a:buChar char="Ø"/>
            </a:pPr>
            <a:endParaRPr lang="en-US" sz="2000" dirty="0"/>
          </a:p>
        </p:txBody>
      </p:sp>
      <p:grpSp>
        <p:nvGrpSpPr>
          <p:cNvPr id="2" name="Diagram group"/>
          <p:cNvGrpSpPr/>
          <p:nvPr/>
        </p:nvGrpSpPr>
        <p:grpSpPr>
          <a:xfrm>
            <a:off x="762000" y="152400"/>
            <a:ext cx="5562600" cy="981045"/>
            <a:chOff x="0" y="4777"/>
            <a:chExt cx="5562600" cy="981045"/>
          </a:xfrm>
          <a:scene3d>
            <a:camera prst="perspectiveRelaxed">
              <a:rot lat="19149996" lon="20104178" rev="1577324"/>
            </a:camera>
            <a:lightRig rig="soft" dir="t"/>
            <a:backdrop>
              <a:anchor x="0" y="0" z="-210000"/>
              <a:norm dx="0" dy="0" dz="914400"/>
              <a:up dx="0" dy="914400" dz="0"/>
            </a:backdrop>
          </a:scene3d>
        </p:grpSpPr>
        <p:grpSp>
          <p:nvGrpSpPr>
            <p:cNvPr id="5" name="Group 6"/>
            <p:cNvGrpSpPr/>
            <p:nvPr/>
          </p:nvGrpSpPr>
          <p:grpSpPr>
            <a:xfrm>
              <a:off x="0" y="4777"/>
              <a:ext cx="5562600" cy="981045"/>
              <a:chOff x="0" y="4777"/>
              <a:chExt cx="5562600" cy="981045"/>
            </a:xfrm>
          </p:grpSpPr>
          <p:sp>
            <p:nvSpPr>
              <p:cNvPr id="8" name="Rounded Rectangle 7"/>
              <p:cNvSpPr/>
              <p:nvPr/>
            </p:nvSpPr>
            <p:spPr>
              <a:xfrm>
                <a:off x="0" y="4777"/>
                <a:ext cx="5562600" cy="981045"/>
              </a:xfrm>
              <a:prstGeom prst="roundRect">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sp>
          <p:sp>
            <p:nvSpPr>
              <p:cNvPr id="9" name="Rounded Rectangle 4"/>
              <p:cNvSpPr/>
              <p:nvPr/>
            </p:nvSpPr>
            <p:spPr>
              <a:xfrm>
                <a:off x="47891" y="52668"/>
                <a:ext cx="5466818" cy="885263"/>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3830" tIns="163830" rIns="163830" bIns="163830" numCol="1" spcCol="1270" anchor="ctr" anchorCtr="0">
                <a:noAutofit/>
                <a:sp3d extrusionH="28000" prstMaterial="matte"/>
              </a:bodyPr>
              <a:lstStyle/>
              <a:p>
                <a:pPr lvl="0" defTabSz="1911350">
                  <a:lnSpc>
                    <a:spcPct val="90000"/>
                  </a:lnSpc>
                  <a:spcBef>
                    <a:spcPct val="0"/>
                  </a:spcBef>
                  <a:spcAft>
                    <a:spcPct val="35000"/>
                  </a:spcAft>
                </a:pPr>
                <a:r>
                  <a:rPr lang="en-US" sz="4400" dirty="0" smtClean="0"/>
                  <a:t>Proposed Solution  </a:t>
                </a:r>
                <a:endParaRPr lang="en-US" sz="4400" dirty="0"/>
              </a:p>
            </p:txBody>
          </p:sp>
        </p:gr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A9B8384-26D2-44B7-B750-847CEE8EDC79}" type="datetime1">
              <a:rPr lang="en-US" smtClean="0"/>
              <a:pPr/>
              <a:t>9/6/2018</a:t>
            </a:fld>
            <a:endParaRPr lang="en-US"/>
          </a:p>
        </p:txBody>
      </p:sp>
      <p:sp>
        <p:nvSpPr>
          <p:cNvPr id="4" name="Content Placeholder 3"/>
          <p:cNvSpPr>
            <a:spLocks noGrp="1"/>
          </p:cNvSpPr>
          <p:nvPr>
            <p:ph sz="quarter" idx="1"/>
          </p:nvPr>
        </p:nvSpPr>
        <p:spPr>
          <a:xfrm>
            <a:off x="228600" y="1676400"/>
            <a:ext cx="8686800" cy="4572000"/>
          </a:xfrm>
        </p:spPr>
        <p:txBody>
          <a:bodyPr>
            <a:noAutofit/>
          </a:bodyPr>
          <a:lstStyle/>
          <a:p>
            <a:pPr algn="just">
              <a:buFont typeface="Wingdings" pitchFamily="2" charset="2"/>
              <a:buChar char="Ø"/>
            </a:pPr>
            <a:r>
              <a:rPr lang="de-DE" sz="2400" dirty="0" smtClean="0"/>
              <a:t>We </a:t>
            </a:r>
            <a:r>
              <a:rPr lang="de-DE" sz="2400" dirty="0"/>
              <a:t>can find out whether the person is walking normally or not. </a:t>
            </a:r>
            <a:endParaRPr lang="de-DE" sz="2400" dirty="0" smtClean="0"/>
          </a:p>
          <a:p>
            <a:pPr algn="just">
              <a:buFont typeface="Wingdings" pitchFamily="2" charset="2"/>
              <a:buChar char="Ø"/>
            </a:pPr>
            <a:r>
              <a:rPr lang="de-DE" sz="2400" dirty="0" smtClean="0"/>
              <a:t>If </a:t>
            </a:r>
            <a:r>
              <a:rPr lang="de-DE" sz="2400" dirty="0"/>
              <a:t>any disruption is found in the gait of the person we will get to know that there may be chances of disorder and then we can further diagnose the person based on the collected data to detect the disease. </a:t>
            </a:r>
            <a:endParaRPr lang="de-DE" sz="2400" dirty="0" smtClean="0"/>
          </a:p>
          <a:p>
            <a:pPr algn="just">
              <a:buFont typeface="Wingdings" pitchFamily="2" charset="2"/>
              <a:buChar char="Ø"/>
            </a:pPr>
            <a:r>
              <a:rPr lang="de-DE" sz="2400" dirty="0" smtClean="0"/>
              <a:t>Medication </a:t>
            </a:r>
            <a:r>
              <a:rPr lang="de-DE" sz="2400" dirty="0"/>
              <a:t>can also be started to fix the disorder.</a:t>
            </a:r>
            <a:endParaRPr lang="en-IN" sz="2400" b="1" dirty="0"/>
          </a:p>
          <a:p>
            <a:pPr algn="just">
              <a:buFont typeface="Wingdings" pitchFamily="2" charset="2"/>
              <a:buChar char="Ø"/>
            </a:pPr>
            <a:endParaRPr lang="de-DE" sz="2400" dirty="0"/>
          </a:p>
          <a:p>
            <a:pPr algn="just">
              <a:buFont typeface="Wingdings" pitchFamily="2" charset="2"/>
              <a:buChar char="Ø"/>
            </a:pPr>
            <a:endParaRPr lang="en-US" sz="2000" dirty="0"/>
          </a:p>
        </p:txBody>
      </p:sp>
      <p:grpSp>
        <p:nvGrpSpPr>
          <p:cNvPr id="2" name="Diagram group"/>
          <p:cNvGrpSpPr/>
          <p:nvPr/>
        </p:nvGrpSpPr>
        <p:grpSpPr>
          <a:xfrm>
            <a:off x="762000" y="152400"/>
            <a:ext cx="5562600" cy="981045"/>
            <a:chOff x="0" y="4777"/>
            <a:chExt cx="5562600" cy="981045"/>
          </a:xfrm>
          <a:scene3d>
            <a:camera prst="perspectiveRelaxed">
              <a:rot lat="19149996" lon="20104178" rev="1577324"/>
            </a:camera>
            <a:lightRig rig="soft" dir="t"/>
            <a:backdrop>
              <a:anchor x="0" y="0" z="-210000"/>
              <a:norm dx="0" dy="0" dz="914400"/>
              <a:up dx="0" dy="914400" dz="0"/>
            </a:backdrop>
          </a:scene3d>
        </p:grpSpPr>
        <p:grpSp>
          <p:nvGrpSpPr>
            <p:cNvPr id="5" name="Group 6"/>
            <p:cNvGrpSpPr/>
            <p:nvPr/>
          </p:nvGrpSpPr>
          <p:grpSpPr>
            <a:xfrm>
              <a:off x="0" y="4777"/>
              <a:ext cx="5562600" cy="981045"/>
              <a:chOff x="0" y="4777"/>
              <a:chExt cx="5562600" cy="981045"/>
            </a:xfrm>
          </p:grpSpPr>
          <p:sp>
            <p:nvSpPr>
              <p:cNvPr id="8" name="Rounded Rectangle 7"/>
              <p:cNvSpPr/>
              <p:nvPr/>
            </p:nvSpPr>
            <p:spPr>
              <a:xfrm>
                <a:off x="0" y="4777"/>
                <a:ext cx="5562600" cy="981045"/>
              </a:xfrm>
              <a:prstGeom prst="roundRect">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sp>
          <p:sp>
            <p:nvSpPr>
              <p:cNvPr id="9" name="Rounded Rectangle 4"/>
              <p:cNvSpPr/>
              <p:nvPr/>
            </p:nvSpPr>
            <p:spPr>
              <a:xfrm>
                <a:off x="47891" y="52668"/>
                <a:ext cx="5466818" cy="885263"/>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3830" tIns="163830" rIns="163830" bIns="163830" numCol="1" spcCol="1270" anchor="ctr" anchorCtr="0">
                <a:noAutofit/>
                <a:sp3d extrusionH="28000" prstMaterial="matte"/>
              </a:bodyPr>
              <a:lstStyle/>
              <a:p>
                <a:pPr lvl="0" defTabSz="1911350">
                  <a:lnSpc>
                    <a:spcPct val="90000"/>
                  </a:lnSpc>
                  <a:spcBef>
                    <a:spcPct val="0"/>
                  </a:spcBef>
                  <a:spcAft>
                    <a:spcPct val="35000"/>
                  </a:spcAft>
                </a:pPr>
                <a:r>
                  <a:rPr lang="en-US" sz="4400" dirty="0" smtClean="0"/>
                  <a:t>Proposed Solution  </a:t>
                </a:r>
                <a:endParaRPr lang="en-US" sz="4400" dirty="0"/>
              </a:p>
            </p:txBody>
          </p:sp>
        </p:grpSp>
      </p:grpSp>
    </p:spTree>
    <p:extLst>
      <p:ext uri="{BB962C8B-B14F-4D97-AF65-F5344CB8AC3E}">
        <p14:creationId xmlns:p14="http://schemas.microsoft.com/office/powerpoint/2010/main" val="20956688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Target.png"/>
          <p:cNvPicPr>
            <a:picLocks noChangeAspect="1"/>
          </p:cNvPicPr>
          <p:nvPr/>
        </p:nvPicPr>
        <p:blipFill>
          <a:blip r:embed="rId2"/>
          <a:stretch>
            <a:fillRect/>
          </a:stretch>
        </p:blipFill>
        <p:spPr>
          <a:xfrm>
            <a:off x="7391400" y="0"/>
            <a:ext cx="1752600" cy="1676400"/>
          </a:xfrm>
          <a:prstGeom prst="rect">
            <a:avLst/>
          </a:prstGeom>
        </p:spPr>
      </p:pic>
      <p:sp>
        <p:nvSpPr>
          <p:cNvPr id="5" name="Content Placeholder 4"/>
          <p:cNvSpPr>
            <a:spLocks noGrp="1"/>
          </p:cNvSpPr>
          <p:nvPr>
            <p:ph sz="quarter" idx="1"/>
          </p:nvPr>
        </p:nvSpPr>
        <p:spPr>
          <a:xfrm>
            <a:off x="0" y="1828800"/>
            <a:ext cx="9144000" cy="5410200"/>
          </a:xfrm>
        </p:spPr>
        <p:txBody>
          <a:bodyPr>
            <a:normAutofit/>
          </a:bodyPr>
          <a:lstStyle/>
          <a:p>
            <a:pPr algn="just"/>
            <a:r>
              <a:rPr lang="en-US" sz="4000" dirty="0" smtClean="0"/>
              <a:t>The aim of the paper is to evaluate and implement robust and accurate method to identify whether it’s a </a:t>
            </a:r>
            <a:r>
              <a:rPr lang="en-US" sz="4000" b="1" dirty="0" smtClean="0"/>
              <a:t>normal gait</a:t>
            </a:r>
            <a:r>
              <a:rPr lang="en-US" sz="4000" dirty="0" smtClean="0"/>
              <a:t> or </a:t>
            </a:r>
            <a:r>
              <a:rPr lang="en-US" sz="4000" b="1" dirty="0" smtClean="0"/>
              <a:t>pathological gait </a:t>
            </a:r>
            <a:r>
              <a:rPr lang="en-US" sz="4000" dirty="0"/>
              <a:t>for healthcare and </a:t>
            </a:r>
            <a:r>
              <a:rPr lang="en-US" sz="4000" dirty="0" smtClean="0"/>
              <a:t>detect Parkinson disease at early stage.</a:t>
            </a:r>
            <a:endParaRPr lang="en-IN" sz="4000" dirty="0"/>
          </a:p>
        </p:txBody>
      </p:sp>
      <p:sp>
        <p:nvSpPr>
          <p:cNvPr id="7" name="Date Placeholder 6"/>
          <p:cNvSpPr>
            <a:spLocks noGrp="1"/>
          </p:cNvSpPr>
          <p:nvPr>
            <p:ph type="dt" sz="half" idx="10"/>
          </p:nvPr>
        </p:nvSpPr>
        <p:spPr/>
        <p:txBody>
          <a:bodyPr/>
          <a:lstStyle/>
          <a:p>
            <a:fld id="{E2341D90-76AF-4FAE-AC6A-7E544818C926}" type="datetime1">
              <a:rPr lang="en-US" smtClean="0"/>
              <a:pPr/>
              <a:t>9/6/2018</a:t>
            </a:fld>
            <a:endParaRPr lang="en-US"/>
          </a:p>
        </p:txBody>
      </p:sp>
      <p:sp>
        <p:nvSpPr>
          <p:cNvPr id="8" name="TextBox 7"/>
          <p:cNvSpPr txBox="1"/>
          <p:nvPr/>
        </p:nvSpPr>
        <p:spPr>
          <a:xfrm>
            <a:off x="3657600" y="304800"/>
            <a:ext cx="3962400" cy="984885"/>
          </a:xfrm>
          <a:prstGeom prst="rect">
            <a:avLst/>
          </a:prstGeom>
          <a:noFill/>
        </p:spPr>
        <p:txBody>
          <a:bodyPr wrap="square" rtlCol="0">
            <a:spAutoFit/>
          </a:bodyPr>
          <a:lstStyle/>
          <a:p>
            <a:pPr marL="320040" lvl="0" indent="-320040">
              <a:spcBef>
                <a:spcPts val="700"/>
              </a:spcBef>
              <a:buClr>
                <a:srgbClr val="C0504D"/>
              </a:buClr>
              <a:buSzPct val="60000"/>
            </a:pPr>
            <a:r>
              <a:rPr lang="en-US" sz="4000" b="1" dirty="0" smtClean="0">
                <a:solidFill>
                  <a:srgbClr val="C00000"/>
                </a:solidFill>
              </a:rPr>
              <a:t>AIM</a:t>
            </a:r>
          </a:p>
          <a:p>
            <a:endParaRPr lang="en-IN"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438400" y="1828800"/>
            <a:ext cx="6019800" cy="2209800"/>
          </a:xfrm>
        </p:spPr>
        <p:txBody>
          <a:bodyPr/>
          <a:lstStyle/>
          <a:p>
            <a:r>
              <a:rPr lang="en-US" b="1" cap="small" dirty="0" smtClean="0"/>
              <a:t>Methodology</a:t>
            </a:r>
            <a:endParaRPr lang="en-IN" b="1" cap="small" dirty="0"/>
          </a:p>
        </p:txBody>
      </p:sp>
      <p:sp>
        <p:nvSpPr>
          <p:cNvPr id="2051" name="Rectangle 3"/>
          <p:cNvSpPr>
            <a:spLocks noGrp="1" noChangeArrowheads="1"/>
          </p:cNvSpPr>
          <p:nvPr>
            <p:ph type="subTitle" idx="1"/>
          </p:nvPr>
        </p:nvSpPr>
        <p:spPr>
          <a:xfrm>
            <a:off x="3810000" y="5257800"/>
            <a:ext cx="2514600" cy="685800"/>
          </a:xfrm>
        </p:spPr>
        <p:txBody>
          <a:bodyPr/>
          <a:lstStyle/>
          <a:p>
            <a:endParaRPr lang="en-US" sz="3200" dirty="0">
              <a:latin typeface="Monotype Corsiva" pitchFamily="66" charset="0"/>
            </a:endParaRPr>
          </a:p>
          <a:p>
            <a:endParaRPr lang="en-US" sz="1800" dirty="0"/>
          </a:p>
        </p:txBody>
      </p:sp>
      <p:sp>
        <p:nvSpPr>
          <p:cNvPr id="6" name="Date Placeholder 4"/>
          <p:cNvSpPr txBox="1">
            <a:spLocks/>
          </p:cNvSpPr>
          <p:nvPr/>
        </p:nvSpPr>
        <p:spPr bwMode="auto">
          <a:xfrm>
            <a:off x="3581400" y="6400800"/>
            <a:ext cx="2544762" cy="225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1B1D258A-2AF9-43B9-BDAD-2FB9542B700C}" type="datetime2">
              <a:rPr kumimoji="0" lang="en-US" sz="1400" b="0" i="0" u="none" strike="noStrike" kern="1200" cap="none" spc="0" normalizeH="0" baseline="0" noProof="0" smtClean="0">
                <a:ln>
                  <a:noFill/>
                </a:ln>
                <a:solidFill>
                  <a:schemeClr val="tx1"/>
                </a:solidFill>
                <a:effectLst/>
                <a:uLnTx/>
                <a:uFillTx/>
                <a:latin typeface="Arial" pitchFamily="34" charset="0"/>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Thursday, September 6, 2018</a:t>
            </a:fld>
            <a:endParaRPr kumimoji="0" lang="en-US" sz="1400" b="0" i="0" u="none" strike="noStrike" kern="1200" cap="none" spc="0" normalizeH="0" baseline="0" noProof="0" dirty="0" smtClean="0">
              <a:ln>
                <a:noFill/>
              </a:ln>
              <a:solidFill>
                <a:schemeClr val="tx1"/>
              </a:solidFill>
              <a:effectLst/>
              <a:uLnTx/>
              <a:uFillTx/>
              <a:latin typeface="Arial" pitchFamily="34" charset="0"/>
              <a:ea typeface="+mn-ea"/>
              <a:cs typeface="+mn-cs"/>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7810500" y="6374918"/>
            <a:ext cx="1181100" cy="365125"/>
          </a:xfrm>
        </p:spPr>
        <p:txBody>
          <a:bodyPr/>
          <a:lstStyle/>
          <a:p>
            <a:fld id="{5A9B8384-26D2-44B7-B750-847CEE8EDC79}" type="datetime1">
              <a:rPr lang="en-US" smtClean="0"/>
              <a:pPr/>
              <a:t>9/6/2018</a:t>
            </a:fld>
            <a:endParaRPr lang="en-US" dirty="0"/>
          </a:p>
        </p:txBody>
      </p:sp>
      <p:sp>
        <p:nvSpPr>
          <p:cNvPr id="25" name="Rectangle 17"/>
          <p:cNvSpPr>
            <a:spLocks noChangeArrowheads="1"/>
          </p:cNvSpPr>
          <p:nvPr/>
        </p:nvSpPr>
        <p:spPr bwMode="auto">
          <a:xfrm>
            <a:off x="0" y="394811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6" name="Rectangle 20"/>
          <p:cNvSpPr>
            <a:spLocks noChangeArrowheads="1"/>
          </p:cNvSpPr>
          <p:nvPr/>
        </p:nvSpPr>
        <p:spPr bwMode="auto">
          <a:xfrm>
            <a:off x="0" y="455771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7" name="Rectangle 26"/>
          <p:cNvSpPr>
            <a:spLocks noChangeArrowheads="1"/>
          </p:cNvSpPr>
          <p:nvPr/>
        </p:nvSpPr>
        <p:spPr bwMode="auto">
          <a:xfrm>
            <a:off x="0" y="5619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8" name="Rectangle 28"/>
          <p:cNvSpPr>
            <a:spLocks noChangeArrowheads="1"/>
          </p:cNvSpPr>
          <p:nvPr/>
        </p:nvSpPr>
        <p:spPr bwMode="auto">
          <a:xfrm>
            <a:off x="0" y="5467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457325" algn="l"/>
              </a:tabLst>
              <a:defRPr>
                <a:solidFill>
                  <a:schemeClr val="tx1"/>
                </a:solidFill>
                <a:latin typeface="Arial" panose="020B0604020202020204" pitchFamily="34" charset="0"/>
              </a:defRPr>
            </a:lvl1pPr>
            <a:lvl2pPr eaLnBrk="0" fontAlgn="base" hangingPunct="0">
              <a:spcBef>
                <a:spcPct val="0"/>
              </a:spcBef>
              <a:spcAft>
                <a:spcPct val="0"/>
              </a:spcAft>
              <a:tabLst>
                <a:tab pos="1457325" algn="l"/>
              </a:tabLst>
              <a:defRPr>
                <a:solidFill>
                  <a:schemeClr val="tx1"/>
                </a:solidFill>
                <a:latin typeface="Arial" panose="020B0604020202020204" pitchFamily="34" charset="0"/>
              </a:defRPr>
            </a:lvl2pPr>
            <a:lvl3pPr eaLnBrk="0" fontAlgn="base" hangingPunct="0">
              <a:spcBef>
                <a:spcPct val="0"/>
              </a:spcBef>
              <a:spcAft>
                <a:spcPct val="0"/>
              </a:spcAft>
              <a:tabLst>
                <a:tab pos="1457325" algn="l"/>
              </a:tabLst>
              <a:defRPr>
                <a:solidFill>
                  <a:schemeClr val="tx1"/>
                </a:solidFill>
                <a:latin typeface="Arial" panose="020B0604020202020204" pitchFamily="34" charset="0"/>
              </a:defRPr>
            </a:lvl3pPr>
            <a:lvl4pPr eaLnBrk="0" fontAlgn="base" hangingPunct="0">
              <a:spcBef>
                <a:spcPct val="0"/>
              </a:spcBef>
              <a:spcAft>
                <a:spcPct val="0"/>
              </a:spcAft>
              <a:tabLst>
                <a:tab pos="1457325" algn="l"/>
              </a:tabLst>
              <a:defRPr>
                <a:solidFill>
                  <a:schemeClr val="tx1"/>
                </a:solidFill>
                <a:latin typeface="Arial" panose="020B0604020202020204" pitchFamily="34" charset="0"/>
              </a:defRPr>
            </a:lvl4pPr>
            <a:lvl5pPr eaLnBrk="0" fontAlgn="base" hangingPunct="0">
              <a:spcBef>
                <a:spcPct val="0"/>
              </a:spcBef>
              <a:spcAft>
                <a:spcPct val="0"/>
              </a:spcAft>
              <a:tabLst>
                <a:tab pos="1457325" algn="l"/>
              </a:tabLst>
              <a:defRPr>
                <a:solidFill>
                  <a:schemeClr val="tx1"/>
                </a:solidFill>
                <a:latin typeface="Arial" panose="020B0604020202020204" pitchFamily="34" charset="0"/>
              </a:defRPr>
            </a:lvl5pPr>
            <a:lvl6pPr eaLnBrk="0" fontAlgn="base" hangingPunct="0">
              <a:spcBef>
                <a:spcPct val="0"/>
              </a:spcBef>
              <a:spcAft>
                <a:spcPct val="0"/>
              </a:spcAft>
              <a:tabLst>
                <a:tab pos="1457325" algn="l"/>
              </a:tabLst>
              <a:defRPr>
                <a:solidFill>
                  <a:schemeClr val="tx1"/>
                </a:solidFill>
                <a:latin typeface="Arial" panose="020B0604020202020204" pitchFamily="34" charset="0"/>
              </a:defRPr>
            </a:lvl6pPr>
            <a:lvl7pPr eaLnBrk="0" fontAlgn="base" hangingPunct="0">
              <a:spcBef>
                <a:spcPct val="0"/>
              </a:spcBef>
              <a:spcAft>
                <a:spcPct val="0"/>
              </a:spcAft>
              <a:tabLst>
                <a:tab pos="1457325" algn="l"/>
              </a:tabLst>
              <a:defRPr>
                <a:solidFill>
                  <a:schemeClr val="tx1"/>
                </a:solidFill>
                <a:latin typeface="Arial" panose="020B0604020202020204" pitchFamily="34" charset="0"/>
              </a:defRPr>
            </a:lvl7pPr>
            <a:lvl8pPr eaLnBrk="0" fontAlgn="base" hangingPunct="0">
              <a:spcBef>
                <a:spcPct val="0"/>
              </a:spcBef>
              <a:spcAft>
                <a:spcPct val="0"/>
              </a:spcAft>
              <a:tabLst>
                <a:tab pos="1457325" algn="l"/>
              </a:tabLst>
              <a:defRPr>
                <a:solidFill>
                  <a:schemeClr val="tx1"/>
                </a:solidFill>
                <a:latin typeface="Arial" panose="020B0604020202020204" pitchFamily="34" charset="0"/>
              </a:defRPr>
            </a:lvl8pPr>
            <a:lvl9pPr eaLnBrk="0" fontAlgn="base" hangingPunct="0">
              <a:spcBef>
                <a:spcPct val="0"/>
              </a:spcBef>
              <a:spcAft>
                <a:spcPct val="0"/>
              </a:spcAft>
              <a:tabLst>
                <a:tab pos="1457325"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1457325" algn="l"/>
              </a:tabLst>
            </a:pPr>
            <a:endParaRPr kumimoji="0" lang="en-US" altLang="en-US" sz="1200" b="0" i="0" u="none" strike="noStrike" cap="none" normalizeH="0" baseline="0" smtClean="0">
              <a:ln>
                <a:noFill/>
              </a:ln>
              <a:solidFill>
                <a:schemeClr val="tx1"/>
              </a:solidFill>
              <a:effectLst/>
              <a:latin typeface="Times" panose="02020603050405020304" pitchFamily="18" charset="0"/>
              <a:ea typeface="Times New Roman" panose="02020603050405020304" pitchFamily="18" charset="0"/>
              <a:cs typeface="Times New Roman" panose="02020603050405020304" pitchFamily="18" charset="0"/>
            </a:endParaRPr>
          </a:p>
          <a:p>
            <a:pPr marL="0" marR="0" lvl="0" indent="144463" algn="just" defTabSz="914400" rtl="0" eaLnBrk="0" fontAlgn="base" latinLnBrk="0" hangingPunct="0">
              <a:lnSpc>
                <a:spcPct val="100000"/>
              </a:lnSpc>
              <a:spcBef>
                <a:spcPct val="0"/>
              </a:spcBef>
              <a:spcAft>
                <a:spcPct val="0"/>
              </a:spcAft>
              <a:buClrTx/>
              <a:buSzTx/>
              <a:buFontTx/>
              <a:buNone/>
              <a:tabLst>
                <a:tab pos="1457325" algn="l"/>
              </a:tabLst>
            </a:pPr>
            <a:r>
              <a:rPr kumimoji="0" lang="en-US" altLang="en-US" sz="1200" b="0" i="0" u="none" strike="noStrike" cap="none" normalizeH="0" baseline="0" smtClean="0">
                <a:ln>
                  <a:noFill/>
                </a:ln>
                <a:solidFill>
                  <a:schemeClr val="tx1"/>
                </a:solidFill>
                <a:effectLst/>
                <a:latin typeface="Times" panose="02020603050405020304" pitchFamily="18" charset="0"/>
                <a:ea typeface="Times New Roman" panose="02020603050405020304" pitchFamily="18" charset="0"/>
                <a:cs typeface="Times New Roman" panose="02020603050405020304" pitchFamily="18" charset="0"/>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12" name="Picture 11" descr="Untitled Diagram"/>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09800"/>
            <a:ext cx="8001000" cy="3409950"/>
          </a:xfrm>
          <a:prstGeom prst="rect">
            <a:avLst/>
          </a:prstGeom>
          <a:noFill/>
          <a:ln>
            <a:noFill/>
          </a:ln>
        </p:spPr>
      </p:pic>
    </p:spTree>
    <p:extLst>
      <p:ext uri="{BB962C8B-B14F-4D97-AF65-F5344CB8AC3E}">
        <p14:creationId xmlns:p14="http://schemas.microsoft.com/office/powerpoint/2010/main" val="37994763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a:xfrm>
            <a:off x="609600" y="152400"/>
            <a:ext cx="8229600" cy="685800"/>
          </a:xfrm>
        </p:spPr>
        <p:txBody>
          <a:bodyPr>
            <a:normAutofit fontScale="90000"/>
          </a:bodyPr>
          <a:lstStyle/>
          <a:p>
            <a:pPr algn="ctr"/>
            <a:r>
              <a:rPr lang="en-US" b="1" cap="small" dirty="0" smtClean="0"/>
              <a:t>Methodology</a:t>
            </a:r>
            <a:endParaRPr lang="en-US" dirty="0"/>
          </a:p>
        </p:txBody>
      </p:sp>
      <p:sp>
        <p:nvSpPr>
          <p:cNvPr id="19" name="TextBox 18"/>
          <p:cNvSpPr txBox="1"/>
          <p:nvPr/>
        </p:nvSpPr>
        <p:spPr>
          <a:xfrm>
            <a:off x="381000" y="1828800"/>
            <a:ext cx="8458200" cy="4401205"/>
          </a:xfrm>
          <a:prstGeom prst="rect">
            <a:avLst/>
          </a:prstGeom>
          <a:noFill/>
        </p:spPr>
        <p:txBody>
          <a:bodyPr wrap="square" rtlCol="0">
            <a:spAutoFit/>
          </a:bodyPr>
          <a:lstStyle/>
          <a:p>
            <a:pPr algn="just">
              <a:buFont typeface="Wingdings" pitchFamily="2" charset="2"/>
              <a:buChar char="Ø"/>
            </a:pPr>
            <a:r>
              <a:rPr lang="en-IN" sz="2800" dirty="0" smtClean="0"/>
              <a:t>Firstly we collect the GAIT data then features are extracted and we classify the GAIT dataset. </a:t>
            </a:r>
          </a:p>
          <a:p>
            <a:pPr algn="just"/>
            <a:endParaRPr lang="en-IN" sz="2800" dirty="0" smtClean="0"/>
          </a:p>
          <a:p>
            <a:pPr algn="just">
              <a:buFont typeface="Wingdings" pitchFamily="2" charset="2"/>
              <a:buChar char="Ø"/>
            </a:pPr>
            <a:r>
              <a:rPr lang="en-IN" sz="2800" dirty="0" smtClean="0"/>
              <a:t>Training and testing of system is done. </a:t>
            </a:r>
          </a:p>
          <a:p>
            <a:pPr algn="just"/>
            <a:endParaRPr lang="en-IN" sz="2800" dirty="0" smtClean="0"/>
          </a:p>
          <a:p>
            <a:pPr algn="just">
              <a:buFont typeface="Wingdings" pitchFamily="2" charset="2"/>
              <a:buChar char="Ø"/>
            </a:pPr>
            <a:r>
              <a:rPr lang="en-IN" sz="2800" dirty="0" smtClean="0"/>
              <a:t>After the Classification  is done result is shown as normal or pathological GAIT. </a:t>
            </a:r>
          </a:p>
          <a:p>
            <a:pPr algn="just"/>
            <a:endParaRPr lang="en-IN" sz="2800" dirty="0" smtClean="0"/>
          </a:p>
          <a:p>
            <a:pPr algn="just">
              <a:buFont typeface="Wingdings" pitchFamily="2" charset="2"/>
              <a:buChar char="Ø"/>
            </a:pPr>
            <a:r>
              <a:rPr lang="en-IN" sz="2800" dirty="0" smtClean="0"/>
              <a:t>Then </a:t>
            </a:r>
            <a:r>
              <a:rPr lang="en-US" sz="2800" dirty="0" smtClean="0"/>
              <a:t>10 fold cross-validation test is also conducted to validate the statistical significance of the results.</a:t>
            </a:r>
            <a:endParaRPr lang="en-IN" sz="2800" dirty="0"/>
          </a:p>
        </p:txBody>
      </p:sp>
      <p:sp>
        <p:nvSpPr>
          <p:cNvPr id="21" name="Date Placeholder 4"/>
          <p:cNvSpPr>
            <a:spLocks noGrp="1"/>
          </p:cNvSpPr>
          <p:nvPr>
            <p:ph type="dt" sz="quarter" idx="10"/>
          </p:nvPr>
        </p:nvSpPr>
        <p:spPr>
          <a:xfrm>
            <a:off x="3856038" y="6553200"/>
            <a:ext cx="2544762" cy="225425"/>
          </a:xfrm>
          <a:noFill/>
        </p:spPr>
        <p:txBody>
          <a:bodyPr/>
          <a:lstStyle/>
          <a:p>
            <a:fld id="{1B1D258A-2AF9-43B9-BDAD-2FB9542B700C}" type="datetime2">
              <a:rPr lang="en-US" smtClean="0">
                <a:latin typeface="Arial" pitchFamily="34" charset="0"/>
              </a:rPr>
              <a:pPr/>
              <a:t>Thursday, September 6, 2018</a:t>
            </a:fld>
            <a:endParaRPr lang="en-US" dirty="0" smtClean="0">
              <a:latin typeface="Arial" pitchFamily="34" charset="0"/>
            </a:endParaRPr>
          </a:p>
        </p:txBody>
      </p:sp>
      <p:sp>
        <p:nvSpPr>
          <p:cNvPr id="22" name="Slide Number Placeholder 5"/>
          <p:cNvSpPr>
            <a:spLocks noGrp="1"/>
          </p:cNvSpPr>
          <p:nvPr>
            <p:ph type="sldNum" sz="quarter" idx="12"/>
          </p:nvPr>
        </p:nvSpPr>
        <p:spPr>
          <a:xfrm>
            <a:off x="6964363" y="6518275"/>
            <a:ext cx="2133600" cy="244475"/>
          </a:xfrm>
          <a:noFill/>
        </p:spPr>
        <p:txBody>
          <a:bodyPr>
            <a:normAutofit fontScale="85000" lnSpcReduction="20000"/>
          </a:bodyPr>
          <a:lstStyle/>
          <a:p>
            <a:fld id="{DC1B73F0-0209-41B0-9CD2-2EFAE975F811}" type="slidenum">
              <a:rPr lang="en-US" smtClean="0">
                <a:latin typeface="Arial" pitchFamily="34" charset="0"/>
              </a:rPr>
              <a:pPr/>
              <a:t>12</a:t>
            </a:fld>
            <a:endParaRPr lang="en-US" dirty="0" smtClean="0">
              <a:latin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gn="ctr" eaLnBrk="1" hangingPunct="1"/>
            <a:r>
              <a:rPr lang="en-US" sz="3200" b="1" dirty="0" smtClean="0"/>
              <a:t>Data Collection</a:t>
            </a:r>
            <a:endParaRPr lang="th-TH" sz="3200" dirty="0" smtClean="0"/>
          </a:p>
        </p:txBody>
      </p:sp>
      <p:sp>
        <p:nvSpPr>
          <p:cNvPr id="28675" name="Rectangle 3"/>
          <p:cNvSpPr>
            <a:spLocks noGrp="1" noChangeArrowheads="1"/>
          </p:cNvSpPr>
          <p:nvPr>
            <p:ph type="body" idx="1"/>
          </p:nvPr>
        </p:nvSpPr>
        <p:spPr/>
        <p:txBody>
          <a:bodyPr/>
          <a:lstStyle/>
          <a:p>
            <a:pPr algn="just"/>
            <a:r>
              <a:rPr lang="en-US" b="1" dirty="0" smtClean="0"/>
              <a:t>The data set is collected from following link</a:t>
            </a:r>
          </a:p>
          <a:p>
            <a:pPr algn="just"/>
            <a:r>
              <a:rPr lang="en-US" dirty="0"/>
              <a:t>http://www.physionet.org/pn3/gaitpdb/.</a:t>
            </a:r>
            <a:endParaRPr lang="th-TH" dirty="0" smtClean="0"/>
          </a:p>
        </p:txBody>
      </p:sp>
      <p:sp>
        <p:nvSpPr>
          <p:cNvPr id="28677" name="Date Placeholder 4"/>
          <p:cNvSpPr>
            <a:spLocks noGrp="1"/>
          </p:cNvSpPr>
          <p:nvPr>
            <p:ph type="dt" sz="quarter" idx="10"/>
          </p:nvPr>
        </p:nvSpPr>
        <p:spPr>
          <a:noFill/>
        </p:spPr>
        <p:txBody>
          <a:bodyPr/>
          <a:lstStyle/>
          <a:p>
            <a:fld id="{1B1D258A-2AF9-43B9-BDAD-2FB9542B700C}" type="datetime2">
              <a:rPr lang="en-US" smtClean="0">
                <a:latin typeface="Arial" pitchFamily="34" charset="0"/>
              </a:rPr>
              <a:pPr/>
              <a:t>Thursday, September 6, 2018</a:t>
            </a:fld>
            <a:endParaRPr lang="en-US" dirty="0" smtClean="0">
              <a:latin typeface="Arial" pitchFamily="34" charset="0"/>
            </a:endParaRPr>
          </a:p>
        </p:txBody>
      </p:sp>
      <p:sp>
        <p:nvSpPr>
          <p:cNvPr id="28678" name="Slide Number Placeholder 5"/>
          <p:cNvSpPr>
            <a:spLocks noGrp="1"/>
          </p:cNvSpPr>
          <p:nvPr>
            <p:ph type="sldNum" sz="quarter" idx="12"/>
          </p:nvPr>
        </p:nvSpPr>
        <p:spPr>
          <a:noFill/>
        </p:spPr>
        <p:txBody>
          <a:bodyPr>
            <a:normAutofit fontScale="85000" lnSpcReduction="20000"/>
          </a:bodyPr>
          <a:lstStyle/>
          <a:p>
            <a:fld id="{DC1B73F0-0209-41B0-9CD2-2EFAE975F811}" type="slidenum">
              <a:rPr lang="en-US" smtClean="0">
                <a:latin typeface="Arial" pitchFamily="34" charset="0"/>
              </a:rPr>
              <a:pPr/>
              <a:t>13</a:t>
            </a:fld>
            <a:endParaRPr lang="en-US" dirty="0" smtClean="0">
              <a:latin typeface="Arial" pitchFamily="34" charset="0"/>
            </a:endParaRPr>
          </a:p>
        </p:txBody>
      </p:sp>
      <p:sp>
        <p:nvSpPr>
          <p:cNvPr id="3" name="Rectangle 2"/>
          <p:cNvSpPr/>
          <p:nvPr/>
        </p:nvSpPr>
        <p:spPr>
          <a:xfrm>
            <a:off x="195943" y="3048000"/>
            <a:ext cx="8534400" cy="3170099"/>
          </a:xfrm>
          <a:prstGeom prst="rect">
            <a:avLst/>
          </a:prstGeom>
        </p:spPr>
        <p:txBody>
          <a:bodyPr wrap="square">
            <a:spAutoFit/>
          </a:bodyPr>
          <a:lstStyle/>
          <a:p>
            <a:pPr marL="285750" indent="-285750" algn="just">
              <a:spcAft>
                <a:spcPts val="0"/>
              </a:spcAft>
              <a:buFont typeface="Wingdings" panose="05000000000000000000" pitchFamily="2" charset="2"/>
              <a:buChar char="Ø"/>
            </a:pPr>
            <a:r>
              <a:rPr lang="en-US" sz="2000" dirty="0">
                <a:latin typeface="Arial" panose="020B0604020202020204" pitchFamily="34" charset="0"/>
                <a:ea typeface="Times New Roman" panose="02020603050405020304" pitchFamily="18" charset="0"/>
                <a:cs typeface="Arial" panose="020B0604020202020204" pitchFamily="34" charset="0"/>
              </a:rPr>
              <a:t>This is the gait dataset of 166 people. </a:t>
            </a:r>
            <a:endParaRPr lang="en-US" sz="2000" dirty="0" smtClean="0">
              <a:latin typeface="Arial" panose="020B0604020202020204" pitchFamily="34" charset="0"/>
              <a:ea typeface="Times New Roman" panose="02020603050405020304" pitchFamily="18" charset="0"/>
              <a:cs typeface="Arial" panose="020B0604020202020204" pitchFamily="34" charset="0"/>
            </a:endParaRPr>
          </a:p>
          <a:p>
            <a:pPr marL="285750" indent="-285750" algn="just">
              <a:spcAft>
                <a:spcPts val="0"/>
              </a:spcAft>
              <a:buFont typeface="Wingdings" panose="05000000000000000000" pitchFamily="2" charset="2"/>
              <a:buChar char="Ø"/>
            </a:pPr>
            <a:r>
              <a:rPr lang="en-US" sz="2000" dirty="0" smtClean="0">
                <a:latin typeface="Arial" panose="020B0604020202020204" pitchFamily="34" charset="0"/>
                <a:ea typeface="Times New Roman" panose="02020603050405020304" pitchFamily="18" charset="0"/>
                <a:cs typeface="Arial" panose="020B0604020202020204" pitchFamily="34" charset="0"/>
              </a:rPr>
              <a:t>Out </a:t>
            </a:r>
            <a:r>
              <a:rPr lang="en-US" sz="2000" dirty="0">
                <a:latin typeface="Arial" panose="020B0604020202020204" pitchFamily="34" charset="0"/>
                <a:ea typeface="Times New Roman" panose="02020603050405020304" pitchFamily="18" charset="0"/>
                <a:cs typeface="Arial" panose="020B0604020202020204" pitchFamily="34" charset="0"/>
              </a:rPr>
              <a:t>of which 93 patients are suffering from Idiopathic Parkinson’s disease (63% men, average age is 66.3 years). </a:t>
            </a:r>
            <a:endParaRPr lang="en-US" sz="2000" dirty="0" smtClean="0">
              <a:latin typeface="Arial" panose="020B0604020202020204" pitchFamily="34" charset="0"/>
              <a:ea typeface="Times New Roman" panose="02020603050405020304" pitchFamily="18" charset="0"/>
              <a:cs typeface="Arial" panose="020B0604020202020204" pitchFamily="34" charset="0"/>
            </a:endParaRPr>
          </a:p>
          <a:p>
            <a:pPr marL="285750" indent="-285750" algn="just">
              <a:spcAft>
                <a:spcPts val="0"/>
              </a:spcAft>
              <a:buFont typeface="Wingdings" panose="05000000000000000000" pitchFamily="2" charset="2"/>
              <a:buChar char="Ø"/>
            </a:pPr>
            <a:r>
              <a:rPr lang="en-US" sz="2000" dirty="0" smtClean="0">
                <a:latin typeface="Arial" panose="020B0604020202020204" pitchFamily="34" charset="0"/>
                <a:ea typeface="Times New Roman" panose="02020603050405020304" pitchFamily="18" charset="0"/>
                <a:cs typeface="Arial" panose="020B0604020202020204" pitchFamily="34" charset="0"/>
              </a:rPr>
              <a:t>The </a:t>
            </a:r>
            <a:r>
              <a:rPr lang="en-US" sz="2000" dirty="0">
                <a:latin typeface="Arial" panose="020B0604020202020204" pitchFamily="34" charset="0"/>
                <a:ea typeface="Times New Roman" panose="02020603050405020304" pitchFamily="18" charset="0"/>
                <a:cs typeface="Arial" panose="020B0604020202020204" pitchFamily="34" charset="0"/>
              </a:rPr>
              <a:t>rest of the 73 people are healthy and average age of healthy people is found to be 66.3 years out of which 55% are men. </a:t>
            </a:r>
            <a:endParaRPr lang="en-US" sz="2000" dirty="0" smtClean="0">
              <a:latin typeface="Arial" panose="020B0604020202020204" pitchFamily="34" charset="0"/>
              <a:ea typeface="Times New Roman" panose="02020603050405020304" pitchFamily="18" charset="0"/>
              <a:cs typeface="Arial" panose="020B0604020202020204" pitchFamily="34" charset="0"/>
            </a:endParaRPr>
          </a:p>
          <a:p>
            <a:pPr marL="285750" indent="-285750" algn="just">
              <a:buFont typeface="Wingdings" panose="05000000000000000000" pitchFamily="2" charset="2"/>
              <a:buChar char="Ø"/>
            </a:pPr>
            <a:r>
              <a:rPr lang="en-US" sz="2000" dirty="0">
                <a:latin typeface="Arial" panose="020B0604020202020204" pitchFamily="34" charset="0"/>
                <a:cs typeface="Arial" panose="020B0604020202020204" pitchFamily="34" charset="0"/>
              </a:rPr>
              <a:t>8 sensors have been put to practical use under each foot of the individual. </a:t>
            </a:r>
            <a:endParaRPr lang="en-US" sz="2000" dirty="0" smtClean="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Ø"/>
            </a:pPr>
            <a:r>
              <a:rPr lang="en-US" sz="2000" dirty="0" smtClean="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output recorded is based on the readings of 16 sensors (i.e. 8 of each foot) and is recorded as 100 samples per second. The final work is taken by 2 signals that mirror the tally of 8 sensors of each foot</a:t>
            </a:r>
            <a:r>
              <a:rPr lang="en-US" sz="2000" dirty="0" smtClean="0">
                <a:latin typeface="Arial" panose="020B0604020202020204" pitchFamily="34" charset="0"/>
                <a:cs typeface="Arial" panose="020B0604020202020204" pitchFamily="34" charset="0"/>
              </a:rPr>
              <a:t>.</a:t>
            </a:r>
            <a:endParaRPr lang="en-IN" sz="2000" dirty="0">
              <a:latin typeface="Arial" panose="020B0604020202020204" pitchFamily="34" charset="0"/>
              <a:cs typeface="Arial" panose="020B0604020202020204" pitchFamily="34" charset="0"/>
            </a:endParaRPr>
          </a:p>
        </p:txBody>
      </p:sp>
    </p:spTree>
  </p:cSld>
  <p:clrMapOvr>
    <a:masterClrMapping/>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228600" y="228600"/>
            <a:ext cx="8763000" cy="990600"/>
          </a:xfrm>
        </p:spPr>
        <p:txBody>
          <a:bodyPr>
            <a:normAutofit fontScale="90000"/>
          </a:bodyPr>
          <a:lstStyle/>
          <a:p>
            <a:pPr algn="ctr"/>
            <a:r>
              <a:rPr lang="en-US" sz="5400" dirty="0" smtClean="0">
                <a:solidFill>
                  <a:schemeClr val="tx1"/>
                </a:solidFill>
                <a:latin typeface="Times New Roman" pitchFamily="18" charset="0"/>
                <a:cs typeface="Times New Roman" pitchFamily="18" charset="0"/>
              </a:rPr>
              <a:t>Feature Selection and Extraction</a:t>
            </a:r>
            <a:endParaRPr lang="en-US" sz="5400" dirty="0" smtClean="0">
              <a:solidFill>
                <a:schemeClr val="tx1"/>
              </a:solidFill>
            </a:endParaRPr>
          </a:p>
        </p:txBody>
      </p:sp>
      <p:sp>
        <p:nvSpPr>
          <p:cNvPr id="34820" name="Date Placeholder 3"/>
          <p:cNvSpPr>
            <a:spLocks noGrp="1"/>
          </p:cNvSpPr>
          <p:nvPr>
            <p:ph type="dt" sz="quarter" idx="10"/>
          </p:nvPr>
        </p:nvSpPr>
        <p:spPr>
          <a:noFill/>
        </p:spPr>
        <p:txBody>
          <a:bodyPr/>
          <a:lstStyle/>
          <a:p>
            <a:fld id="{ED87B881-D1E2-478F-9EBD-423906902938}" type="datetime2">
              <a:rPr lang="en-US" smtClean="0">
                <a:latin typeface="Arial" pitchFamily="34" charset="0"/>
              </a:rPr>
              <a:pPr/>
              <a:t>Thursday, September 6, 2018</a:t>
            </a:fld>
            <a:endParaRPr lang="en-US" smtClean="0">
              <a:latin typeface="Arial" pitchFamily="34" charset="0"/>
            </a:endParaRPr>
          </a:p>
        </p:txBody>
      </p:sp>
      <p:sp>
        <p:nvSpPr>
          <p:cNvPr id="34822" name="Slide Number Placeholder 5"/>
          <p:cNvSpPr>
            <a:spLocks noGrp="1"/>
          </p:cNvSpPr>
          <p:nvPr>
            <p:ph type="sldNum" sz="quarter" idx="12"/>
          </p:nvPr>
        </p:nvSpPr>
        <p:spPr>
          <a:noFill/>
        </p:spPr>
        <p:txBody>
          <a:bodyPr>
            <a:normAutofit fontScale="85000" lnSpcReduction="20000"/>
          </a:bodyPr>
          <a:lstStyle/>
          <a:p>
            <a:fld id="{420A6A98-A546-4019-A9C9-E0D413348357}" type="slidenum">
              <a:rPr lang="en-US" smtClean="0">
                <a:latin typeface="Arial" pitchFamily="34" charset="0"/>
              </a:rPr>
              <a:pPr/>
              <a:t>14</a:t>
            </a:fld>
            <a:endParaRPr lang="en-US" smtClean="0">
              <a:latin typeface="Arial" pitchFamily="34" charset="0"/>
            </a:endParaRPr>
          </a:p>
        </p:txBody>
      </p:sp>
      <p:sp>
        <p:nvSpPr>
          <p:cNvPr id="8" name="TextBox 7"/>
          <p:cNvSpPr txBox="1"/>
          <p:nvPr/>
        </p:nvSpPr>
        <p:spPr>
          <a:xfrm>
            <a:off x="381000" y="1524000"/>
            <a:ext cx="8458200" cy="4893647"/>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dirty="0"/>
              <a:t>It is quite difficult to work with collected data to classify whether a person is having a normal gait or having Parkinson’s disease. </a:t>
            </a:r>
            <a:endParaRPr lang="en-US" sz="2400" dirty="0" smtClean="0"/>
          </a:p>
          <a:p>
            <a:pPr marL="342900" indent="-342900" algn="just">
              <a:buFont typeface="Wingdings" panose="05000000000000000000" pitchFamily="2" charset="2"/>
              <a:buChar char="Ø"/>
            </a:pPr>
            <a:endParaRPr lang="en-US" sz="2400" dirty="0" smtClean="0"/>
          </a:p>
          <a:p>
            <a:pPr marL="342900" indent="-342900" algn="just">
              <a:buFont typeface="Wingdings" panose="05000000000000000000" pitchFamily="2" charset="2"/>
              <a:buChar char="Ø"/>
            </a:pPr>
            <a:r>
              <a:rPr lang="en-US" sz="2400" dirty="0" smtClean="0"/>
              <a:t>So </a:t>
            </a:r>
            <a:r>
              <a:rPr lang="en-US" sz="2400" dirty="0"/>
              <a:t>we extract required features from the gathered data and then classification is done on the extracted features. </a:t>
            </a:r>
            <a:endParaRPr lang="en-US" sz="2400" dirty="0" smtClean="0"/>
          </a:p>
          <a:p>
            <a:pPr marL="342900" indent="-342900" algn="just">
              <a:buFont typeface="Wingdings" panose="05000000000000000000" pitchFamily="2" charset="2"/>
              <a:buChar char="Ø"/>
            </a:pPr>
            <a:endParaRPr lang="en-US" sz="2400" dirty="0" smtClean="0"/>
          </a:p>
          <a:p>
            <a:pPr marL="342900" indent="-342900" algn="just">
              <a:buFont typeface="Wingdings" panose="05000000000000000000" pitchFamily="2" charset="2"/>
              <a:buChar char="Ø"/>
            </a:pPr>
            <a:r>
              <a:rPr lang="en-US" sz="2400" dirty="0" smtClean="0"/>
              <a:t>Various </a:t>
            </a:r>
            <a:r>
              <a:rPr lang="en-US" sz="2400" dirty="0"/>
              <a:t>classification algorithms will be executed with the goal to classify whether a person is having a normal gait or having Parkinson’s disease. </a:t>
            </a:r>
            <a:endParaRPr lang="en-US" sz="2400" dirty="0" smtClean="0"/>
          </a:p>
          <a:p>
            <a:pPr marL="342900" indent="-342900" algn="just">
              <a:buFont typeface="Wingdings" panose="05000000000000000000" pitchFamily="2" charset="2"/>
              <a:buChar char="Ø"/>
            </a:pPr>
            <a:endParaRPr lang="en-US" sz="2400" dirty="0" smtClean="0"/>
          </a:p>
          <a:p>
            <a:pPr marL="342900" indent="-342900" algn="just">
              <a:buFont typeface="Wingdings" panose="05000000000000000000" pitchFamily="2" charset="2"/>
              <a:buChar char="Ø"/>
            </a:pPr>
            <a:r>
              <a:rPr lang="en-US" sz="2400" dirty="0" smtClean="0"/>
              <a:t>The </a:t>
            </a:r>
            <a:r>
              <a:rPr lang="en-US" sz="2400" dirty="0"/>
              <a:t>performance of classification algorithms will be </a:t>
            </a:r>
            <a:r>
              <a:rPr lang="en-US" sz="2400" dirty="0" smtClean="0"/>
              <a:t>analyzed.</a:t>
            </a:r>
          </a:p>
          <a:p>
            <a:pPr algn="just"/>
            <a:endParaRPr lang="en-IN" sz="2400" dirty="0"/>
          </a:p>
          <a:p>
            <a:pPr algn="just"/>
            <a:endParaRPr lang="en-IN" sz="2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Autofit/>
          </a:bodyPr>
          <a:lstStyle/>
          <a:p>
            <a:pPr algn="ctr" eaLnBrk="1" hangingPunct="1"/>
            <a:r>
              <a:rPr lang="en-US" dirty="0" smtClean="0"/>
              <a:t>Simulation of dataset in </a:t>
            </a:r>
            <a:r>
              <a:rPr lang="en-US" dirty="0" err="1" smtClean="0"/>
              <a:t>openSim</a:t>
            </a:r>
            <a:endParaRPr lang="th-TH" dirty="0" smtClean="0"/>
          </a:p>
        </p:txBody>
      </p:sp>
      <p:sp>
        <p:nvSpPr>
          <p:cNvPr id="28677" name="Date Placeholder 4"/>
          <p:cNvSpPr>
            <a:spLocks noGrp="1"/>
          </p:cNvSpPr>
          <p:nvPr>
            <p:ph type="dt" sz="quarter" idx="10"/>
          </p:nvPr>
        </p:nvSpPr>
        <p:spPr>
          <a:noFill/>
        </p:spPr>
        <p:txBody>
          <a:bodyPr/>
          <a:lstStyle/>
          <a:p>
            <a:fld id="{1B1D258A-2AF9-43B9-BDAD-2FB9542B700C}" type="datetime2">
              <a:rPr lang="en-US" smtClean="0">
                <a:latin typeface="Arial" pitchFamily="34" charset="0"/>
              </a:rPr>
              <a:pPr/>
              <a:t>Thursday, September 6, 2018</a:t>
            </a:fld>
            <a:endParaRPr lang="en-US" dirty="0" smtClean="0">
              <a:latin typeface="Arial" pitchFamily="34" charset="0"/>
            </a:endParaRPr>
          </a:p>
        </p:txBody>
      </p:sp>
      <p:sp>
        <p:nvSpPr>
          <p:cNvPr id="28678" name="Slide Number Placeholder 5"/>
          <p:cNvSpPr>
            <a:spLocks noGrp="1"/>
          </p:cNvSpPr>
          <p:nvPr>
            <p:ph type="sldNum" sz="quarter" idx="12"/>
          </p:nvPr>
        </p:nvSpPr>
        <p:spPr>
          <a:noFill/>
        </p:spPr>
        <p:txBody>
          <a:bodyPr>
            <a:normAutofit fontScale="85000" lnSpcReduction="20000"/>
          </a:bodyPr>
          <a:lstStyle/>
          <a:p>
            <a:fld id="{DC1B73F0-0209-41B0-9CD2-2EFAE975F811}" type="slidenum">
              <a:rPr lang="en-US" smtClean="0">
                <a:latin typeface="Arial" pitchFamily="34" charset="0"/>
              </a:rPr>
              <a:pPr/>
              <a:t>15</a:t>
            </a:fld>
            <a:endParaRPr lang="en-US" smtClean="0">
              <a:latin typeface="Arial" pitchFamily="34" charset="0"/>
            </a:endParaRPr>
          </a:p>
        </p:txBody>
      </p:sp>
      <p:pic>
        <p:nvPicPr>
          <p:cNvPr id="6" name="Picture 5" descr="fig1"/>
          <p:cNvPicPr/>
          <p:nvPr/>
        </p:nvPicPr>
        <p:blipFill>
          <a:blip r:embed="rId2">
            <a:biLevel thresh="25000"/>
          </a:blip>
          <a:srcRect/>
          <a:stretch>
            <a:fillRect/>
          </a:stretch>
        </p:blipFill>
        <p:spPr bwMode="auto">
          <a:xfrm>
            <a:off x="2362200" y="2008162"/>
            <a:ext cx="4174807" cy="3470593"/>
          </a:xfrm>
          <a:prstGeom prst="rect">
            <a:avLst/>
          </a:prstGeom>
          <a:noFill/>
          <a:ln w="9525">
            <a:noFill/>
            <a:miter lim="800000"/>
            <a:headEnd/>
            <a:tailEnd/>
          </a:ln>
        </p:spPr>
      </p:pic>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Date Placeholder 4"/>
          <p:cNvSpPr>
            <a:spLocks noGrp="1"/>
          </p:cNvSpPr>
          <p:nvPr>
            <p:ph type="dt" sz="quarter" idx="10"/>
          </p:nvPr>
        </p:nvSpPr>
        <p:spPr>
          <a:noFill/>
        </p:spPr>
        <p:txBody>
          <a:bodyPr/>
          <a:lstStyle/>
          <a:p>
            <a:fld id="{1B1D258A-2AF9-43B9-BDAD-2FB9542B700C}" type="datetime2">
              <a:rPr lang="en-US" smtClean="0">
                <a:latin typeface="Arial" pitchFamily="34" charset="0"/>
              </a:rPr>
              <a:pPr/>
              <a:t>Thursday, September 6, 2018</a:t>
            </a:fld>
            <a:endParaRPr lang="en-US" dirty="0" smtClean="0">
              <a:latin typeface="Arial" pitchFamily="34" charset="0"/>
            </a:endParaRPr>
          </a:p>
        </p:txBody>
      </p:sp>
      <p:sp>
        <p:nvSpPr>
          <p:cNvPr id="28678" name="Slide Number Placeholder 5"/>
          <p:cNvSpPr>
            <a:spLocks noGrp="1"/>
          </p:cNvSpPr>
          <p:nvPr>
            <p:ph type="sldNum" sz="quarter" idx="12"/>
          </p:nvPr>
        </p:nvSpPr>
        <p:spPr>
          <a:noFill/>
        </p:spPr>
        <p:txBody>
          <a:bodyPr>
            <a:normAutofit fontScale="85000" lnSpcReduction="20000"/>
          </a:bodyPr>
          <a:lstStyle/>
          <a:p>
            <a:fld id="{DC1B73F0-0209-41B0-9CD2-2EFAE975F811}" type="slidenum">
              <a:rPr lang="en-US" smtClean="0">
                <a:latin typeface="Arial" pitchFamily="34" charset="0"/>
              </a:rPr>
              <a:pPr/>
              <a:t>16</a:t>
            </a:fld>
            <a:endParaRPr lang="en-US" smtClean="0">
              <a:latin typeface="Arial" pitchFamily="34" charset="0"/>
            </a:endParaRPr>
          </a:p>
        </p:txBody>
      </p:sp>
      <p:pic>
        <p:nvPicPr>
          <p:cNvPr id="48130" name="Picture 13" descr="fig2"/>
          <p:cNvPicPr>
            <a:picLocks noChangeAspect="1" noChangeArrowheads="1"/>
          </p:cNvPicPr>
          <p:nvPr/>
        </p:nvPicPr>
        <p:blipFill>
          <a:blip r:embed="rId2"/>
          <a:srcRect/>
          <a:stretch>
            <a:fillRect/>
          </a:stretch>
        </p:blipFill>
        <p:spPr bwMode="auto">
          <a:xfrm>
            <a:off x="457200" y="1600200"/>
            <a:ext cx="8524703" cy="4648200"/>
          </a:xfrm>
          <a:prstGeom prst="rect">
            <a:avLst/>
          </a:prstGeom>
          <a:noFill/>
          <a:ln w="9525">
            <a:noFill/>
            <a:miter lim="800000"/>
            <a:headEnd/>
            <a:tailEnd/>
          </a:ln>
        </p:spPr>
      </p:pic>
      <p:sp>
        <p:nvSpPr>
          <p:cNvPr id="6" name="Rectangle 2"/>
          <p:cNvSpPr>
            <a:spLocks noGrp="1" noChangeArrowheads="1"/>
          </p:cNvSpPr>
          <p:nvPr>
            <p:ph type="title"/>
          </p:nvPr>
        </p:nvSpPr>
        <p:spPr>
          <a:xfrm>
            <a:off x="612648" y="228600"/>
            <a:ext cx="8153400" cy="990600"/>
          </a:xfrm>
        </p:spPr>
        <p:txBody>
          <a:bodyPr>
            <a:normAutofit/>
          </a:bodyPr>
          <a:lstStyle/>
          <a:p>
            <a:pPr algn="ctr"/>
            <a:r>
              <a:rPr lang="en-US" dirty="0"/>
              <a:t>Values of </a:t>
            </a:r>
            <a:r>
              <a:rPr lang="en-US" dirty="0" smtClean="0"/>
              <a:t>abnormal </a:t>
            </a:r>
            <a:r>
              <a:rPr lang="en-US" dirty="0"/>
              <a:t>dataset</a:t>
            </a:r>
            <a:endParaRPr lang="th-TH" dirty="0" smtClean="0"/>
          </a:p>
        </p:txBody>
      </p:sp>
    </p:spTree>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Date Placeholder 4"/>
          <p:cNvSpPr>
            <a:spLocks noGrp="1"/>
          </p:cNvSpPr>
          <p:nvPr>
            <p:ph type="dt" sz="quarter" idx="10"/>
          </p:nvPr>
        </p:nvSpPr>
        <p:spPr>
          <a:noFill/>
        </p:spPr>
        <p:txBody>
          <a:bodyPr/>
          <a:lstStyle/>
          <a:p>
            <a:fld id="{1B1D258A-2AF9-43B9-BDAD-2FB9542B700C}" type="datetime2">
              <a:rPr lang="en-US" smtClean="0">
                <a:latin typeface="Arial" pitchFamily="34" charset="0"/>
              </a:rPr>
              <a:pPr/>
              <a:t>Thursday, September 6, 2018</a:t>
            </a:fld>
            <a:endParaRPr lang="en-US" dirty="0" smtClean="0">
              <a:latin typeface="Arial" pitchFamily="34" charset="0"/>
            </a:endParaRPr>
          </a:p>
        </p:txBody>
      </p:sp>
      <p:sp>
        <p:nvSpPr>
          <p:cNvPr id="28678" name="Slide Number Placeholder 5"/>
          <p:cNvSpPr>
            <a:spLocks noGrp="1"/>
          </p:cNvSpPr>
          <p:nvPr>
            <p:ph type="sldNum" sz="quarter" idx="12"/>
          </p:nvPr>
        </p:nvSpPr>
        <p:spPr>
          <a:noFill/>
        </p:spPr>
        <p:txBody>
          <a:bodyPr>
            <a:normAutofit fontScale="85000" lnSpcReduction="20000"/>
          </a:bodyPr>
          <a:lstStyle/>
          <a:p>
            <a:fld id="{DC1B73F0-0209-41B0-9CD2-2EFAE975F811}" type="slidenum">
              <a:rPr lang="en-US" smtClean="0">
                <a:latin typeface="Arial" pitchFamily="34" charset="0"/>
              </a:rPr>
              <a:pPr/>
              <a:t>17</a:t>
            </a:fld>
            <a:endParaRPr lang="en-US" smtClean="0">
              <a:latin typeface="Arial" pitchFamily="34" charset="0"/>
            </a:endParaRPr>
          </a:p>
        </p:txBody>
      </p:sp>
      <p:pic>
        <p:nvPicPr>
          <p:cNvPr id="49154" name="Picture 14" descr="fig3"/>
          <p:cNvPicPr>
            <a:picLocks noChangeAspect="1" noChangeArrowheads="1"/>
          </p:cNvPicPr>
          <p:nvPr/>
        </p:nvPicPr>
        <p:blipFill>
          <a:blip r:embed="rId2"/>
          <a:srcRect/>
          <a:stretch>
            <a:fillRect/>
          </a:stretch>
        </p:blipFill>
        <p:spPr bwMode="auto">
          <a:xfrm>
            <a:off x="762000" y="1600200"/>
            <a:ext cx="8077200" cy="4700303"/>
          </a:xfrm>
          <a:prstGeom prst="rect">
            <a:avLst/>
          </a:prstGeom>
          <a:noFill/>
          <a:ln w="9525">
            <a:noFill/>
            <a:miter lim="800000"/>
            <a:headEnd/>
            <a:tailEnd/>
          </a:ln>
        </p:spPr>
      </p:pic>
      <p:sp>
        <p:nvSpPr>
          <p:cNvPr id="6" name="Rectangle 2"/>
          <p:cNvSpPr>
            <a:spLocks noGrp="1" noChangeArrowheads="1"/>
          </p:cNvSpPr>
          <p:nvPr>
            <p:ph type="title"/>
          </p:nvPr>
        </p:nvSpPr>
        <p:spPr/>
        <p:txBody>
          <a:bodyPr>
            <a:normAutofit/>
          </a:bodyPr>
          <a:lstStyle/>
          <a:p>
            <a:pPr algn="ctr"/>
            <a:r>
              <a:rPr lang="en-US" dirty="0"/>
              <a:t>Values of </a:t>
            </a:r>
            <a:r>
              <a:rPr lang="en-US" dirty="0" smtClean="0"/>
              <a:t>abnormal </a:t>
            </a:r>
            <a:r>
              <a:rPr lang="en-US" dirty="0"/>
              <a:t>dataset</a:t>
            </a:r>
            <a:endParaRPr lang="th-TH" dirty="0" smtClean="0"/>
          </a:p>
        </p:txBody>
      </p:sp>
    </p:spTree>
  </p:cSld>
  <p:clrMapOvr>
    <a:masterClrMapping/>
  </p:clrMapOvr>
  <p:transition>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pPr algn="ctr"/>
            <a:r>
              <a:rPr lang="en-US" dirty="0"/>
              <a:t>Values of </a:t>
            </a:r>
            <a:r>
              <a:rPr lang="en-US" dirty="0" smtClean="0"/>
              <a:t>abnormal </a:t>
            </a:r>
            <a:r>
              <a:rPr lang="en-US" dirty="0"/>
              <a:t>dataset</a:t>
            </a:r>
            <a:endParaRPr lang="th-TH" dirty="0" smtClean="0"/>
          </a:p>
        </p:txBody>
      </p:sp>
      <p:sp>
        <p:nvSpPr>
          <p:cNvPr id="28677" name="Date Placeholder 4"/>
          <p:cNvSpPr>
            <a:spLocks noGrp="1"/>
          </p:cNvSpPr>
          <p:nvPr>
            <p:ph type="dt" sz="quarter" idx="10"/>
          </p:nvPr>
        </p:nvSpPr>
        <p:spPr>
          <a:noFill/>
        </p:spPr>
        <p:txBody>
          <a:bodyPr/>
          <a:lstStyle/>
          <a:p>
            <a:fld id="{1B1D258A-2AF9-43B9-BDAD-2FB9542B700C}" type="datetime2">
              <a:rPr lang="en-US" smtClean="0">
                <a:latin typeface="Arial" pitchFamily="34" charset="0"/>
              </a:rPr>
              <a:pPr/>
              <a:t>Thursday, September 6, 2018</a:t>
            </a:fld>
            <a:endParaRPr lang="en-US" dirty="0" smtClean="0">
              <a:latin typeface="Arial" pitchFamily="34" charset="0"/>
            </a:endParaRPr>
          </a:p>
        </p:txBody>
      </p:sp>
      <p:sp>
        <p:nvSpPr>
          <p:cNvPr id="28678" name="Slide Number Placeholder 5"/>
          <p:cNvSpPr>
            <a:spLocks noGrp="1"/>
          </p:cNvSpPr>
          <p:nvPr>
            <p:ph type="sldNum" sz="quarter" idx="12"/>
          </p:nvPr>
        </p:nvSpPr>
        <p:spPr>
          <a:noFill/>
        </p:spPr>
        <p:txBody>
          <a:bodyPr>
            <a:normAutofit fontScale="85000" lnSpcReduction="20000"/>
          </a:bodyPr>
          <a:lstStyle/>
          <a:p>
            <a:fld id="{DC1B73F0-0209-41B0-9CD2-2EFAE975F811}" type="slidenum">
              <a:rPr lang="en-US" smtClean="0">
                <a:latin typeface="Arial" pitchFamily="34" charset="0"/>
              </a:rPr>
              <a:pPr/>
              <a:t>18</a:t>
            </a:fld>
            <a:endParaRPr lang="en-US" smtClean="0">
              <a:latin typeface="Arial" pitchFamily="34" charset="0"/>
            </a:endParaRPr>
          </a:p>
        </p:txBody>
      </p:sp>
      <p:pic>
        <p:nvPicPr>
          <p:cNvPr id="50178" name="Picture 15" descr="fig4"/>
          <p:cNvPicPr>
            <a:picLocks noChangeAspect="1" noChangeArrowheads="1"/>
          </p:cNvPicPr>
          <p:nvPr/>
        </p:nvPicPr>
        <p:blipFill>
          <a:blip r:embed="rId2"/>
          <a:srcRect/>
          <a:stretch>
            <a:fillRect/>
          </a:stretch>
        </p:blipFill>
        <p:spPr bwMode="auto">
          <a:xfrm>
            <a:off x="533401" y="1676400"/>
            <a:ext cx="7906104" cy="4572000"/>
          </a:xfrm>
          <a:prstGeom prst="rect">
            <a:avLst/>
          </a:prstGeom>
          <a:noFill/>
          <a:ln w="9525">
            <a:noFill/>
            <a:miter lim="800000"/>
            <a:headEnd/>
            <a:tailEnd/>
          </a:ln>
        </p:spPr>
      </p:pic>
    </p:spTree>
  </p:cSld>
  <p:clrMapOvr>
    <a:masterClrMapping/>
  </p:clrMapOvr>
  <p:transition>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noAutofit/>
          </a:bodyPr>
          <a:lstStyle/>
          <a:p>
            <a:pPr algn="ctr"/>
            <a:r>
              <a:rPr lang="en-US" sz="4000" dirty="0" smtClean="0"/>
              <a:t>Values of normal dataset</a:t>
            </a:r>
          </a:p>
        </p:txBody>
      </p:sp>
      <p:sp>
        <p:nvSpPr>
          <p:cNvPr id="34820" name="Date Placeholder 3"/>
          <p:cNvSpPr>
            <a:spLocks noGrp="1"/>
          </p:cNvSpPr>
          <p:nvPr>
            <p:ph type="dt" sz="quarter" idx="10"/>
          </p:nvPr>
        </p:nvSpPr>
        <p:spPr>
          <a:noFill/>
        </p:spPr>
        <p:txBody>
          <a:bodyPr/>
          <a:lstStyle/>
          <a:p>
            <a:fld id="{ED87B881-D1E2-478F-9EBD-423906902938}" type="datetime2">
              <a:rPr lang="en-US" smtClean="0">
                <a:latin typeface="Arial" pitchFamily="34" charset="0"/>
              </a:rPr>
              <a:pPr/>
              <a:t>Thursday, September 6, 2018</a:t>
            </a:fld>
            <a:endParaRPr lang="en-US" smtClean="0">
              <a:latin typeface="Arial" pitchFamily="34" charset="0"/>
            </a:endParaRPr>
          </a:p>
        </p:txBody>
      </p:sp>
      <p:sp>
        <p:nvSpPr>
          <p:cNvPr id="34822" name="Slide Number Placeholder 5"/>
          <p:cNvSpPr>
            <a:spLocks noGrp="1"/>
          </p:cNvSpPr>
          <p:nvPr>
            <p:ph type="sldNum" sz="quarter" idx="12"/>
          </p:nvPr>
        </p:nvSpPr>
        <p:spPr>
          <a:noFill/>
        </p:spPr>
        <p:txBody>
          <a:bodyPr>
            <a:normAutofit fontScale="85000" lnSpcReduction="20000"/>
          </a:bodyPr>
          <a:lstStyle/>
          <a:p>
            <a:fld id="{420A6A98-A546-4019-A9C9-E0D413348357}" type="slidenum">
              <a:rPr lang="en-US" smtClean="0">
                <a:latin typeface="Arial" pitchFamily="34" charset="0"/>
              </a:rPr>
              <a:pPr/>
              <a:t>19</a:t>
            </a:fld>
            <a:endParaRPr lang="en-US" smtClean="0">
              <a:latin typeface="Arial" pitchFamily="34" charset="0"/>
            </a:endParaRPr>
          </a:p>
        </p:txBody>
      </p:sp>
      <p:pic>
        <p:nvPicPr>
          <p:cNvPr id="26625" name="Picture 15" descr="fig4"/>
          <p:cNvPicPr>
            <a:picLocks noChangeAspect="1" noChangeArrowheads="1"/>
          </p:cNvPicPr>
          <p:nvPr/>
        </p:nvPicPr>
        <p:blipFill>
          <a:blip r:embed="rId2"/>
          <a:srcRect/>
          <a:stretch>
            <a:fillRect/>
          </a:stretch>
        </p:blipFill>
        <p:spPr bwMode="auto">
          <a:xfrm>
            <a:off x="914400" y="1600200"/>
            <a:ext cx="7696200" cy="46481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normAutofit/>
          </a:bodyPr>
          <a:lstStyle/>
          <a:p>
            <a:pPr algn="ctr"/>
            <a:r>
              <a:rPr lang="en-US" sz="4800" b="1" dirty="0" smtClean="0"/>
              <a:t>Feature Selection</a:t>
            </a:r>
            <a:endParaRPr lang="en-IN" sz="4800" dirty="0"/>
          </a:p>
        </p:txBody>
      </p:sp>
      <p:sp>
        <p:nvSpPr>
          <p:cNvPr id="34820" name="Date Placeholder 3"/>
          <p:cNvSpPr>
            <a:spLocks noGrp="1"/>
          </p:cNvSpPr>
          <p:nvPr>
            <p:ph type="dt" sz="quarter" idx="10"/>
          </p:nvPr>
        </p:nvSpPr>
        <p:spPr>
          <a:noFill/>
        </p:spPr>
        <p:txBody>
          <a:bodyPr/>
          <a:lstStyle/>
          <a:p>
            <a:fld id="{ED87B881-D1E2-478F-9EBD-423906902938}" type="datetime2">
              <a:rPr lang="en-US" smtClean="0">
                <a:latin typeface="Arial" pitchFamily="34" charset="0"/>
              </a:rPr>
              <a:pPr/>
              <a:t>Thursday, September 6, 2018</a:t>
            </a:fld>
            <a:endParaRPr lang="en-US" smtClean="0">
              <a:latin typeface="Arial" pitchFamily="34" charset="0"/>
            </a:endParaRPr>
          </a:p>
        </p:txBody>
      </p:sp>
      <p:sp>
        <p:nvSpPr>
          <p:cNvPr id="34822" name="Slide Number Placeholder 5"/>
          <p:cNvSpPr>
            <a:spLocks noGrp="1"/>
          </p:cNvSpPr>
          <p:nvPr>
            <p:ph type="sldNum" sz="quarter" idx="12"/>
          </p:nvPr>
        </p:nvSpPr>
        <p:spPr>
          <a:noFill/>
        </p:spPr>
        <p:txBody>
          <a:bodyPr>
            <a:normAutofit fontScale="85000" lnSpcReduction="20000"/>
          </a:bodyPr>
          <a:lstStyle/>
          <a:p>
            <a:fld id="{420A6A98-A546-4019-A9C9-E0D413348357}" type="slidenum">
              <a:rPr lang="en-US" smtClean="0">
                <a:latin typeface="Arial" pitchFamily="34" charset="0"/>
              </a:rPr>
              <a:pPr/>
              <a:t>20</a:t>
            </a:fld>
            <a:endParaRPr lang="en-US" smtClean="0">
              <a:latin typeface="Arial" pitchFamily="34" charset="0"/>
            </a:endParaRPr>
          </a:p>
        </p:txBody>
      </p:sp>
      <p:graphicFrame>
        <p:nvGraphicFramePr>
          <p:cNvPr id="7" name="Table 6"/>
          <p:cNvGraphicFramePr>
            <a:graphicFrameLocks noGrp="1"/>
          </p:cNvGraphicFramePr>
          <p:nvPr/>
        </p:nvGraphicFramePr>
        <p:xfrm>
          <a:off x="3276600" y="1600200"/>
          <a:ext cx="2637948" cy="4394194"/>
        </p:xfrm>
        <a:graphic>
          <a:graphicData uri="http://schemas.openxmlformats.org/drawingml/2006/table">
            <a:tbl>
              <a:tblPr/>
              <a:tblGrid>
                <a:gridCol w="1286212"/>
                <a:gridCol w="1351736"/>
              </a:tblGrid>
              <a:tr h="258482">
                <a:tc>
                  <a:txBody>
                    <a:bodyPr/>
                    <a:lstStyle/>
                    <a:p>
                      <a:pPr algn="just">
                        <a:lnSpc>
                          <a:spcPct val="150000"/>
                        </a:lnSpc>
                        <a:spcAft>
                          <a:spcPts val="0"/>
                        </a:spcAft>
                      </a:pPr>
                      <a:r>
                        <a:rPr lang="en-US" sz="1000" dirty="0">
                          <a:latin typeface="Times New Roman"/>
                          <a:ea typeface="Times New Roman"/>
                        </a:rPr>
                        <a:t>Feature Category</a:t>
                      </a:r>
                      <a:endParaRPr lang="en-IN" sz="1000" dirty="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Feature Name</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r>
              <a:tr h="258482">
                <a:tc>
                  <a:txBody>
                    <a:bodyPr/>
                    <a:lstStyle/>
                    <a:p>
                      <a:pPr algn="just">
                        <a:lnSpc>
                          <a:spcPct val="150000"/>
                        </a:lnSpc>
                        <a:spcAft>
                          <a:spcPts val="0"/>
                        </a:spcAft>
                      </a:pPr>
                      <a:r>
                        <a:rPr lang="en-US" sz="1000">
                          <a:latin typeface="Times New Roman"/>
                          <a:ea typeface="Times New Roman"/>
                        </a:rPr>
                        <a:t>F1</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Pelvis_tilt </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r>
              <a:tr h="258482">
                <a:tc>
                  <a:txBody>
                    <a:bodyPr/>
                    <a:lstStyle/>
                    <a:p>
                      <a:pPr algn="just">
                        <a:lnSpc>
                          <a:spcPct val="150000"/>
                        </a:lnSpc>
                        <a:spcAft>
                          <a:spcPts val="0"/>
                        </a:spcAft>
                      </a:pPr>
                      <a:r>
                        <a:rPr lang="en-US" sz="1000">
                          <a:latin typeface="Times New Roman"/>
                          <a:ea typeface="Times New Roman"/>
                        </a:rPr>
                        <a:t>F2</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Pelvis_list </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r>
              <a:tr h="258482">
                <a:tc>
                  <a:txBody>
                    <a:bodyPr/>
                    <a:lstStyle/>
                    <a:p>
                      <a:pPr algn="just">
                        <a:lnSpc>
                          <a:spcPct val="150000"/>
                        </a:lnSpc>
                        <a:spcAft>
                          <a:spcPts val="0"/>
                        </a:spcAft>
                      </a:pPr>
                      <a:r>
                        <a:rPr lang="en-US" sz="1000">
                          <a:latin typeface="Times New Roman"/>
                          <a:ea typeface="Times New Roman"/>
                        </a:rPr>
                        <a:t>F3</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Pelvis_rotation </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r>
              <a:tr h="258482">
                <a:tc>
                  <a:txBody>
                    <a:bodyPr/>
                    <a:lstStyle/>
                    <a:p>
                      <a:pPr algn="just">
                        <a:lnSpc>
                          <a:spcPct val="150000"/>
                        </a:lnSpc>
                        <a:spcAft>
                          <a:spcPts val="0"/>
                        </a:spcAft>
                      </a:pPr>
                      <a:r>
                        <a:rPr lang="en-US" sz="1000">
                          <a:latin typeface="Times New Roman"/>
                          <a:ea typeface="Times New Roman"/>
                        </a:rPr>
                        <a:t>F4</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Pelvis_tx</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r>
              <a:tr h="258482">
                <a:tc>
                  <a:txBody>
                    <a:bodyPr/>
                    <a:lstStyle/>
                    <a:p>
                      <a:pPr algn="just">
                        <a:lnSpc>
                          <a:spcPct val="150000"/>
                        </a:lnSpc>
                        <a:spcAft>
                          <a:spcPts val="0"/>
                        </a:spcAft>
                      </a:pPr>
                      <a:r>
                        <a:rPr lang="en-US" sz="1000">
                          <a:latin typeface="Times New Roman"/>
                          <a:ea typeface="Times New Roman"/>
                        </a:rPr>
                        <a:t>F5</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Pelvis_ty</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r>
              <a:tr h="258482">
                <a:tc>
                  <a:txBody>
                    <a:bodyPr/>
                    <a:lstStyle/>
                    <a:p>
                      <a:pPr algn="just">
                        <a:lnSpc>
                          <a:spcPct val="150000"/>
                        </a:lnSpc>
                        <a:spcAft>
                          <a:spcPts val="0"/>
                        </a:spcAft>
                      </a:pPr>
                      <a:r>
                        <a:rPr lang="en-US" sz="1000">
                          <a:latin typeface="Times New Roman"/>
                          <a:ea typeface="Times New Roman"/>
                        </a:rPr>
                        <a:t>F6</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Pelvis_tz</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r>
              <a:tr h="258482">
                <a:tc>
                  <a:txBody>
                    <a:bodyPr/>
                    <a:lstStyle/>
                    <a:p>
                      <a:pPr algn="just">
                        <a:lnSpc>
                          <a:spcPct val="150000"/>
                        </a:lnSpc>
                        <a:spcAft>
                          <a:spcPts val="0"/>
                        </a:spcAft>
                      </a:pPr>
                      <a:r>
                        <a:rPr lang="en-US" sz="1000">
                          <a:latin typeface="Times New Roman"/>
                          <a:ea typeface="Times New Roman"/>
                        </a:rPr>
                        <a:t>F7</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hip_flexion_r</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r>
              <a:tr h="258482">
                <a:tc>
                  <a:txBody>
                    <a:bodyPr/>
                    <a:lstStyle/>
                    <a:p>
                      <a:pPr algn="just">
                        <a:lnSpc>
                          <a:spcPct val="150000"/>
                        </a:lnSpc>
                        <a:spcAft>
                          <a:spcPts val="0"/>
                        </a:spcAft>
                      </a:pPr>
                      <a:r>
                        <a:rPr lang="en-US" sz="1000">
                          <a:latin typeface="Times New Roman"/>
                          <a:ea typeface="Times New Roman"/>
                        </a:rPr>
                        <a:t>F8</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hip_adduction_r</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r>
              <a:tr h="258482">
                <a:tc>
                  <a:txBody>
                    <a:bodyPr/>
                    <a:lstStyle/>
                    <a:p>
                      <a:pPr algn="just">
                        <a:lnSpc>
                          <a:spcPct val="150000"/>
                        </a:lnSpc>
                        <a:spcAft>
                          <a:spcPts val="0"/>
                        </a:spcAft>
                      </a:pPr>
                      <a:r>
                        <a:rPr lang="en-US" sz="1000">
                          <a:latin typeface="Times New Roman"/>
                          <a:ea typeface="Times New Roman"/>
                        </a:rPr>
                        <a:t>F9</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hip_rotation_r</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r>
              <a:tr h="258482">
                <a:tc>
                  <a:txBody>
                    <a:bodyPr/>
                    <a:lstStyle/>
                    <a:p>
                      <a:pPr algn="just">
                        <a:lnSpc>
                          <a:spcPct val="150000"/>
                        </a:lnSpc>
                        <a:spcAft>
                          <a:spcPts val="0"/>
                        </a:spcAft>
                      </a:pPr>
                      <a:r>
                        <a:rPr lang="en-US" sz="1000">
                          <a:latin typeface="Times New Roman"/>
                          <a:ea typeface="Times New Roman"/>
                        </a:rPr>
                        <a:t>F10</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knee_angle_r</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r>
              <a:tr h="258482">
                <a:tc>
                  <a:txBody>
                    <a:bodyPr/>
                    <a:lstStyle/>
                    <a:p>
                      <a:pPr algn="just">
                        <a:lnSpc>
                          <a:spcPct val="150000"/>
                        </a:lnSpc>
                        <a:spcAft>
                          <a:spcPts val="0"/>
                        </a:spcAft>
                      </a:pPr>
                      <a:r>
                        <a:rPr lang="en-US" sz="1000">
                          <a:latin typeface="Times New Roman"/>
                          <a:ea typeface="Times New Roman"/>
                        </a:rPr>
                        <a:t>F11</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ankle_angle_r</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r>
              <a:tr h="258482">
                <a:tc>
                  <a:txBody>
                    <a:bodyPr/>
                    <a:lstStyle/>
                    <a:p>
                      <a:pPr algn="just">
                        <a:lnSpc>
                          <a:spcPct val="150000"/>
                        </a:lnSpc>
                        <a:spcAft>
                          <a:spcPts val="0"/>
                        </a:spcAft>
                      </a:pPr>
                      <a:r>
                        <a:rPr lang="en-US" sz="1000">
                          <a:latin typeface="Times New Roman"/>
                          <a:ea typeface="Times New Roman"/>
                        </a:rPr>
                        <a:t>F12</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ankle_angle_l</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r>
              <a:tr h="258482">
                <a:tc>
                  <a:txBody>
                    <a:bodyPr/>
                    <a:lstStyle/>
                    <a:p>
                      <a:pPr algn="just">
                        <a:lnSpc>
                          <a:spcPct val="150000"/>
                        </a:lnSpc>
                        <a:spcAft>
                          <a:spcPts val="0"/>
                        </a:spcAft>
                      </a:pPr>
                      <a:r>
                        <a:rPr lang="en-US" sz="1000">
                          <a:latin typeface="Times New Roman"/>
                          <a:ea typeface="Times New Roman"/>
                        </a:rPr>
                        <a:t>F13</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knee_angle_l</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r>
              <a:tr h="258482">
                <a:tc>
                  <a:txBody>
                    <a:bodyPr/>
                    <a:lstStyle/>
                    <a:p>
                      <a:pPr algn="just">
                        <a:lnSpc>
                          <a:spcPct val="150000"/>
                        </a:lnSpc>
                        <a:spcAft>
                          <a:spcPts val="0"/>
                        </a:spcAft>
                      </a:pPr>
                      <a:r>
                        <a:rPr lang="en-US" sz="1000">
                          <a:latin typeface="Times New Roman"/>
                          <a:ea typeface="Times New Roman"/>
                        </a:rPr>
                        <a:t>F14</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hip_flexion_l</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r>
              <a:tr h="258482">
                <a:tc>
                  <a:txBody>
                    <a:bodyPr/>
                    <a:lstStyle/>
                    <a:p>
                      <a:pPr algn="just">
                        <a:lnSpc>
                          <a:spcPct val="150000"/>
                        </a:lnSpc>
                        <a:spcAft>
                          <a:spcPts val="0"/>
                        </a:spcAft>
                      </a:pPr>
                      <a:r>
                        <a:rPr lang="en-US" sz="1000">
                          <a:latin typeface="Times New Roman"/>
                          <a:ea typeface="Times New Roman"/>
                        </a:rPr>
                        <a:t>F15</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hip_adduction_l </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r>
              <a:tr h="258482">
                <a:tc>
                  <a:txBody>
                    <a:bodyPr/>
                    <a:lstStyle/>
                    <a:p>
                      <a:pPr algn="just">
                        <a:lnSpc>
                          <a:spcPct val="150000"/>
                        </a:lnSpc>
                        <a:spcAft>
                          <a:spcPts val="0"/>
                        </a:spcAft>
                      </a:pPr>
                      <a:r>
                        <a:rPr lang="en-US" sz="1000">
                          <a:latin typeface="Times New Roman"/>
                          <a:ea typeface="Times New Roman"/>
                        </a:rPr>
                        <a:t>F16</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dirty="0">
                          <a:latin typeface="Times New Roman"/>
                          <a:ea typeface="Times New Roman"/>
                        </a:rPr>
                        <a:t>hip_rotation_l </a:t>
                      </a:r>
                      <a:endParaRPr lang="en-IN" sz="1000" dirty="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p:cNvSpPr>
            <a:spLocks noGrp="1" noChangeArrowheads="1"/>
          </p:cNvSpPr>
          <p:nvPr>
            <p:ph type="ctrTitle"/>
          </p:nvPr>
        </p:nvSpPr>
        <p:spPr>
          <a:xfrm>
            <a:off x="533400" y="1828800"/>
            <a:ext cx="8229600" cy="1981200"/>
          </a:xfrm>
        </p:spPr>
        <p:txBody>
          <a:bodyPr/>
          <a:lstStyle/>
          <a:p>
            <a:r>
              <a:rPr lang="en-US" b="1" dirty="0" smtClean="0"/>
              <a:t>Classification</a:t>
            </a:r>
            <a:endParaRPr lang="en-IN" dirty="0"/>
          </a:p>
        </p:txBody>
      </p:sp>
      <p:sp>
        <p:nvSpPr>
          <p:cNvPr id="35843" name="Rectangle 5"/>
          <p:cNvSpPr>
            <a:spLocks noGrp="1" noChangeArrowheads="1"/>
          </p:cNvSpPr>
          <p:nvPr>
            <p:ph type="subTitle" idx="1"/>
          </p:nvPr>
        </p:nvSpPr>
        <p:spPr/>
        <p:txBody>
          <a:bodyPr/>
          <a:lstStyle/>
          <a:p>
            <a:pPr eaLnBrk="1" hangingPunct="1"/>
            <a:r>
              <a:rPr lang="en-US" dirty="0" smtClean="0">
                <a:solidFill>
                  <a:schemeClr val="tx1"/>
                </a:solidFill>
              </a:rPr>
              <a:t>K-Means, KNN, ANN  </a:t>
            </a:r>
            <a:endParaRPr lang="th-TH" dirty="0" smtClean="0">
              <a:solidFill>
                <a:schemeClr val="tx1"/>
              </a:solidFill>
            </a:endParaRPr>
          </a:p>
        </p:txBody>
      </p:sp>
    </p:spTree>
  </p:cSld>
  <p:clrMapOvr>
    <a:masterClrMapping/>
  </p:clrMapOvr>
  <p:transition>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normAutofit/>
          </a:bodyPr>
          <a:lstStyle/>
          <a:p>
            <a:pPr algn="ctr" eaLnBrk="1" hangingPunct="1"/>
            <a:r>
              <a:rPr lang="en-US" sz="4000" b="1" dirty="0" smtClean="0"/>
              <a:t>CLASSIFICATION  </a:t>
            </a:r>
            <a:endParaRPr lang="th-TH" sz="4000" b="1" dirty="0" smtClean="0"/>
          </a:p>
        </p:txBody>
      </p:sp>
      <p:sp>
        <p:nvSpPr>
          <p:cNvPr id="4100" name="Rectangle 3"/>
          <p:cNvSpPr>
            <a:spLocks noGrp="1" noChangeArrowheads="1"/>
          </p:cNvSpPr>
          <p:nvPr>
            <p:ph type="body" idx="1"/>
          </p:nvPr>
        </p:nvSpPr>
        <p:spPr/>
        <p:txBody>
          <a:bodyPr>
            <a:normAutofit lnSpcReduction="10000"/>
          </a:bodyPr>
          <a:lstStyle/>
          <a:p>
            <a:pPr algn="just">
              <a:lnSpc>
                <a:spcPct val="110000"/>
              </a:lnSpc>
              <a:buFont typeface="Wingdings" pitchFamily="2" charset="2"/>
              <a:buChar char="Ø"/>
            </a:pPr>
            <a:r>
              <a:rPr lang="en-IN" sz="4000" b="1" dirty="0"/>
              <a:t>C</a:t>
            </a:r>
            <a:r>
              <a:rPr lang="en-IN" sz="4000" b="1" dirty="0" smtClean="0"/>
              <a:t>lassification</a:t>
            </a:r>
            <a:r>
              <a:rPr lang="en-IN" sz="4000" dirty="0"/>
              <a:t> is the problem of identifying to </a:t>
            </a:r>
            <a:r>
              <a:rPr lang="en-IN" sz="4000" dirty="0" smtClean="0"/>
              <a:t>which </a:t>
            </a:r>
            <a:r>
              <a:rPr lang="en-IN" sz="4000" dirty="0"/>
              <a:t>set of categories (sub-populations) a new observation belongs, on the basis of a training set of data containing observations (or instances) whose category membership is known</a:t>
            </a:r>
            <a:r>
              <a:rPr lang="en-IN" sz="4000" dirty="0" smtClean="0"/>
              <a:t>.</a:t>
            </a:r>
            <a:endParaRPr lang="en-US" sz="4000" dirty="0" smtClean="0"/>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Thursday, September 6, 2018</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22</a:t>
            </a:fld>
            <a:endParaRPr lang="en-US" smtClean="0">
              <a:latin typeface="Arial" pitchFamily="34" charset="0"/>
            </a:endParaRPr>
          </a:p>
        </p:txBody>
      </p:sp>
    </p:spTree>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914400" y="228600"/>
            <a:ext cx="7543800" cy="990600"/>
          </a:xfrm>
        </p:spPr>
        <p:txBody>
          <a:bodyPr>
            <a:normAutofit fontScale="90000"/>
          </a:bodyPr>
          <a:lstStyle/>
          <a:p>
            <a:pPr algn="ctr" eaLnBrk="1" hangingPunct="1"/>
            <a:r>
              <a:rPr lang="en-US" sz="4000" b="1" dirty="0" smtClean="0"/>
              <a:t>CLASSIFICATION TECHNIQUES USED   </a:t>
            </a:r>
            <a:endParaRPr lang="th-TH" sz="4000" b="1" dirty="0" smtClean="0"/>
          </a:p>
        </p:txBody>
      </p:sp>
      <p:sp>
        <p:nvSpPr>
          <p:cNvPr id="4100" name="Rectangle 3"/>
          <p:cNvSpPr>
            <a:spLocks noGrp="1" noChangeArrowheads="1"/>
          </p:cNvSpPr>
          <p:nvPr>
            <p:ph type="body" idx="1"/>
          </p:nvPr>
        </p:nvSpPr>
        <p:spPr/>
        <p:txBody>
          <a:bodyPr/>
          <a:lstStyle/>
          <a:p>
            <a:r>
              <a:rPr lang="en-US" sz="2800" dirty="0" smtClean="0"/>
              <a:t>CLASSIFICATION  of GAIT data is done using </a:t>
            </a:r>
            <a:r>
              <a:rPr lang="en-US" sz="2800" dirty="0" smtClean="0"/>
              <a:t>following </a:t>
            </a:r>
            <a:r>
              <a:rPr lang="en-US" sz="2800" dirty="0" smtClean="0"/>
              <a:t>techniques:</a:t>
            </a:r>
            <a:endParaRPr lang="en-IN" sz="2800" dirty="0" smtClean="0"/>
          </a:p>
          <a:p>
            <a:pPr lvl="0"/>
            <a:r>
              <a:rPr lang="en-IN" sz="2800" dirty="0" smtClean="0"/>
              <a:t>K-Means</a:t>
            </a:r>
          </a:p>
          <a:p>
            <a:pPr lvl="0"/>
            <a:r>
              <a:rPr lang="en-IN" sz="2800" dirty="0" smtClean="0"/>
              <a:t>KNN</a:t>
            </a:r>
          </a:p>
          <a:p>
            <a:pPr lvl="0"/>
            <a:r>
              <a:rPr lang="en-IN" sz="2800" dirty="0" smtClean="0"/>
              <a:t>ANN</a:t>
            </a:r>
            <a:endParaRPr lang="en-IN" sz="2800" dirty="0" smtClean="0"/>
          </a:p>
          <a:p>
            <a:pPr marL="0" lvl="0" indent="0">
              <a:buNone/>
            </a:pPr>
            <a:r>
              <a:rPr lang="en-US" sz="2800" dirty="0" smtClean="0"/>
              <a:t> </a:t>
            </a:r>
            <a:endParaRPr lang="en-IN" sz="2800" dirty="0"/>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Thursday, September 6, 2018</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23</a:t>
            </a:fld>
            <a:endParaRPr lang="en-US" smtClean="0">
              <a:latin typeface="Arial" pitchFamily="34" charset="0"/>
            </a:endParaRPr>
          </a:p>
        </p:txBody>
      </p:sp>
    </p:spTree>
  </p:cSld>
  <p:clrMapOvr>
    <a:masterClrMapping/>
  </p:clrMapOvr>
  <p:transition>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1676400" y="228600"/>
            <a:ext cx="6096000" cy="990600"/>
          </a:xfrm>
        </p:spPr>
        <p:txBody>
          <a:bodyPr>
            <a:normAutofit/>
          </a:bodyPr>
          <a:lstStyle/>
          <a:p>
            <a:pPr algn="ctr"/>
            <a:r>
              <a:rPr lang="en-US" sz="4000" b="1" dirty="0"/>
              <a:t>K-Means</a:t>
            </a:r>
            <a:endParaRPr lang="th-TH" sz="4000" b="1" dirty="0" smtClean="0"/>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Thursday, September 6, 2018</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24</a:t>
            </a:fld>
            <a:endParaRPr lang="en-US" smtClean="0">
              <a:latin typeface="Arial"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2321995466"/>
              </p:ext>
            </p:extLst>
          </p:nvPr>
        </p:nvGraphicFramePr>
        <p:xfrm>
          <a:off x="1752600" y="2743200"/>
          <a:ext cx="5367775" cy="841248"/>
        </p:xfrm>
        <a:graphic>
          <a:graphicData uri="http://schemas.openxmlformats.org/drawingml/2006/table">
            <a:tbl>
              <a:tblPr firstRow="1" firstCol="1" bandRow="1">
                <a:tableStyleId>{5C22544A-7EE6-4342-B048-85BDC9FD1C3A}</a:tableStyleId>
              </a:tblPr>
              <a:tblGrid>
                <a:gridCol w="2124951"/>
                <a:gridCol w="3242824"/>
              </a:tblGrid>
              <a:tr h="405685">
                <a:tc>
                  <a:txBody>
                    <a:bodyPr/>
                    <a:lstStyle/>
                    <a:p>
                      <a:pPr>
                        <a:lnSpc>
                          <a:spcPct val="115000"/>
                        </a:lnSpc>
                        <a:spcAft>
                          <a:spcPts val="1000"/>
                        </a:spcAft>
                      </a:pPr>
                      <a:r>
                        <a:rPr lang="en-US" sz="2400" dirty="0" smtClean="0">
                          <a:effectLst/>
                        </a:rPr>
                        <a:t>ACCURACY</a:t>
                      </a:r>
                      <a:endParaRPr lang="en-IN" sz="2400" dirty="0">
                        <a:effectLst/>
                        <a:latin typeface="Times New Roman" panose="02020603050405020304" pitchFamily="18" charset="0"/>
                      </a:endParaRPr>
                    </a:p>
                  </a:txBody>
                  <a:tcPr marL="68580" marR="68580" marT="0" marB="0" anchor="ctr"/>
                </a:tc>
                <a:tc>
                  <a:txBody>
                    <a:bodyPr/>
                    <a:lstStyle/>
                    <a:p>
                      <a:pPr>
                        <a:lnSpc>
                          <a:spcPct val="115000"/>
                        </a:lnSpc>
                        <a:spcAft>
                          <a:spcPts val="1000"/>
                        </a:spcAft>
                      </a:pPr>
                      <a:r>
                        <a:rPr lang="en-US" sz="2400" dirty="0">
                          <a:effectLst/>
                        </a:rPr>
                        <a:t>Test accuracy (%)</a:t>
                      </a:r>
                      <a:endParaRPr lang="en-IN" sz="2400" dirty="0">
                        <a:effectLst/>
                        <a:latin typeface="Times New Roman" panose="02020603050405020304" pitchFamily="18" charset="0"/>
                      </a:endParaRPr>
                    </a:p>
                  </a:txBody>
                  <a:tcPr marL="68580" marR="68580" marT="0" marB="0" anchor="ctr"/>
                </a:tc>
              </a:tr>
              <a:tr h="297631">
                <a:tc>
                  <a:txBody>
                    <a:bodyPr/>
                    <a:lstStyle/>
                    <a:p>
                      <a:pPr>
                        <a:lnSpc>
                          <a:spcPct val="115000"/>
                        </a:lnSpc>
                        <a:spcAft>
                          <a:spcPts val="1000"/>
                        </a:spcAft>
                      </a:pPr>
                      <a:endParaRPr lang="en-IN" sz="2400" dirty="0">
                        <a:effectLst/>
                        <a:latin typeface="Times New Roman" panose="02020603050405020304" pitchFamily="18" charset="0"/>
                      </a:endParaRPr>
                    </a:p>
                  </a:txBody>
                  <a:tcPr marL="68580" marR="68580" marT="0" marB="0" anchor="ctr"/>
                </a:tc>
                <a:tc>
                  <a:txBody>
                    <a:bodyPr/>
                    <a:lstStyle/>
                    <a:p>
                      <a:pPr>
                        <a:lnSpc>
                          <a:spcPct val="115000"/>
                        </a:lnSpc>
                        <a:spcAft>
                          <a:spcPts val="1000"/>
                        </a:spcAft>
                      </a:pPr>
                      <a:r>
                        <a:rPr kumimoji="0" lang="en-US" sz="2400" kern="1200" dirty="0" smtClean="0">
                          <a:solidFill>
                            <a:schemeClr val="dk1"/>
                          </a:solidFill>
                          <a:effectLst/>
                          <a:latin typeface="+mn-lt"/>
                          <a:ea typeface="+mn-ea"/>
                          <a:cs typeface="+mn-cs"/>
                        </a:rPr>
                        <a:t>74.68 </a:t>
                      </a:r>
                      <a:r>
                        <a:rPr kumimoji="0" lang="en-US" sz="2400" kern="1200" dirty="0" smtClean="0">
                          <a:solidFill>
                            <a:schemeClr val="dk1"/>
                          </a:solidFill>
                          <a:effectLst/>
                          <a:latin typeface="+mn-lt"/>
                          <a:ea typeface="+mn-ea"/>
                          <a:cs typeface="+mn-cs"/>
                        </a:rPr>
                        <a:t>%</a:t>
                      </a:r>
                      <a:endParaRPr lang="en-IN" sz="2400" dirty="0">
                        <a:effectLst/>
                        <a:latin typeface="Times New Roman" panose="02020603050405020304" pitchFamily="18" charset="0"/>
                      </a:endParaRPr>
                    </a:p>
                  </a:txBody>
                  <a:tcPr marL="68580" marR="68580" marT="0" marB="0" anchor="ctr"/>
                </a:tc>
              </a:tr>
            </a:tbl>
          </a:graphicData>
        </a:graphic>
      </p:graphicFrame>
    </p:spTree>
    <p:extLst>
      <p:ext uri="{BB962C8B-B14F-4D97-AF65-F5344CB8AC3E}">
        <p14:creationId xmlns:p14="http://schemas.microsoft.com/office/powerpoint/2010/main" val="3972542250"/>
      </p:ext>
    </p:extLst>
  </p:cSld>
  <p:clrMapOvr>
    <a:masterClrMapping/>
  </p:clrMapOvr>
  <p:transition>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4114800" y="228600"/>
            <a:ext cx="1597152" cy="990600"/>
          </a:xfrm>
        </p:spPr>
        <p:txBody>
          <a:bodyPr>
            <a:normAutofit/>
          </a:bodyPr>
          <a:lstStyle/>
          <a:p>
            <a:r>
              <a:rPr lang="en-US" sz="3600" b="1" dirty="0" smtClean="0"/>
              <a:t>KNN</a:t>
            </a:r>
            <a:endParaRPr lang="en-IN" sz="3600" dirty="0"/>
          </a:p>
        </p:txBody>
      </p:sp>
      <p:sp>
        <p:nvSpPr>
          <p:cNvPr id="4100" name="Rectangle 3"/>
          <p:cNvSpPr>
            <a:spLocks noGrp="1" noChangeArrowheads="1"/>
          </p:cNvSpPr>
          <p:nvPr>
            <p:ph type="body" idx="1"/>
          </p:nvPr>
        </p:nvSpPr>
        <p:spPr/>
        <p:txBody>
          <a:bodyPr/>
          <a:lstStyle/>
          <a:p>
            <a:pPr algn="just"/>
            <a:r>
              <a:rPr lang="en-IN" sz="2400" dirty="0"/>
              <a:t>KNN can be used for both classification and regression predictive </a:t>
            </a:r>
            <a:r>
              <a:rPr lang="en-IN" sz="2400" dirty="0" smtClean="0"/>
              <a:t>problems</a:t>
            </a:r>
            <a:r>
              <a:rPr lang="en-IN" sz="2400" dirty="0"/>
              <a:t> </a:t>
            </a:r>
            <a:r>
              <a:rPr lang="en-IN" sz="2400" dirty="0" smtClean="0"/>
              <a:t>[1].</a:t>
            </a:r>
          </a:p>
          <a:p>
            <a:pPr algn="just"/>
            <a:r>
              <a:rPr lang="en-IN" sz="2400" dirty="0" smtClean="0"/>
              <a:t>It </a:t>
            </a:r>
            <a:r>
              <a:rPr lang="en-IN" sz="2400" dirty="0"/>
              <a:t>is very much sensitive for outlier and noise. </a:t>
            </a:r>
            <a:endParaRPr lang="en-IN" sz="2400" dirty="0" smtClean="0"/>
          </a:p>
          <a:p>
            <a:pPr algn="just"/>
            <a:r>
              <a:rPr lang="en-IN" sz="2400" dirty="0" smtClean="0"/>
              <a:t>It </a:t>
            </a:r>
            <a:r>
              <a:rPr lang="en-IN" sz="2400" dirty="0"/>
              <a:t>is applicable only for numerical data. </a:t>
            </a:r>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Thursday, September 6, 2018</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25</a:t>
            </a:fld>
            <a:endParaRPr lang="en-US" smtClean="0">
              <a:latin typeface="Arial" pitchFamily="34" charset="0"/>
            </a:endParaRPr>
          </a:p>
        </p:txBody>
      </p:sp>
      <p:pic>
        <p:nvPicPr>
          <p:cNvPr id="6" name="Picture 5"/>
          <p:cNvPicPr/>
          <p:nvPr/>
        </p:nvPicPr>
        <p:blipFill rotWithShape="1">
          <a:blip r:embed="rId2" cstate="print">
            <a:extLst>
              <a:ext uri="{28A0092B-C50C-407E-A947-70E740481C1C}">
                <a14:useLocalDpi xmlns:a14="http://schemas.microsoft.com/office/drawing/2010/main" val="0"/>
              </a:ext>
            </a:extLst>
          </a:blip>
          <a:srcRect t="1993" b="3966"/>
          <a:stretch/>
        </p:blipFill>
        <p:spPr bwMode="auto">
          <a:xfrm>
            <a:off x="2057400" y="3352800"/>
            <a:ext cx="4343400" cy="2743200"/>
          </a:xfrm>
          <a:prstGeom prst="rect">
            <a:avLst/>
          </a:prstGeom>
          <a:noFill/>
          <a:ln>
            <a:noFill/>
          </a:ln>
          <a:extLst>
            <a:ext uri="{53640926-AAD7-44D8-BBD7-CCE9431645EC}">
              <a14:shadowObscured xmlns:a14="http://schemas.microsoft.com/office/drawing/2010/main"/>
            </a:ext>
          </a:extLst>
        </p:spPr>
      </p:pic>
    </p:spTree>
  </p:cSld>
  <p:clrMapOvr>
    <a:masterClrMapping/>
  </p:clrMapOvr>
  <p:transition>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3429000" y="228600"/>
            <a:ext cx="3810000" cy="990600"/>
          </a:xfrm>
        </p:spPr>
        <p:txBody>
          <a:bodyPr>
            <a:normAutofit/>
          </a:bodyPr>
          <a:lstStyle/>
          <a:p>
            <a:r>
              <a:rPr lang="en-US" sz="4000" b="1" dirty="0" smtClean="0"/>
              <a:t>KNN Result</a:t>
            </a:r>
            <a:endParaRPr lang="th-TH" sz="4000" b="1" dirty="0" smtClean="0"/>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Thursday, September 6, 2018</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26</a:t>
            </a:fld>
            <a:endParaRPr lang="en-US" smtClean="0">
              <a:latin typeface="Arial"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711079186"/>
              </p:ext>
            </p:extLst>
          </p:nvPr>
        </p:nvGraphicFramePr>
        <p:xfrm>
          <a:off x="1974639" y="2133600"/>
          <a:ext cx="5367775" cy="841248"/>
        </p:xfrm>
        <a:graphic>
          <a:graphicData uri="http://schemas.openxmlformats.org/drawingml/2006/table">
            <a:tbl>
              <a:tblPr firstRow="1" firstCol="1" bandRow="1">
                <a:tableStyleId>{5C22544A-7EE6-4342-B048-85BDC9FD1C3A}</a:tableStyleId>
              </a:tblPr>
              <a:tblGrid>
                <a:gridCol w="2124951"/>
                <a:gridCol w="3242824"/>
              </a:tblGrid>
              <a:tr h="405685">
                <a:tc>
                  <a:txBody>
                    <a:bodyPr/>
                    <a:lstStyle/>
                    <a:p>
                      <a:pPr>
                        <a:lnSpc>
                          <a:spcPct val="115000"/>
                        </a:lnSpc>
                        <a:spcAft>
                          <a:spcPts val="1000"/>
                        </a:spcAft>
                      </a:pPr>
                      <a:r>
                        <a:rPr lang="en-US" sz="2400" dirty="0" smtClean="0">
                          <a:effectLst/>
                        </a:rPr>
                        <a:t>ACCURACY</a:t>
                      </a:r>
                      <a:endParaRPr lang="en-IN" sz="2400" dirty="0">
                        <a:effectLst/>
                        <a:latin typeface="Times New Roman" panose="02020603050405020304" pitchFamily="18" charset="0"/>
                      </a:endParaRPr>
                    </a:p>
                  </a:txBody>
                  <a:tcPr marL="68580" marR="68580" marT="0" marB="0" anchor="ctr"/>
                </a:tc>
                <a:tc>
                  <a:txBody>
                    <a:bodyPr/>
                    <a:lstStyle/>
                    <a:p>
                      <a:pPr>
                        <a:lnSpc>
                          <a:spcPct val="115000"/>
                        </a:lnSpc>
                        <a:spcAft>
                          <a:spcPts val="1000"/>
                        </a:spcAft>
                      </a:pPr>
                      <a:r>
                        <a:rPr lang="en-US" sz="2400" dirty="0" smtClean="0">
                          <a:effectLst/>
                        </a:rPr>
                        <a:t>KNN(k=1,2,3,4,5)</a:t>
                      </a:r>
                      <a:endParaRPr lang="en-IN" sz="2400" dirty="0">
                        <a:effectLst/>
                        <a:latin typeface="Times New Roman" panose="02020603050405020304" pitchFamily="18" charset="0"/>
                      </a:endParaRPr>
                    </a:p>
                  </a:txBody>
                  <a:tcPr marL="68580" marR="68580" marT="0" marB="0" anchor="ctr"/>
                </a:tc>
              </a:tr>
              <a:tr h="297631">
                <a:tc>
                  <a:txBody>
                    <a:bodyPr/>
                    <a:lstStyle/>
                    <a:p>
                      <a:pPr>
                        <a:lnSpc>
                          <a:spcPct val="115000"/>
                        </a:lnSpc>
                        <a:spcAft>
                          <a:spcPts val="1000"/>
                        </a:spcAft>
                      </a:pPr>
                      <a:endParaRPr lang="en-IN" sz="2400" dirty="0">
                        <a:effectLst/>
                        <a:latin typeface="Times New Roman" panose="02020603050405020304" pitchFamily="18" charset="0"/>
                      </a:endParaRPr>
                    </a:p>
                  </a:txBody>
                  <a:tcPr marL="68580" marR="68580" marT="0" marB="0" anchor="ctr"/>
                </a:tc>
                <a:tc>
                  <a:txBody>
                    <a:bodyPr/>
                    <a:lstStyle/>
                    <a:p>
                      <a:r>
                        <a:rPr lang="de-DE" sz="2400" dirty="0" smtClean="0"/>
                        <a:t>100,98,95,92,88</a:t>
                      </a:r>
                      <a:endParaRPr lang="en-IN" sz="2400" dirty="0"/>
                    </a:p>
                  </a:txBody>
                  <a:tcPr marL="68580" marR="68580" marT="0" marB="0" anchor="ctr"/>
                </a:tc>
              </a:tr>
            </a:tbl>
          </a:graphicData>
        </a:graphic>
      </p:graphicFrame>
    </p:spTree>
  </p:cSld>
  <p:clrMapOvr>
    <a:masterClrMapping/>
  </p:clrMapOvr>
  <p:transition>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3429000" y="228600"/>
            <a:ext cx="3810000" cy="990600"/>
          </a:xfrm>
        </p:spPr>
        <p:txBody>
          <a:bodyPr>
            <a:normAutofit/>
          </a:bodyPr>
          <a:lstStyle/>
          <a:p>
            <a:r>
              <a:rPr lang="en-US" sz="4000" b="1" dirty="0"/>
              <a:t>A</a:t>
            </a:r>
            <a:r>
              <a:rPr lang="en-US" sz="4000" b="1" dirty="0" smtClean="0"/>
              <a:t>NN </a:t>
            </a:r>
            <a:r>
              <a:rPr lang="en-US" sz="4000" b="1" dirty="0" smtClean="0"/>
              <a:t>Result</a:t>
            </a:r>
            <a:endParaRPr lang="th-TH" sz="4000" b="1" dirty="0" smtClean="0"/>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Thursday, September 6, 2018</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27</a:t>
            </a:fld>
            <a:endParaRPr lang="en-US" smtClean="0">
              <a:latin typeface="Arial"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965977578"/>
              </p:ext>
            </p:extLst>
          </p:nvPr>
        </p:nvGraphicFramePr>
        <p:xfrm>
          <a:off x="1974639" y="2133600"/>
          <a:ext cx="5367775" cy="841248"/>
        </p:xfrm>
        <a:graphic>
          <a:graphicData uri="http://schemas.openxmlformats.org/drawingml/2006/table">
            <a:tbl>
              <a:tblPr firstRow="1" firstCol="1" bandRow="1">
                <a:tableStyleId>{5C22544A-7EE6-4342-B048-85BDC9FD1C3A}</a:tableStyleId>
              </a:tblPr>
              <a:tblGrid>
                <a:gridCol w="2124951"/>
                <a:gridCol w="3242824"/>
              </a:tblGrid>
              <a:tr h="405685">
                <a:tc>
                  <a:txBody>
                    <a:bodyPr/>
                    <a:lstStyle/>
                    <a:p>
                      <a:pPr>
                        <a:lnSpc>
                          <a:spcPct val="115000"/>
                        </a:lnSpc>
                        <a:spcAft>
                          <a:spcPts val="1000"/>
                        </a:spcAft>
                      </a:pPr>
                      <a:r>
                        <a:rPr lang="en-US" sz="2400" dirty="0" smtClean="0">
                          <a:effectLst/>
                        </a:rPr>
                        <a:t>ACCURACY</a:t>
                      </a:r>
                      <a:endParaRPr lang="en-IN" sz="2400" dirty="0">
                        <a:effectLst/>
                        <a:latin typeface="Times New Roman" panose="02020603050405020304" pitchFamily="18" charset="0"/>
                      </a:endParaRPr>
                    </a:p>
                  </a:txBody>
                  <a:tcPr marL="68580" marR="68580" marT="0" marB="0" anchor="ctr"/>
                </a:tc>
                <a:tc>
                  <a:txBody>
                    <a:bodyPr/>
                    <a:lstStyle/>
                    <a:p>
                      <a:pPr>
                        <a:lnSpc>
                          <a:spcPct val="115000"/>
                        </a:lnSpc>
                        <a:spcAft>
                          <a:spcPts val="1000"/>
                        </a:spcAft>
                      </a:pPr>
                      <a:r>
                        <a:rPr lang="en-US" sz="2400" dirty="0" smtClean="0">
                          <a:effectLst/>
                        </a:rPr>
                        <a:t>ANN</a:t>
                      </a:r>
                      <a:endParaRPr lang="en-IN" sz="2400" dirty="0">
                        <a:effectLst/>
                        <a:latin typeface="Times New Roman" panose="02020603050405020304" pitchFamily="18" charset="0"/>
                      </a:endParaRPr>
                    </a:p>
                  </a:txBody>
                  <a:tcPr marL="68580" marR="68580" marT="0" marB="0" anchor="ctr"/>
                </a:tc>
              </a:tr>
              <a:tr h="297631">
                <a:tc>
                  <a:txBody>
                    <a:bodyPr/>
                    <a:lstStyle/>
                    <a:p>
                      <a:pPr>
                        <a:lnSpc>
                          <a:spcPct val="115000"/>
                        </a:lnSpc>
                        <a:spcAft>
                          <a:spcPts val="1000"/>
                        </a:spcAft>
                      </a:pPr>
                      <a:endParaRPr lang="en-IN" sz="2400" dirty="0">
                        <a:effectLst/>
                        <a:latin typeface="Times New Roman" panose="02020603050405020304" pitchFamily="18" charset="0"/>
                      </a:endParaRPr>
                    </a:p>
                  </a:txBody>
                  <a:tcPr marL="68580" marR="68580" marT="0" marB="0" anchor="ctr"/>
                </a:tc>
                <a:tc>
                  <a:txBody>
                    <a:bodyPr/>
                    <a:lstStyle/>
                    <a:p>
                      <a:r>
                        <a:rPr lang="de-DE" sz="2400" dirty="0" smtClean="0"/>
                        <a:t>98.02</a:t>
                      </a:r>
                      <a:endParaRPr lang="en-IN" sz="2400" dirty="0"/>
                    </a:p>
                  </a:txBody>
                  <a:tcPr marL="68580" marR="68580" marT="0" marB="0" anchor="ctr"/>
                </a:tc>
              </a:tr>
            </a:tbl>
          </a:graphicData>
        </a:graphic>
      </p:graphicFrame>
    </p:spTree>
    <p:extLst>
      <p:ext uri="{BB962C8B-B14F-4D97-AF65-F5344CB8AC3E}">
        <p14:creationId xmlns:p14="http://schemas.microsoft.com/office/powerpoint/2010/main" val="3821448169"/>
      </p:ext>
    </p:extLst>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266700" y="403860"/>
            <a:ext cx="8531352" cy="990600"/>
          </a:xfrm>
        </p:spPr>
        <p:txBody>
          <a:bodyPr/>
          <a:lstStyle/>
          <a:p>
            <a:pPr lvl="0" algn="ctr"/>
            <a:r>
              <a:rPr lang="en-GB" sz="2400" dirty="0"/>
              <a:t>Accuracy percentage of different GAIT data classification</a:t>
            </a:r>
            <a:endParaRPr lang="en-IN" sz="2400" b="1" dirty="0"/>
          </a:p>
        </p:txBody>
      </p:sp>
      <p:sp>
        <p:nvSpPr>
          <p:cNvPr id="4101" name="Date Placeholder 4"/>
          <p:cNvSpPr>
            <a:spLocks noGrp="1"/>
          </p:cNvSpPr>
          <p:nvPr>
            <p:ph type="dt" sz="quarter" idx="10"/>
          </p:nvPr>
        </p:nvSpPr>
        <p:spPr>
          <a:xfrm>
            <a:off x="6082048" y="6430962"/>
            <a:ext cx="2667000" cy="365125"/>
          </a:xfrm>
          <a:noFill/>
        </p:spPr>
        <p:txBody>
          <a:bodyPr/>
          <a:lstStyle/>
          <a:p>
            <a:fld id="{053F8EAF-6FEB-488D-8ABD-8D961527C892}" type="datetime2">
              <a:rPr lang="en-US" smtClean="0">
                <a:latin typeface="Arial" pitchFamily="34" charset="0"/>
              </a:rPr>
              <a:pPr/>
              <a:t>Thursday, September 6, 2018</a:t>
            </a:fld>
            <a:endParaRPr lang="en-US" dirty="0"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28</a:t>
            </a:fld>
            <a:endParaRPr lang="en-US" smtClean="0">
              <a:latin typeface="Arial"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2881238280"/>
              </p:ext>
            </p:extLst>
          </p:nvPr>
        </p:nvGraphicFramePr>
        <p:xfrm>
          <a:off x="1371600" y="3352799"/>
          <a:ext cx="7086600" cy="1371600"/>
        </p:xfrm>
        <a:graphic>
          <a:graphicData uri="http://schemas.openxmlformats.org/drawingml/2006/table">
            <a:tbl>
              <a:tblPr firstRow="1" firstCol="1" bandRow="1"/>
              <a:tblGrid>
                <a:gridCol w="1868303"/>
                <a:gridCol w="2995761"/>
                <a:gridCol w="2222536"/>
              </a:tblGrid>
              <a:tr h="685800">
                <a:tc>
                  <a:txBody>
                    <a:bodyPr/>
                    <a:lstStyle/>
                    <a:p>
                      <a:pPr algn="ctr">
                        <a:spcBef>
                          <a:spcPts val="1800"/>
                        </a:spcBef>
                        <a:spcAft>
                          <a:spcPts val="0"/>
                        </a:spcAft>
                      </a:pPr>
                      <a:r>
                        <a:rPr lang="en-US" sz="2400" b="1" dirty="0">
                          <a:effectLst/>
                          <a:latin typeface="Arial" panose="020B0604020202020204" pitchFamily="34" charset="0"/>
                          <a:ea typeface="MS Mincho" panose="02020609040205080304" pitchFamily="49" charset="-128"/>
                        </a:rPr>
                        <a:t>K-Means</a:t>
                      </a:r>
                      <a:endParaRPr lang="en-IN" sz="2400" b="1" dirty="0">
                        <a:effectLst/>
                        <a:latin typeface="Times New Roman" panose="02020603050405020304" pitchFamily="18" charset="0"/>
                        <a:ea typeface="MS Mincho" panose="02020609040205080304" pitchFamily="49" charset="-128"/>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800"/>
                        </a:spcBef>
                        <a:spcAft>
                          <a:spcPts val="0"/>
                        </a:spcAft>
                      </a:pPr>
                      <a:r>
                        <a:rPr lang="en-US" sz="2400" b="1" dirty="0">
                          <a:effectLst/>
                          <a:latin typeface="Arial" panose="020B0604020202020204" pitchFamily="34" charset="0"/>
                          <a:ea typeface="MS Mincho" panose="02020609040205080304" pitchFamily="49" charset="-128"/>
                        </a:rPr>
                        <a:t>KNN(k=1,2,3,4,5)</a:t>
                      </a:r>
                      <a:endParaRPr lang="en-IN" sz="2400" b="1" dirty="0">
                        <a:effectLst/>
                        <a:latin typeface="Times New Roman" panose="02020603050405020304" pitchFamily="18" charset="0"/>
                        <a:ea typeface="MS Mincho" panose="02020609040205080304" pitchFamily="49" charset="-128"/>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800"/>
                        </a:spcBef>
                        <a:spcAft>
                          <a:spcPts val="0"/>
                        </a:spcAft>
                      </a:pPr>
                      <a:r>
                        <a:rPr lang="en-US" sz="2400" b="1">
                          <a:effectLst/>
                          <a:latin typeface="Arial" panose="020B0604020202020204" pitchFamily="34" charset="0"/>
                          <a:ea typeface="MS Mincho" panose="02020609040205080304" pitchFamily="49" charset="-128"/>
                        </a:rPr>
                        <a:t>ANN        </a:t>
                      </a:r>
                      <a:endParaRPr lang="en-IN" sz="2400" b="1">
                        <a:effectLst/>
                        <a:latin typeface="Times New Roman" panose="02020603050405020304" pitchFamily="18" charset="0"/>
                        <a:ea typeface="MS Mincho" panose="02020609040205080304" pitchFamily="49" charset="-128"/>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85800">
                <a:tc>
                  <a:txBody>
                    <a:bodyPr/>
                    <a:lstStyle/>
                    <a:p>
                      <a:pPr algn="ctr">
                        <a:spcBef>
                          <a:spcPts val="1800"/>
                        </a:spcBef>
                        <a:spcAft>
                          <a:spcPts val="0"/>
                        </a:spcAft>
                      </a:pPr>
                      <a:r>
                        <a:rPr lang="en-US" sz="2400" b="0" dirty="0">
                          <a:effectLst/>
                          <a:latin typeface="Arial" panose="020B0604020202020204" pitchFamily="34" charset="0"/>
                          <a:ea typeface="MS Mincho" panose="02020609040205080304" pitchFamily="49" charset="-128"/>
                        </a:rPr>
                        <a:t>74.68</a:t>
                      </a:r>
                      <a:endParaRPr lang="en-IN" sz="2400" b="1" dirty="0">
                        <a:effectLst/>
                        <a:latin typeface="Times New Roman" panose="02020603050405020304" pitchFamily="18" charset="0"/>
                        <a:ea typeface="MS Mincho" panose="02020609040205080304" pitchFamily="49" charset="-128"/>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800"/>
                        </a:spcBef>
                        <a:spcAft>
                          <a:spcPts val="0"/>
                        </a:spcAft>
                      </a:pPr>
                      <a:r>
                        <a:rPr lang="en-US" sz="2400" b="0">
                          <a:effectLst/>
                          <a:latin typeface="Arial" panose="020B0604020202020204" pitchFamily="34" charset="0"/>
                          <a:ea typeface="MS Mincho" panose="02020609040205080304" pitchFamily="49" charset="-128"/>
                        </a:rPr>
                        <a:t>100,98,95,92,88</a:t>
                      </a:r>
                      <a:endParaRPr lang="en-IN" sz="2400" b="1">
                        <a:effectLst/>
                        <a:latin typeface="Times New Roman" panose="02020603050405020304" pitchFamily="18" charset="0"/>
                        <a:ea typeface="MS Mincho" panose="02020609040205080304" pitchFamily="49" charset="-128"/>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800"/>
                        </a:spcBef>
                        <a:spcAft>
                          <a:spcPts val="0"/>
                        </a:spcAft>
                      </a:pPr>
                      <a:r>
                        <a:rPr lang="en-US" sz="2400" b="0" dirty="0">
                          <a:effectLst/>
                          <a:latin typeface="Arial" panose="020B0604020202020204" pitchFamily="34" charset="0"/>
                          <a:ea typeface="MS Mincho" panose="02020609040205080304" pitchFamily="49" charset="-128"/>
                        </a:rPr>
                        <a:t>98.02</a:t>
                      </a:r>
                      <a:endParaRPr lang="en-IN" sz="2400" b="1" dirty="0">
                        <a:effectLst/>
                        <a:latin typeface="Times New Roman" panose="02020603050405020304" pitchFamily="18" charset="0"/>
                        <a:ea typeface="MS Mincho" panose="02020609040205080304" pitchFamily="49" charset="-128"/>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4" name="Rectangle 2"/>
          <p:cNvSpPr txBox="1">
            <a:spLocks noChangeArrowheads="1"/>
          </p:cNvSpPr>
          <p:nvPr/>
        </p:nvSpPr>
        <p:spPr>
          <a:xfrm>
            <a:off x="3429000" y="-5443"/>
            <a:ext cx="2740152" cy="990600"/>
          </a:xfrm>
          <a:prstGeom prst="rect">
            <a:avLst/>
          </a:prstGeom>
        </p:spPr>
        <p:txBody>
          <a:bodyPr vert="horz" anchor="ctr">
            <a:normAutofit/>
          </a:bodyPr>
          <a:lstStyle>
            <a:lvl1pPr algn="l" rtl="0" eaLnBrk="1" latinLnBrk="0" hangingPunct="1">
              <a:spcBef>
                <a:spcPct val="0"/>
              </a:spcBef>
              <a:buNone/>
              <a:defRPr kumimoji="0" sz="4400" kern="1200">
                <a:solidFill>
                  <a:schemeClr val="tx2"/>
                </a:solidFill>
                <a:latin typeface="+mj-lt"/>
                <a:ea typeface="+mj-ea"/>
                <a:cs typeface="+mj-cs"/>
              </a:defRPr>
            </a:lvl1pPr>
          </a:lstStyle>
          <a:p>
            <a:r>
              <a:rPr lang="en-US" sz="4000" b="1" dirty="0" smtClean="0"/>
              <a:t>Results</a:t>
            </a:r>
            <a:endParaRPr lang="th-TH" sz="4000" b="1" dirty="0" smtClean="0"/>
          </a:p>
        </p:txBody>
      </p:sp>
    </p:spTree>
    <p:extLst>
      <p:ext uri="{BB962C8B-B14F-4D97-AF65-F5344CB8AC3E}">
        <p14:creationId xmlns:p14="http://schemas.microsoft.com/office/powerpoint/2010/main" val="285757758"/>
      </p:ext>
    </p:extLst>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266700" y="170590"/>
            <a:ext cx="8531352" cy="990600"/>
          </a:xfrm>
        </p:spPr>
        <p:txBody>
          <a:bodyPr/>
          <a:lstStyle/>
          <a:p>
            <a:pPr lvl="0"/>
            <a:r>
              <a:rPr lang="en-IN" sz="2400" b="1" dirty="0" smtClean="0"/>
              <a:t>Comparison of success rate by different algorithms using 10–fold cross validation</a:t>
            </a:r>
            <a:endParaRPr lang="en-IN" sz="2400" b="1" dirty="0"/>
          </a:p>
        </p:txBody>
      </p:sp>
      <p:sp>
        <p:nvSpPr>
          <p:cNvPr id="4101" name="Date Placeholder 4"/>
          <p:cNvSpPr>
            <a:spLocks noGrp="1"/>
          </p:cNvSpPr>
          <p:nvPr>
            <p:ph type="dt" sz="quarter" idx="10"/>
          </p:nvPr>
        </p:nvSpPr>
        <p:spPr>
          <a:xfrm>
            <a:off x="6082048" y="6430962"/>
            <a:ext cx="2667000" cy="365125"/>
          </a:xfrm>
          <a:noFill/>
        </p:spPr>
        <p:txBody>
          <a:bodyPr/>
          <a:lstStyle/>
          <a:p>
            <a:fld id="{053F8EAF-6FEB-488D-8ABD-8D961527C892}" type="datetime2">
              <a:rPr lang="en-US" smtClean="0">
                <a:latin typeface="Arial" pitchFamily="34" charset="0"/>
              </a:rPr>
              <a:pPr/>
              <a:t>Thursday, September 6, 2018</a:t>
            </a:fld>
            <a:endParaRPr lang="en-US" dirty="0"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29</a:t>
            </a:fld>
            <a:endParaRPr lang="en-US" smtClean="0">
              <a:latin typeface="Arial"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096529410"/>
              </p:ext>
            </p:extLst>
          </p:nvPr>
        </p:nvGraphicFramePr>
        <p:xfrm>
          <a:off x="5638800" y="1992787"/>
          <a:ext cx="3428238" cy="1624396"/>
        </p:xfrm>
        <a:graphic>
          <a:graphicData uri="http://schemas.openxmlformats.org/drawingml/2006/table">
            <a:tbl>
              <a:tblPr firstRow="1" firstCol="1" bandRow="1">
                <a:tableStyleId>{5C22544A-7EE6-4342-B048-85BDC9FD1C3A}</a:tableStyleId>
              </a:tblPr>
              <a:tblGrid>
                <a:gridCol w="2070525"/>
                <a:gridCol w="1357713"/>
              </a:tblGrid>
              <a:tr h="595657">
                <a:tc>
                  <a:txBody>
                    <a:bodyPr/>
                    <a:lstStyle/>
                    <a:p>
                      <a:pPr>
                        <a:lnSpc>
                          <a:spcPct val="115000"/>
                        </a:lnSpc>
                        <a:spcAft>
                          <a:spcPts val="1000"/>
                        </a:spcAft>
                      </a:pPr>
                      <a:r>
                        <a:rPr lang="en-IN" sz="1800" dirty="0">
                          <a:effectLst/>
                        </a:rPr>
                        <a:t>Classifier</a:t>
                      </a:r>
                      <a:endParaRPr lang="en-IN" sz="1800" dirty="0">
                        <a:effectLst/>
                        <a:latin typeface="Times New Roman" panose="02020603050405020304" pitchFamily="18" charset="0"/>
                      </a:endParaRPr>
                    </a:p>
                  </a:txBody>
                  <a:tcPr marL="68580" marR="68580" marT="0" marB="0"/>
                </a:tc>
                <a:tc>
                  <a:txBody>
                    <a:bodyPr/>
                    <a:lstStyle/>
                    <a:p>
                      <a:pPr>
                        <a:lnSpc>
                          <a:spcPct val="115000"/>
                        </a:lnSpc>
                        <a:spcAft>
                          <a:spcPts val="1000"/>
                        </a:spcAft>
                      </a:pPr>
                      <a:r>
                        <a:rPr lang="en-IN" sz="1800" dirty="0">
                          <a:effectLst/>
                        </a:rPr>
                        <a:t>Rate of Success (%)</a:t>
                      </a:r>
                      <a:endParaRPr lang="en-IN" sz="1800" dirty="0">
                        <a:effectLst/>
                        <a:latin typeface="Times New Roman" panose="02020603050405020304" pitchFamily="18" charset="0"/>
                      </a:endParaRPr>
                    </a:p>
                  </a:txBody>
                  <a:tcPr marL="68580" marR="68580" marT="0" marB="0"/>
                </a:tc>
              </a:tr>
              <a:tr h="435312">
                <a:tc>
                  <a:txBody>
                    <a:bodyPr/>
                    <a:lstStyle/>
                    <a:p>
                      <a:pPr>
                        <a:lnSpc>
                          <a:spcPct val="115000"/>
                        </a:lnSpc>
                        <a:spcAft>
                          <a:spcPts val="1000"/>
                        </a:spcAft>
                      </a:pPr>
                      <a:r>
                        <a:rPr lang="en-IN" sz="1800" dirty="0" smtClean="0">
                          <a:effectLst/>
                        </a:rPr>
                        <a:t>KNN</a:t>
                      </a:r>
                      <a:endParaRPr lang="en-IN" sz="1800" dirty="0">
                        <a:effectLst/>
                        <a:latin typeface="Times New Roman" panose="02020603050405020304" pitchFamily="18" charset="0"/>
                      </a:endParaRPr>
                    </a:p>
                  </a:txBody>
                  <a:tcPr marL="68580" marR="68580" marT="0" marB="0"/>
                </a:tc>
                <a:tc>
                  <a:txBody>
                    <a:bodyPr/>
                    <a:lstStyle/>
                    <a:p>
                      <a:pPr>
                        <a:lnSpc>
                          <a:spcPct val="115000"/>
                        </a:lnSpc>
                        <a:spcAft>
                          <a:spcPts val="1000"/>
                        </a:spcAft>
                      </a:pPr>
                      <a:r>
                        <a:rPr lang="en-IN" sz="1800" dirty="0" smtClean="0">
                          <a:effectLst/>
                          <a:latin typeface="+mn-lt"/>
                        </a:rPr>
                        <a:t>87.32 %</a:t>
                      </a:r>
                      <a:endParaRPr lang="en-IN" sz="1800" dirty="0">
                        <a:effectLst/>
                        <a:latin typeface="Times New Roman" panose="02020603050405020304" pitchFamily="18" charset="0"/>
                      </a:endParaRPr>
                    </a:p>
                  </a:txBody>
                  <a:tcPr marL="68580" marR="68580" marT="0" marB="0"/>
                </a:tc>
              </a:tr>
              <a:tr h="558148">
                <a:tc>
                  <a:txBody>
                    <a:bodyPr/>
                    <a:lstStyle/>
                    <a:p>
                      <a:pPr>
                        <a:lnSpc>
                          <a:spcPct val="115000"/>
                        </a:lnSpc>
                        <a:spcAft>
                          <a:spcPts val="1000"/>
                        </a:spcAft>
                      </a:pPr>
                      <a:r>
                        <a:rPr lang="en-IN" sz="1800" dirty="0" smtClean="0">
                          <a:effectLst/>
                          <a:latin typeface="+mn-lt"/>
                        </a:rPr>
                        <a:t>Back</a:t>
                      </a:r>
                      <a:r>
                        <a:rPr lang="en-IN" sz="1800" baseline="0" dirty="0" smtClean="0">
                          <a:effectLst/>
                          <a:latin typeface="+mn-lt"/>
                        </a:rPr>
                        <a:t> Propagation</a:t>
                      </a:r>
                      <a:endParaRPr lang="en-IN" sz="1800" dirty="0">
                        <a:effectLst/>
                        <a:latin typeface="Times New Roman" panose="02020603050405020304" pitchFamily="18" charset="0"/>
                      </a:endParaRPr>
                    </a:p>
                  </a:txBody>
                  <a:tcPr marL="68580" marR="68580" marT="0" marB="0"/>
                </a:tc>
                <a:tc>
                  <a:txBody>
                    <a:bodyPr/>
                    <a:lstStyle/>
                    <a:p>
                      <a:pPr>
                        <a:lnSpc>
                          <a:spcPct val="115000"/>
                        </a:lnSpc>
                        <a:spcAft>
                          <a:spcPts val="1000"/>
                        </a:spcAft>
                      </a:pPr>
                      <a:r>
                        <a:rPr lang="en-IN" sz="1800" dirty="0" smtClean="0">
                          <a:effectLst/>
                        </a:rPr>
                        <a:t>98.02 </a:t>
                      </a:r>
                      <a:r>
                        <a:rPr lang="en-IN" sz="1800" dirty="0" smtClean="0">
                          <a:effectLst/>
                        </a:rPr>
                        <a:t>%</a:t>
                      </a:r>
                      <a:endParaRPr lang="en-IN" sz="1800" dirty="0">
                        <a:effectLst/>
                        <a:latin typeface="Times New Roman" panose="02020603050405020304" pitchFamily="18" charset="0"/>
                      </a:endParaRPr>
                    </a:p>
                  </a:txBody>
                  <a:tcPr marL="68580" marR="68580" marT="0" marB="0"/>
                </a:tc>
              </a:tr>
            </a:tbl>
          </a:graphicData>
        </a:graphic>
      </p:graphicFrame>
      <p:sp>
        <p:nvSpPr>
          <p:cNvPr id="4" name="Rectangle 3"/>
          <p:cNvSpPr/>
          <p:nvPr/>
        </p:nvSpPr>
        <p:spPr>
          <a:xfrm>
            <a:off x="733023" y="1580647"/>
            <a:ext cx="8001000" cy="369332"/>
          </a:xfrm>
          <a:prstGeom prst="rect">
            <a:avLst/>
          </a:prstGeom>
        </p:spPr>
        <p:txBody>
          <a:bodyPr wrap="square">
            <a:spAutoFit/>
          </a:bodyPr>
          <a:lstStyle/>
          <a:p>
            <a:pPr algn="just"/>
            <a:r>
              <a:rPr lang="en-IN" dirty="0"/>
              <a:t>After this, 10-fold cross validation was used to </a:t>
            </a:r>
            <a:r>
              <a:rPr lang="en-IN" dirty="0" smtClean="0"/>
              <a:t>check </a:t>
            </a:r>
            <a:r>
              <a:rPr lang="en-IN" dirty="0"/>
              <a:t>overall accuracy of the system. </a:t>
            </a:r>
          </a:p>
        </p:txBody>
      </p:sp>
      <p:pic>
        <p:nvPicPr>
          <p:cNvPr id="6" name="Picture 5"/>
          <p:cNvPicPr>
            <a:picLocks noChangeAspect="1"/>
          </p:cNvPicPr>
          <p:nvPr/>
        </p:nvPicPr>
        <p:blipFill>
          <a:blip r:embed="rId2"/>
          <a:stretch>
            <a:fillRect/>
          </a:stretch>
        </p:blipFill>
        <p:spPr>
          <a:xfrm>
            <a:off x="5486400" y="4010248"/>
            <a:ext cx="3580639" cy="2420714"/>
          </a:xfrm>
          <a:prstGeom prst="rect">
            <a:avLst/>
          </a:prstGeom>
        </p:spPr>
      </p:pic>
      <p:graphicFrame>
        <p:nvGraphicFramePr>
          <p:cNvPr id="11" name="Table 10"/>
          <p:cNvGraphicFramePr>
            <a:graphicFrameLocks noGrp="1"/>
          </p:cNvGraphicFramePr>
          <p:nvPr>
            <p:extLst>
              <p:ext uri="{D42A27DB-BD31-4B8C-83A1-F6EECF244321}">
                <p14:modId xmlns:p14="http://schemas.microsoft.com/office/powerpoint/2010/main" val="558157780"/>
              </p:ext>
            </p:extLst>
          </p:nvPr>
        </p:nvGraphicFramePr>
        <p:xfrm>
          <a:off x="152400" y="2026983"/>
          <a:ext cx="5219700" cy="4685602"/>
        </p:xfrm>
        <a:graphic>
          <a:graphicData uri="http://schemas.openxmlformats.org/drawingml/2006/table">
            <a:tbl>
              <a:tblPr firstRow="1" bandRow="1">
                <a:tableStyleId>{3C2FFA5D-87B4-456A-9821-1D502468CF0F}</a:tableStyleId>
              </a:tblPr>
              <a:tblGrid>
                <a:gridCol w="2247900"/>
                <a:gridCol w="1676400"/>
                <a:gridCol w="1295400"/>
              </a:tblGrid>
              <a:tr h="556578">
                <a:tc>
                  <a:txBody>
                    <a:bodyPr/>
                    <a:lstStyle/>
                    <a:p>
                      <a:pPr algn="ctr"/>
                      <a:r>
                        <a:rPr lang="en-IN" dirty="0" smtClean="0"/>
                        <a:t>FACTORS</a:t>
                      </a:r>
                      <a:endParaRPr lang="en-IN" dirty="0"/>
                    </a:p>
                  </a:txBody>
                  <a:tcPr/>
                </a:tc>
                <a:tc>
                  <a:txBody>
                    <a:bodyPr/>
                    <a:lstStyle/>
                    <a:p>
                      <a:pPr algn="ctr"/>
                      <a:r>
                        <a:rPr lang="en-IN" dirty="0" smtClean="0"/>
                        <a:t>ANN</a:t>
                      </a:r>
                      <a:endParaRPr lang="en-IN" dirty="0"/>
                    </a:p>
                  </a:txBody>
                  <a:tcPr/>
                </a:tc>
                <a:tc>
                  <a:txBody>
                    <a:bodyPr/>
                    <a:lstStyle/>
                    <a:p>
                      <a:pPr algn="ctr"/>
                      <a:r>
                        <a:rPr lang="en-IN" dirty="0" smtClean="0"/>
                        <a:t>KNN</a:t>
                      </a:r>
                      <a:endParaRPr lang="en-IN" dirty="0"/>
                    </a:p>
                  </a:txBody>
                  <a:tcPr/>
                </a:tc>
              </a:tr>
              <a:tr h="43402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dirty="0" smtClean="0"/>
                        <a:t>Correlation coefficient </a:t>
                      </a:r>
                    </a:p>
                    <a:p>
                      <a:endParaRPr lang="en-IN"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dirty="0" smtClean="0"/>
                        <a:t>0.9955</a:t>
                      </a:r>
                    </a:p>
                    <a:p>
                      <a:endParaRPr lang="en-IN" sz="1600" dirty="0"/>
                    </a:p>
                  </a:txBody>
                  <a:tcPr/>
                </a:tc>
                <a:tc>
                  <a:txBody>
                    <a:bodyPr/>
                    <a:lstStyle/>
                    <a:p>
                      <a:r>
                        <a:rPr lang="en-IN" sz="1600" dirty="0" smtClean="0"/>
                        <a:t>1.232</a:t>
                      </a:r>
                      <a:endParaRPr lang="en-IN" sz="1600" dirty="0"/>
                    </a:p>
                  </a:txBody>
                  <a:tcPr/>
                </a:tc>
              </a:tr>
              <a:tr h="403542">
                <a:tc>
                  <a:txBody>
                    <a:bodyPr/>
                    <a:lstStyle/>
                    <a:p>
                      <a:r>
                        <a:rPr lang="en-IN" sz="1600" dirty="0" smtClean="0"/>
                        <a:t>Mean absolute error </a:t>
                      </a:r>
                      <a:endParaRPr lang="en-IN" sz="1600" dirty="0"/>
                    </a:p>
                  </a:txBody>
                  <a:tcPr/>
                </a:tc>
                <a:tc>
                  <a:txBody>
                    <a:bodyPr/>
                    <a:lstStyle/>
                    <a:p>
                      <a:pPr>
                        <a:lnSpc>
                          <a:spcPct val="115000"/>
                        </a:lnSpc>
                        <a:spcAft>
                          <a:spcPts val="1000"/>
                        </a:spcAft>
                      </a:pPr>
                      <a:r>
                        <a:rPr lang="en-IN" sz="1600" dirty="0" smtClean="0"/>
                        <a:t>8.2394</a:t>
                      </a:r>
                    </a:p>
                    <a:p>
                      <a:endParaRPr lang="en-IN" sz="1600" dirty="0"/>
                    </a:p>
                  </a:txBody>
                  <a:tcPr/>
                </a:tc>
                <a:tc>
                  <a:txBody>
                    <a:bodyPr/>
                    <a:lstStyle/>
                    <a:p>
                      <a:r>
                        <a:rPr lang="en-IN" sz="1600" dirty="0" smtClean="0"/>
                        <a:t>9.4324</a:t>
                      </a:r>
                      <a:endParaRPr lang="en-IN" sz="1600" dirty="0"/>
                    </a:p>
                  </a:txBody>
                  <a:tcPr/>
                </a:tc>
              </a:tr>
              <a:tr h="540067">
                <a:tc>
                  <a:txBody>
                    <a:bodyPr/>
                    <a:lstStyle/>
                    <a:p>
                      <a:r>
                        <a:rPr lang="en-IN" sz="1600" dirty="0" smtClean="0"/>
                        <a:t>Root mean squared error </a:t>
                      </a:r>
                      <a:endParaRPr lang="en-IN" sz="1600" dirty="0"/>
                    </a:p>
                  </a:txBody>
                  <a:tcPr/>
                </a:tc>
                <a:tc>
                  <a:txBody>
                    <a:bodyPr/>
                    <a:lstStyle/>
                    <a:p>
                      <a:pPr>
                        <a:lnSpc>
                          <a:spcPct val="115000"/>
                        </a:lnSpc>
                        <a:spcAft>
                          <a:spcPts val="1000"/>
                        </a:spcAft>
                      </a:pPr>
                      <a:r>
                        <a:rPr lang="en-IN" sz="1600" dirty="0" smtClean="0"/>
                        <a:t>117.3938</a:t>
                      </a:r>
                    </a:p>
                    <a:p>
                      <a:endParaRPr lang="en-IN" sz="1600" dirty="0"/>
                    </a:p>
                  </a:txBody>
                  <a:tcPr/>
                </a:tc>
                <a:tc>
                  <a:txBody>
                    <a:bodyPr/>
                    <a:lstStyle/>
                    <a:p>
                      <a:r>
                        <a:rPr lang="en-IN" sz="1600" dirty="0" smtClean="0"/>
                        <a:t>132.3233</a:t>
                      </a:r>
                      <a:endParaRPr lang="en-IN" sz="1600" dirty="0"/>
                    </a:p>
                  </a:txBody>
                  <a:tcPr/>
                </a:tc>
              </a:tr>
              <a:tr h="540067">
                <a:tc>
                  <a:txBody>
                    <a:bodyPr/>
                    <a:lstStyle/>
                    <a:p>
                      <a:r>
                        <a:rPr lang="en-IN" sz="1600" dirty="0" smtClean="0"/>
                        <a:t>Relative absolute error </a:t>
                      </a:r>
                      <a:endParaRPr lang="en-IN" sz="1600" dirty="0"/>
                    </a:p>
                  </a:txBody>
                  <a:tcPr/>
                </a:tc>
                <a:tc>
                  <a:txBody>
                    <a:bodyPr/>
                    <a:lstStyle/>
                    <a:p>
                      <a:pPr>
                        <a:lnSpc>
                          <a:spcPct val="115000"/>
                        </a:lnSpc>
                        <a:spcAft>
                          <a:spcPts val="1000"/>
                        </a:spcAft>
                      </a:pPr>
                      <a:r>
                        <a:rPr lang="en-IN" sz="1600" dirty="0" smtClean="0"/>
                        <a:t>0.741 %</a:t>
                      </a:r>
                    </a:p>
                    <a:p>
                      <a:endParaRPr lang="en-IN" sz="1600" dirty="0"/>
                    </a:p>
                  </a:txBody>
                  <a:tcPr/>
                </a:tc>
                <a:tc>
                  <a:txBody>
                    <a:bodyPr/>
                    <a:lstStyle/>
                    <a:p>
                      <a:r>
                        <a:rPr lang="en-IN" sz="1600" dirty="0" smtClean="0"/>
                        <a:t>0.841%</a:t>
                      </a:r>
                      <a:endParaRPr lang="en-IN" sz="1600" dirty="0"/>
                    </a:p>
                  </a:txBody>
                  <a:tcPr/>
                </a:tc>
              </a:tr>
              <a:tr h="394716">
                <a:tc>
                  <a:txBody>
                    <a:bodyPr/>
                    <a:lstStyle/>
                    <a:p>
                      <a:r>
                        <a:rPr lang="en-IN" sz="1600" dirty="0" smtClean="0"/>
                        <a:t>Root relative squared error </a:t>
                      </a:r>
                      <a:endParaRPr lang="en-IN" sz="1600" dirty="0"/>
                    </a:p>
                  </a:txBody>
                  <a:tcPr/>
                </a:tc>
                <a:tc>
                  <a:txBody>
                    <a:bodyPr/>
                    <a:lstStyle/>
                    <a:p>
                      <a:pPr>
                        <a:lnSpc>
                          <a:spcPct val="115000"/>
                        </a:lnSpc>
                        <a:spcAft>
                          <a:spcPts val="1000"/>
                        </a:spcAft>
                      </a:pPr>
                      <a:r>
                        <a:rPr lang="en-IN" sz="1600" dirty="0" smtClean="0"/>
                        <a:t>9.4381 %</a:t>
                      </a:r>
                    </a:p>
                    <a:p>
                      <a:endParaRPr lang="en-IN" sz="1600" dirty="0"/>
                    </a:p>
                  </a:txBody>
                  <a:tcPr/>
                </a:tc>
                <a:tc>
                  <a:txBody>
                    <a:bodyPr/>
                    <a:lstStyle/>
                    <a:p>
                      <a:r>
                        <a:rPr lang="en-IN" sz="1600" dirty="0" smtClean="0"/>
                        <a:t>10.4322%</a:t>
                      </a:r>
                      <a:endParaRPr lang="en-IN" sz="1600" dirty="0"/>
                    </a:p>
                  </a:txBody>
                  <a:tcPr/>
                </a:tc>
              </a:tr>
              <a:tr h="427708">
                <a:tc>
                  <a:txBody>
                    <a:bodyPr/>
                    <a:lstStyle/>
                    <a:p>
                      <a:r>
                        <a:rPr lang="en-IN" sz="1600" dirty="0" smtClean="0"/>
                        <a:t>Total Number of Instances </a:t>
                      </a:r>
                      <a:endParaRPr lang="en-IN"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dirty="0" smtClean="0"/>
                        <a:t>204</a:t>
                      </a:r>
                    </a:p>
                    <a:p>
                      <a:endParaRPr lang="en-IN"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dirty="0" smtClean="0"/>
                        <a:t>204</a:t>
                      </a:r>
                    </a:p>
                    <a:p>
                      <a:endParaRPr lang="en-IN" sz="1600" dirty="0"/>
                    </a:p>
                  </a:txBody>
                  <a:tcPr/>
                </a:tc>
              </a:tr>
            </a:tbl>
          </a:graphicData>
        </a:graphic>
      </p:graphicFrame>
    </p:spTree>
  </p:cSld>
  <p:clrMapOvr>
    <a:masterClrMapping/>
  </p:clrMapOvr>
  <p:transition>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266700" y="170590"/>
            <a:ext cx="8531352" cy="990600"/>
          </a:xfrm>
        </p:spPr>
        <p:txBody>
          <a:bodyPr/>
          <a:lstStyle/>
          <a:p>
            <a:pPr lvl="0" algn="ctr"/>
            <a:r>
              <a:rPr lang="en-IN" sz="2400" b="1" dirty="0" smtClean="0"/>
              <a:t>ROC CURVE</a:t>
            </a:r>
            <a:endParaRPr lang="en-IN" sz="2400" b="1" dirty="0"/>
          </a:p>
        </p:txBody>
      </p:sp>
      <p:sp>
        <p:nvSpPr>
          <p:cNvPr id="4101" name="Date Placeholder 4"/>
          <p:cNvSpPr>
            <a:spLocks noGrp="1"/>
          </p:cNvSpPr>
          <p:nvPr>
            <p:ph type="dt" sz="quarter" idx="10"/>
          </p:nvPr>
        </p:nvSpPr>
        <p:spPr>
          <a:xfrm>
            <a:off x="6082048" y="6430962"/>
            <a:ext cx="2667000" cy="365125"/>
          </a:xfrm>
          <a:noFill/>
        </p:spPr>
        <p:txBody>
          <a:bodyPr/>
          <a:lstStyle/>
          <a:p>
            <a:fld id="{053F8EAF-6FEB-488D-8ABD-8D961527C892}" type="datetime2">
              <a:rPr lang="en-US" smtClean="0">
                <a:latin typeface="Arial" pitchFamily="34" charset="0"/>
              </a:rPr>
              <a:pPr/>
              <a:t>Thursday, September 6, 2018</a:t>
            </a:fld>
            <a:endParaRPr lang="en-US" dirty="0"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30</a:t>
            </a:fld>
            <a:endParaRPr lang="en-US" smtClean="0">
              <a:latin typeface="Arial" pitchFamily="34"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7800" y="2438400"/>
            <a:ext cx="5875972" cy="2906078"/>
          </a:xfrm>
          <a:prstGeom prst="rect">
            <a:avLst/>
          </a:prstGeom>
          <a:noFill/>
          <a:ln>
            <a:noFill/>
          </a:ln>
        </p:spPr>
      </p:pic>
    </p:spTree>
    <p:extLst>
      <p:ext uri="{BB962C8B-B14F-4D97-AF65-F5344CB8AC3E}">
        <p14:creationId xmlns:p14="http://schemas.microsoft.com/office/powerpoint/2010/main" val="169881228"/>
      </p:ext>
    </p:extLst>
  </p:cSld>
  <p:clrMapOvr>
    <a:masterClrMapping/>
  </p:clrMapOvr>
  <p:transition>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Conclusion</a:t>
            </a:r>
            <a:endParaRPr lang="en-US" b="1" dirty="0" smtClean="0">
              <a:solidFill>
                <a:srgbClr val="FF0000"/>
              </a:solidFill>
            </a:endParaRPr>
          </a:p>
        </p:txBody>
      </p:sp>
      <p:sp>
        <p:nvSpPr>
          <p:cNvPr id="3" name="Date Placeholder 2"/>
          <p:cNvSpPr>
            <a:spLocks noGrp="1"/>
          </p:cNvSpPr>
          <p:nvPr>
            <p:ph type="dt" sz="half" idx="10"/>
          </p:nvPr>
        </p:nvSpPr>
        <p:spPr/>
        <p:txBody>
          <a:bodyPr/>
          <a:lstStyle/>
          <a:p>
            <a:fld id="{5A9B8384-26D2-44B7-B750-847CEE8EDC79}" type="datetime1">
              <a:rPr lang="en-US" smtClean="0"/>
              <a:pPr/>
              <a:t>9/6/2018</a:t>
            </a:fld>
            <a:endParaRPr lang="en-US"/>
          </a:p>
        </p:txBody>
      </p:sp>
      <p:sp>
        <p:nvSpPr>
          <p:cNvPr id="4" name="Content Placeholder 3"/>
          <p:cNvSpPr>
            <a:spLocks noGrp="1"/>
          </p:cNvSpPr>
          <p:nvPr>
            <p:ph sz="quarter" idx="1"/>
          </p:nvPr>
        </p:nvSpPr>
        <p:spPr>
          <a:xfrm>
            <a:off x="228600" y="1600200"/>
            <a:ext cx="8686800" cy="5029200"/>
          </a:xfrm>
        </p:spPr>
        <p:txBody>
          <a:bodyPr>
            <a:normAutofit fontScale="85000" lnSpcReduction="10000"/>
          </a:bodyPr>
          <a:lstStyle/>
          <a:p>
            <a:pPr algn="just"/>
            <a:r>
              <a:rPr lang="en-IN" sz="3200" dirty="0" smtClean="0"/>
              <a:t>The </a:t>
            </a:r>
            <a:r>
              <a:rPr lang="en-IN" sz="3200" dirty="0"/>
              <a:t>main concern of research has been identification of abnormality, disorder and upcoming disease at primary stage. </a:t>
            </a:r>
            <a:endParaRPr lang="en-IN" sz="3200" dirty="0" smtClean="0"/>
          </a:p>
          <a:p>
            <a:pPr algn="just"/>
            <a:r>
              <a:rPr lang="en-IN" sz="3200" dirty="0" smtClean="0"/>
              <a:t>The </a:t>
            </a:r>
            <a:r>
              <a:rPr lang="en-IN" sz="3200" dirty="0"/>
              <a:t>experimental result demonstrated that while maintaining a high recognition accuracy rate, the proposed method could accurately recognize various activities in both input and output scenarios. </a:t>
            </a:r>
            <a:endParaRPr lang="en-IN" sz="3200" dirty="0" smtClean="0"/>
          </a:p>
          <a:p>
            <a:pPr algn="just"/>
            <a:r>
              <a:rPr lang="en-IN" sz="3200" dirty="0" smtClean="0"/>
              <a:t>The </a:t>
            </a:r>
            <a:r>
              <a:rPr lang="en-IN" sz="3200" dirty="0"/>
              <a:t>GAITs are classified into two different classes- Normal and Abnormal gait, effectively by the novel classification. </a:t>
            </a:r>
            <a:endParaRPr lang="en-IN" sz="3200" dirty="0" smtClean="0"/>
          </a:p>
          <a:p>
            <a:pPr algn="just"/>
            <a:r>
              <a:rPr lang="en-IN" sz="3200" dirty="0" smtClean="0"/>
              <a:t>ANN</a:t>
            </a:r>
            <a:r>
              <a:rPr lang="en-IN" sz="3200" dirty="0"/>
              <a:t>, K-mean and KNN algorithms were used to compare the result and it has been shown that our classification surpasses the subsisting classifiers.</a:t>
            </a:r>
            <a:endParaRPr lang="en-IN" sz="3200" dirty="0">
              <a:latin typeface="Times New Roman" panose="02020603050405020304" pitchFamily="18" charset="0"/>
            </a:endParaRPr>
          </a:p>
          <a:p>
            <a:pPr algn="just"/>
            <a:endParaRPr lang="en-IN" sz="3200" dirty="0" smtClean="0"/>
          </a:p>
          <a:p>
            <a:pPr lvl="0">
              <a:buNone/>
            </a:pPr>
            <a:endParaRPr lang="en-US" b="1" i="1" dirty="0" smtClean="0"/>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C</a:t>
            </a:r>
            <a:r>
              <a:rPr lang="en-US" dirty="0" err="1" smtClean="0">
                <a:solidFill>
                  <a:srgbClr val="FF0000"/>
                </a:solidFill>
              </a:rPr>
              <a:t>ntribution</a:t>
            </a:r>
            <a:r>
              <a:rPr lang="en-US" dirty="0" smtClean="0">
                <a:solidFill>
                  <a:srgbClr val="FF0000"/>
                </a:solidFill>
              </a:rPr>
              <a:t> to Research</a:t>
            </a:r>
            <a:endParaRPr lang="en-US" b="1" dirty="0" smtClean="0">
              <a:solidFill>
                <a:srgbClr val="FF0000"/>
              </a:solidFill>
            </a:endParaRPr>
          </a:p>
        </p:txBody>
      </p:sp>
      <p:sp>
        <p:nvSpPr>
          <p:cNvPr id="3" name="Date Placeholder 2"/>
          <p:cNvSpPr>
            <a:spLocks noGrp="1"/>
          </p:cNvSpPr>
          <p:nvPr>
            <p:ph type="dt" sz="half" idx="10"/>
          </p:nvPr>
        </p:nvSpPr>
        <p:spPr/>
        <p:txBody>
          <a:bodyPr/>
          <a:lstStyle/>
          <a:p>
            <a:fld id="{5A9B8384-26D2-44B7-B750-847CEE8EDC79}" type="datetime1">
              <a:rPr lang="en-US" smtClean="0"/>
              <a:pPr/>
              <a:t>9/6/2018</a:t>
            </a:fld>
            <a:endParaRPr lang="en-US"/>
          </a:p>
        </p:txBody>
      </p:sp>
      <p:sp>
        <p:nvSpPr>
          <p:cNvPr id="4" name="Content Placeholder 3"/>
          <p:cNvSpPr>
            <a:spLocks noGrp="1"/>
          </p:cNvSpPr>
          <p:nvPr>
            <p:ph sz="quarter" idx="1"/>
          </p:nvPr>
        </p:nvSpPr>
        <p:spPr>
          <a:xfrm>
            <a:off x="228600" y="1600200"/>
            <a:ext cx="8686800" cy="5029200"/>
          </a:xfrm>
        </p:spPr>
        <p:txBody>
          <a:bodyPr>
            <a:normAutofit/>
          </a:bodyPr>
          <a:lstStyle/>
          <a:p>
            <a:pPr algn="just"/>
            <a:r>
              <a:rPr lang="en-IN" sz="3200" dirty="0" smtClean="0"/>
              <a:t>We have taken the accuracy to </a:t>
            </a:r>
            <a:r>
              <a:rPr lang="en-IN" sz="3200" dirty="0" smtClean="0"/>
              <a:t>98.02% </a:t>
            </a:r>
            <a:r>
              <a:rPr lang="en-IN" sz="3200" dirty="0" smtClean="0"/>
              <a:t>which is </a:t>
            </a:r>
            <a:r>
              <a:rPr lang="en-IN" sz="3200" dirty="0" smtClean="0"/>
              <a:t>1.02% more times than Nielsen</a:t>
            </a:r>
            <a:r>
              <a:rPr lang="en-IN" sz="3200" dirty="0"/>
              <a:t>, Michael (</a:t>
            </a:r>
            <a:r>
              <a:rPr lang="en-IN" sz="3200" dirty="0" smtClean="0"/>
              <a:t>2016)</a:t>
            </a:r>
            <a:r>
              <a:rPr lang="en-IN" sz="3200" dirty="0"/>
              <a:t> </a:t>
            </a:r>
            <a:r>
              <a:rPr lang="en-IN" sz="3200" dirty="0" smtClean="0"/>
              <a:t>"</a:t>
            </a:r>
            <a:r>
              <a:rPr lang="en-IN" sz="3200" i="1" dirty="0"/>
              <a:t>International Conference on Computational Intelligence and Natural </a:t>
            </a:r>
            <a:r>
              <a:rPr lang="en-IN" sz="3200" i="1" dirty="0" smtClean="0"/>
              <a:t>Computing</a:t>
            </a:r>
            <a:r>
              <a:rPr lang="en-IN" sz="3200" dirty="0" smtClean="0"/>
              <a:t>“ got </a:t>
            </a:r>
            <a:r>
              <a:rPr lang="en-IN" sz="3200" dirty="0" smtClean="0"/>
              <a:t>97% </a:t>
            </a:r>
            <a:r>
              <a:rPr lang="en-IN" sz="3200" dirty="0" smtClean="0"/>
              <a:t>accurate results but our classification has better accuracy than this.</a:t>
            </a:r>
          </a:p>
          <a:p>
            <a:pPr algn="just"/>
            <a:endParaRPr lang="en-IN" sz="3200" dirty="0" smtClean="0"/>
          </a:p>
          <a:p>
            <a:pPr marL="0" indent="0" algn="just">
              <a:buNone/>
            </a:pPr>
            <a:endParaRPr lang="en-IN" sz="3200" dirty="0">
              <a:latin typeface="Times New Roman" panose="02020603050405020304" pitchFamily="18" charset="0"/>
            </a:endParaRPr>
          </a:p>
          <a:p>
            <a:pPr algn="just"/>
            <a:endParaRPr lang="en-IN" sz="3200" dirty="0">
              <a:latin typeface="Times New Roman" panose="02020603050405020304" pitchFamily="18" charset="0"/>
            </a:endParaRPr>
          </a:p>
          <a:p>
            <a:pPr algn="just"/>
            <a:endParaRPr lang="en-IN" sz="3200" dirty="0" smtClean="0"/>
          </a:p>
          <a:p>
            <a:pPr lvl="0">
              <a:buNone/>
            </a:pPr>
            <a:endParaRPr lang="en-US" b="1" i="1" dirty="0" smtClean="0"/>
          </a:p>
          <a:p>
            <a:endParaRPr lang="en-US" dirty="0"/>
          </a:p>
        </p:txBody>
      </p:sp>
    </p:spTree>
    <p:extLst>
      <p:ext uri="{BB962C8B-B14F-4D97-AF65-F5344CB8AC3E}">
        <p14:creationId xmlns:p14="http://schemas.microsoft.com/office/powerpoint/2010/main" val="359854930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5"/>
          <p:cNvSpPr>
            <a:spLocks noGrp="1"/>
          </p:cNvSpPr>
          <p:nvPr>
            <p:ph type="title"/>
          </p:nvPr>
        </p:nvSpPr>
        <p:spPr/>
        <p:txBody>
          <a:bodyPr/>
          <a:lstStyle/>
          <a:p>
            <a:pPr eaLnBrk="1" hangingPunct="1"/>
            <a:r>
              <a:rPr lang="en-US" dirty="0" smtClean="0"/>
              <a:t>Questions?</a:t>
            </a:r>
          </a:p>
        </p:txBody>
      </p:sp>
      <p:sp>
        <p:nvSpPr>
          <p:cNvPr id="38916" name="Date Placeholder 2"/>
          <p:cNvSpPr>
            <a:spLocks noGrp="1"/>
          </p:cNvSpPr>
          <p:nvPr>
            <p:ph type="dt" sz="quarter" idx="10"/>
          </p:nvPr>
        </p:nvSpPr>
        <p:spPr>
          <a:noFill/>
        </p:spPr>
        <p:txBody>
          <a:bodyPr/>
          <a:lstStyle/>
          <a:p>
            <a:fld id="{4747CB75-4723-4B89-9EB1-296DC2CF3B93}" type="datetime2">
              <a:rPr lang="en-US" smtClean="0">
                <a:latin typeface="Arial" pitchFamily="34" charset="0"/>
              </a:rPr>
              <a:pPr/>
              <a:t>Thursday, September 6, 2018</a:t>
            </a:fld>
            <a:endParaRPr lang="en-US" smtClean="0">
              <a:latin typeface="Arial" pitchFamily="34" charset="0"/>
            </a:endParaRPr>
          </a:p>
        </p:txBody>
      </p:sp>
      <p:sp>
        <p:nvSpPr>
          <p:cNvPr id="38918" name="Slide Number Placeholder 4"/>
          <p:cNvSpPr>
            <a:spLocks noGrp="1"/>
          </p:cNvSpPr>
          <p:nvPr>
            <p:ph type="sldNum" sz="quarter" idx="12"/>
          </p:nvPr>
        </p:nvSpPr>
        <p:spPr>
          <a:noFill/>
        </p:spPr>
        <p:txBody>
          <a:bodyPr>
            <a:normAutofit fontScale="85000" lnSpcReduction="20000"/>
          </a:bodyPr>
          <a:lstStyle/>
          <a:p>
            <a:fld id="{07127FB0-31A5-4EE0-8958-2D117937AE59}" type="slidenum">
              <a:rPr lang="en-US" smtClean="0">
                <a:latin typeface="Arial" pitchFamily="34" charset="0"/>
              </a:rPr>
              <a:pPr/>
              <a:t>33</a:t>
            </a:fld>
            <a:endParaRPr lang="en-US" smtClean="0">
              <a:latin typeface="Arial" pitchFamily="34" charset="0"/>
            </a:endParaRPr>
          </a:p>
        </p:txBody>
      </p:sp>
    </p:spTree>
    <p:extLst>
      <p:ext uri="{BB962C8B-B14F-4D97-AF65-F5344CB8AC3E}">
        <p14:creationId xmlns:p14="http://schemas.microsoft.com/office/powerpoint/2010/main" val="3459833795"/>
      </p:ext>
    </p:extLst>
  </p:cSld>
  <p:clrMapOvr>
    <a:masterClrMapping/>
  </p:clrMapOvr>
  <p:transition>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pPr eaLnBrk="1" hangingPunct="1"/>
            <a:r>
              <a:rPr lang="en-US" dirty="0" smtClean="0"/>
              <a:t>Thank you</a:t>
            </a:r>
          </a:p>
        </p:txBody>
      </p:sp>
      <p:sp>
        <p:nvSpPr>
          <p:cNvPr id="39939" name="Date Placeholder 3"/>
          <p:cNvSpPr>
            <a:spLocks noGrp="1"/>
          </p:cNvSpPr>
          <p:nvPr>
            <p:ph type="dt" sz="quarter" idx="10"/>
          </p:nvPr>
        </p:nvSpPr>
        <p:spPr>
          <a:noFill/>
        </p:spPr>
        <p:txBody>
          <a:bodyPr/>
          <a:lstStyle/>
          <a:p>
            <a:fld id="{7E7DB668-0CB4-461F-A1F8-383809641629}" type="datetime2">
              <a:rPr lang="en-US" smtClean="0">
                <a:latin typeface="Arial" pitchFamily="34" charset="0"/>
              </a:rPr>
              <a:pPr/>
              <a:t>Thursday, September 6, 2018</a:t>
            </a:fld>
            <a:endParaRPr lang="en-US" smtClean="0">
              <a:latin typeface="Arial" pitchFamily="34" charset="0"/>
            </a:endParaRPr>
          </a:p>
        </p:txBody>
      </p:sp>
      <p:sp>
        <p:nvSpPr>
          <p:cNvPr id="39941" name="Slide Number Placeholder 5"/>
          <p:cNvSpPr>
            <a:spLocks noGrp="1"/>
          </p:cNvSpPr>
          <p:nvPr>
            <p:ph type="sldNum" sz="quarter" idx="12"/>
          </p:nvPr>
        </p:nvSpPr>
        <p:spPr>
          <a:noFill/>
        </p:spPr>
        <p:txBody>
          <a:bodyPr>
            <a:normAutofit fontScale="85000" lnSpcReduction="20000"/>
          </a:bodyPr>
          <a:lstStyle/>
          <a:p>
            <a:fld id="{617ECBFD-2DD8-41CD-849B-EF98EB6A567C}" type="slidenum">
              <a:rPr lang="en-US" smtClean="0">
                <a:latin typeface="Arial" pitchFamily="34" charset="0"/>
              </a:rPr>
              <a:pPr/>
              <a:t>34</a:t>
            </a:fld>
            <a:endParaRPr lang="en-US" smtClean="0">
              <a:latin typeface="Arial" pitchFamily="34" charset="0"/>
            </a:endParaRPr>
          </a:p>
        </p:txBody>
      </p:sp>
      <p:sp>
        <p:nvSpPr>
          <p:cNvPr id="10" name="Rounded Rectangle 9"/>
          <p:cNvSpPr/>
          <p:nvPr/>
        </p:nvSpPr>
        <p:spPr>
          <a:xfrm>
            <a:off x="2971800" y="3124200"/>
            <a:ext cx="4038600" cy="144780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t>Have a great day ahead</a:t>
            </a:r>
            <a:endParaRPr lang="en-IN" sz="3600" dirty="0"/>
          </a:p>
        </p:txBody>
      </p:sp>
    </p:spTree>
  </p:cSld>
  <p:clrMapOvr>
    <a:masterClrMapping/>
  </p:clrMapOvr>
  <p:transition>
    <p:random/>
  </p:transition>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16513</TotalTime>
  <Words>1216</Words>
  <Application>Microsoft Office PowerPoint</Application>
  <PresentationFormat>On-screen Show (4:3)</PresentationFormat>
  <Paragraphs>248</Paragraphs>
  <Slides>34</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34</vt:i4>
      </vt:variant>
    </vt:vector>
  </HeadingPairs>
  <TitlesOfParts>
    <vt:vector size="47" baseType="lpstr">
      <vt:lpstr>MS Mincho</vt:lpstr>
      <vt:lpstr>Arial</vt:lpstr>
      <vt:lpstr>Bookman Old Style</vt:lpstr>
      <vt:lpstr>Calibri</vt:lpstr>
      <vt:lpstr>FreesiaUPC</vt:lpstr>
      <vt:lpstr>Helvetica</vt:lpstr>
      <vt:lpstr>Monotype Corsiva</vt:lpstr>
      <vt:lpstr>Times</vt:lpstr>
      <vt:lpstr>Times New Roman</vt:lpstr>
      <vt:lpstr>Tw Cen MT</vt:lpstr>
      <vt:lpstr>Wingdings</vt:lpstr>
      <vt:lpstr>Wingdings 2</vt:lpstr>
      <vt:lpstr>Median</vt:lpstr>
      <vt:lpstr>Tracing Gesture and Extracting Gait Features to Recognize Parkinson’s Disease Using Machine Learning Techniques</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Methodology</vt:lpstr>
      <vt:lpstr>PowerPoint Presentation</vt:lpstr>
      <vt:lpstr>Methodology</vt:lpstr>
      <vt:lpstr>Data Collection</vt:lpstr>
      <vt:lpstr>Feature Selection and Extraction</vt:lpstr>
      <vt:lpstr>Simulation of dataset in openSim</vt:lpstr>
      <vt:lpstr>Values of abnormal dataset</vt:lpstr>
      <vt:lpstr>Values of abnormal dataset</vt:lpstr>
      <vt:lpstr>Values of abnormal dataset</vt:lpstr>
      <vt:lpstr>Values of normal dataset</vt:lpstr>
      <vt:lpstr>Feature Selection</vt:lpstr>
      <vt:lpstr>Classification</vt:lpstr>
      <vt:lpstr>CLASSIFICATION  </vt:lpstr>
      <vt:lpstr>CLASSIFICATION TECHNIQUES USED   </vt:lpstr>
      <vt:lpstr>K-Means</vt:lpstr>
      <vt:lpstr>KNN</vt:lpstr>
      <vt:lpstr>KNN Result</vt:lpstr>
      <vt:lpstr>ANN Result</vt:lpstr>
      <vt:lpstr>Accuracy percentage of different GAIT data classification</vt:lpstr>
      <vt:lpstr>Comparison of success rate by different algorithms using 10–fold cross validation</vt:lpstr>
      <vt:lpstr>ROC CURVE</vt:lpstr>
      <vt:lpstr>Conclusion</vt:lpstr>
      <vt:lpstr>Cntribution to Research</vt:lpstr>
      <vt:lpstr>Questions?</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 of Omni directional ankle strategy for Humanoid Push Recovery based on interpolation</dc:title>
  <dc:creator>shruti</dc:creator>
  <cp:lastModifiedBy>Anubha Parashar [MU - Jaipur]</cp:lastModifiedBy>
  <cp:revision>1447</cp:revision>
  <dcterms:created xsi:type="dcterms:W3CDTF">2006-08-16T00:00:00Z</dcterms:created>
  <dcterms:modified xsi:type="dcterms:W3CDTF">2018-09-06T06:46:38Z</dcterms:modified>
</cp:coreProperties>
</file>