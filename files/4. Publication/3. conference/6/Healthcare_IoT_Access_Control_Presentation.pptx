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built from uploaded certificate image and paper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certificate_bg_light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12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B24"/>
                </a:solidFill>
              </a:rPr>
              <a:t>Certificate Presentation Deck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960120"/>
            <a:ext cx="56692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Multi-Factor Access Control &amp; Ownership Transfer Framework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12648" y="2542032"/>
            <a:ext cx="4754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Generation Healthcare Systems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12648" y="3291840"/>
            <a:ext cx="5257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 Dr. Anubha Parashar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 International Conference on Opportunities and Challenges in Business Management (OCBM 2020)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Manipal Academy of Higher Education, Dubai • 25–26 February 2020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519672" y="640080"/>
            <a:ext cx="5111496" cy="3739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mnt/data/ppt_assets/certificate_enhanc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764452"/>
            <a:ext cx="5074920" cy="34911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648" y="5074920"/>
            <a:ext cx="1417320" cy="329184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F766E">
                <a:alpha val="8500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IoT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194560" y="5074920"/>
            <a:ext cx="1554480" cy="329184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7490">
                <a:alpha val="8500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Computing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931920" y="5074920"/>
            <a:ext cx="1508760" cy="329184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B23B24">
                <a:alpha val="8500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B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B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SNAPSHOT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OCBM 2020 • Healthcare IoT Security • Access Control + Ownership Transfer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53949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Securing connected healthcare where devices, users, and data constantly move.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5166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proposes a lightweight, multi-factor framework for IoMT environments that combines access control, authentication, key exchange, and ownership transfer.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94360" y="4206240"/>
            <a:ext cx="1600200" cy="347472"/>
          </a:xfrm>
          <a:prstGeom prst="rect">
            <a:avLst/>
          </a:prstGeom>
          <a:solidFill>
            <a:srgbClr val="B23B24"/>
          </a:solidFill>
          <a:ln>
            <a:solidFill>
              <a:srgbClr val="B23B2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contribution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4617720"/>
            <a:ext cx="5212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protocol that lets authorized healthcare users transfer/revoke access rights while preserving patient privacy and system resilience.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1417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system entities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Patient • Professional • EHS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75320" y="1417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23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75320" y="1828800"/>
            <a:ext cx="1417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protocol phases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 • S • AKE • OTP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149840" y="1417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149840" y="1828800"/>
            <a:ext cx="1417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attack classes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formally/informally assessed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53912" y="2724912"/>
            <a:ext cx="538581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0" descr="/mnt/data/ppt_assets/proposed_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807" y="2743200"/>
            <a:ext cx="4870027" cy="3108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B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healthcare IoT needs stronger access control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OCBM 2020 • Healthcare IoT Security • Access Control + Ownership Transfer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76072" y="1335024"/>
            <a:ext cx="5431536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mnt/data/ppt_assets/iomt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787" y="1353312"/>
            <a:ext cx="5348106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1307592"/>
            <a:ext cx="50292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IoMT creates value—but also expands the attack surface.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46520" y="2423160"/>
            <a:ext cx="466344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sensors continuously send biomedical signals through wireless gateways.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computing reduces latency and supports real-time clinical decisions.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Cloud/EHS storage centralizes data but increases privacy and authorization risk.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users need controlled, auditable, and revocable access rights.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46520" y="5166360"/>
            <a:ext cx="4663440" cy="402336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goal: secure access without overloading resource-constrained sensors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B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GAP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 model and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OCBM 2020 • Healthcare IoT Security • Access Control + Ownership Transfer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60350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model targets failures common in wireless, cloud-connected care.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148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Wireless exposure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593592"/>
            <a:ext cx="214884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biomedical packets travel across vulnerable channels and gateways.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74720" y="2606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3B24"/>
                </a:solidFill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3154680"/>
            <a:ext cx="2148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23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Credential theft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74720" y="3593592"/>
            <a:ext cx="214884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RFID/smart card data and password guesses are realistic attacker paths.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3640" y="2606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3154680"/>
            <a:ext cx="2148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manipulation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3593592"/>
            <a:ext cx="214884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Captured traffic can be edited, deleted, replayed, or used for traceability.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052560" y="2606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52560" y="3154680"/>
            <a:ext cx="2148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Emergency access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52560" y="3593592"/>
            <a:ext cx="214884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Break-glass access must work quickly without permanently weakening policy.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2423160"/>
            <a:ext cx="99212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143000" y="5532120"/>
            <a:ext cx="9875520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Motivation: combine authentication + access rights + ownership transfer in one lightweight protocol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B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VIEW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OCBM 2020 • Healthcare IoT Security • Access Control + Ownership Transfer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077456" cy="46085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mnt/data/ppt_assets/proposed_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37046"/>
            <a:ext cx="7040880" cy="44948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2440" y="1353312"/>
            <a:ext cx="3566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entities coordinate access securely.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138160" y="2423160"/>
            <a:ext cx="3337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entity (Pi)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38160" y="2862072"/>
            <a:ext cx="3337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sensor nodes attached to the patient capture physiological data.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138160" y="3493008"/>
            <a:ext cx="3337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23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Healthcare professional (Hi)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138160" y="3931920"/>
            <a:ext cx="33375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Doctors, nurses, lab technicians, chemists, and staff registered through smart radio cards.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38160" y="4663440"/>
            <a:ext cx="3337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Electronic health server (Si)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138160" y="5102352"/>
            <a:ext cx="33375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EHS, gateways, and cloud infrastructure enforce policy, keying, and data availability.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B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PHASES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Protocol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OCBM 2020 • Healthcare IoT Security • Access Control + Ownership Transfer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5943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is granted through a staged, policy-aware flow.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232" y="2103120"/>
            <a:ext cx="384048" cy="38404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70432" y="2295144"/>
            <a:ext cx="226771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13232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Enrollment (E)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3232" y="3273552"/>
            <a:ext cx="25146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User ID + credentials + biometric data are bound to the smart card and EHS registration.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3575304" y="2103120"/>
            <a:ext cx="384048" cy="38404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32504" y="2295144"/>
            <a:ext cx="226771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575304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Sign-In (S)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75304" y="3273552"/>
            <a:ext cx="25146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The user inserts the card, enters credentials, and supplies biometrics for matching.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6437376" y="2103120"/>
            <a:ext cx="384048" cy="38404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94576" y="2295144"/>
            <a:ext cx="226771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437376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Authentication &amp; Key Exchange (AKE)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37376" y="3273552"/>
            <a:ext cx="25146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Timestamps and computed messages verify legitimacy; a shared secret/session key is established.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9299448" y="2103120"/>
            <a:ext cx="384048" cy="384048"/>
          </a:xfrm>
          <a:prstGeom prst="rect">
            <a:avLst/>
          </a:prstGeom>
          <a:solidFill>
            <a:srgbClr val="B23B24"/>
          </a:solidFill>
          <a:ln>
            <a:solidFill>
              <a:srgbClr val="B23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99448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23B24"/>
                </a:solidFill>
              </a:rPr>
              <a:t>Ownership Transfer (OTP)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299448" y="3273552"/>
            <a:ext cx="25146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Access rights move to a new legitimate user; old access is revoked but can be restored later.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70432" y="5577840"/>
            <a:ext cx="9875520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only verified users reach allocated EHS data segments, and rights can change safely over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B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FEATURE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Ownership transfer and break-glass access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OCBM 2020 • Healthcare IoT Security • Access Control + Ownership Transfer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316736"/>
            <a:ext cx="5440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framework supports real-world clinical handoffs.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12648" y="2331720"/>
            <a:ext cx="5029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healthcare, access is not static. Doctors change, emergencies occur, and patient data must remain protected during every transition.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85800" y="3886200"/>
            <a:ext cx="1234440" cy="34747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route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343400"/>
            <a:ext cx="46634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Registered professional authenticates with card + password + biometric match before accessing allocated data.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685800" y="5257800"/>
            <a:ext cx="1444752" cy="347472"/>
          </a:xfrm>
          <a:prstGeom prst="rect">
            <a:avLst/>
          </a:prstGeom>
          <a:solidFill>
            <a:srgbClr val="B23B24"/>
          </a:solidFill>
          <a:ln>
            <a:solidFill>
              <a:srgbClr val="B23B2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route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696712"/>
            <a:ext cx="4663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Break-glass access bypasses regular phases only for immediate response scenarios, preserving auditability.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1005840" cy="6858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H₁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75320" y="1993392"/>
            <a:ext cx="1097280" cy="71323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EHS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241280" y="2011680"/>
            <a:ext cx="1005840" cy="685800"/>
          </a:xfrm>
          <a:prstGeom prst="rect">
            <a:avLst/>
          </a:prstGeom>
          <a:solidFill>
            <a:srgbClr val="B23B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H₂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7424928" y="2359152"/>
            <a:ext cx="749808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00032" y="2359152"/>
            <a:ext cx="749808" cy="0"/>
          </a:xfrm>
          <a:prstGeom prst="line">
            <a:avLst/>
          </a:prstGeom>
          <a:noFill/>
          <a:ln w="27940">
            <a:solidFill>
              <a:srgbClr val="B23B2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400800" y="3337560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23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OTP transfer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3776472"/>
            <a:ext cx="4754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supplies credentials and biometrics. EHS validates the new owner and sends H₁ deregistration notification.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0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Revocation support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0" y="5102352"/>
            <a:ext cx="4754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previous user’s details remain stored for future revocation/restoration without exposing current owner privacy.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B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• SECURITY • PRIVACY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 translated into design choices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OCBM 2020 • Healthcare IoT Security • Access Control + Ownership Transfer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6858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protocol is evaluated through three requirement families.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Functional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816352"/>
            <a:ext cx="2788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11827"/>
                </a:solidFill>
              </a:rPr>
              <a:t>Access control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85800" y="3438144"/>
            <a:ext cx="2788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</a:rPr>
              <a:t>Energy optimization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85800" y="4059936"/>
            <a:ext cx="2788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</a:rPr>
              <a:t>Break-glass access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685800" y="4681728"/>
            <a:ext cx="2788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</a:rPr>
              <a:t>Ownership transfer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425196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B24"/>
                </a:solidFill>
              </a:rPr>
              <a:t>Security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51960" y="2816352"/>
            <a:ext cx="2788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11827"/>
                </a:solidFill>
              </a:rPr>
              <a:t>Policy-based authentication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4251960" y="3438144"/>
            <a:ext cx="2788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</a:rPr>
              <a:t>Data confidentiality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4251960" y="4059936"/>
            <a:ext cx="2788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</a:rPr>
              <a:t>Information integrity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4251960" y="4681728"/>
            <a:ext cx="2788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</a:rPr>
              <a:t>Data availability</a:t>
            </a:r>
            <a:endParaRPr lang="en-US" sz="1480" dirty="0"/>
          </a:p>
        </p:txBody>
      </p:sp>
      <p:sp>
        <p:nvSpPr>
          <p:cNvPr id="17" name="Text 15"/>
          <p:cNvSpPr/>
          <p:nvPr/>
        </p:nvSpPr>
        <p:spPr>
          <a:xfrm>
            <a:off x="781812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</a:rPr>
              <a:t>Privacy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18120" y="2816352"/>
            <a:ext cx="2788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11827"/>
                </a:solidFill>
              </a:rPr>
              <a:t>Entity privacy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7818120" y="3438144"/>
            <a:ext cx="2788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</a:rPr>
              <a:t>User non-traceability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7818120" y="4059936"/>
            <a:ext cx="2788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</a:rPr>
              <a:t>Old owner privacy</a:t>
            </a:r>
            <a:endParaRPr lang="en-US" sz="1480" dirty="0"/>
          </a:p>
        </p:txBody>
      </p:sp>
      <p:sp>
        <p:nvSpPr>
          <p:cNvPr id="21" name="Text 19"/>
          <p:cNvSpPr/>
          <p:nvPr/>
        </p:nvSpPr>
        <p:spPr>
          <a:xfrm>
            <a:off x="7818120" y="4681728"/>
            <a:ext cx="278892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827"/>
                </a:solidFill>
              </a:rPr>
              <a:t>New owner privacy</a:t>
            </a:r>
            <a:endParaRPr lang="en-US" sz="1480" dirty="0"/>
          </a:p>
        </p:txBody>
      </p:sp>
      <p:sp>
        <p:nvSpPr>
          <p:cNvPr id="22" name="Text 20"/>
          <p:cNvSpPr/>
          <p:nvPr/>
        </p:nvSpPr>
        <p:spPr>
          <a:xfrm>
            <a:off x="1005840" y="5715000"/>
            <a:ext cx="10149840" cy="43891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minimize sensor burden while preserving data ownership, access traceability, and patient confidentiality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B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analysis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OCBM 2020 • Healthcare IoT Security • Access Control + Ownership Transfer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6629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framework is designed to resist common IoT attack paths.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232" y="2423160"/>
            <a:ext cx="384048" cy="384048"/>
          </a:xfrm>
          <a:prstGeom prst="rect">
            <a:avLst/>
          </a:prstGeom>
          <a:solidFill>
            <a:srgbClr val="158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377440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Stolen card attack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2816352"/>
            <a:ext cx="4663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card alone is insufficient without user ID, password, and biometrics.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423160"/>
            <a:ext cx="384048" cy="384048"/>
          </a:xfrm>
          <a:prstGeom prst="rect">
            <a:avLst/>
          </a:prstGeom>
          <a:solidFill>
            <a:srgbClr val="158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76288" y="2377440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 password guessing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76288" y="2816352"/>
            <a:ext cx="4663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parameters are additionally protected by biometric details.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" y="4434840"/>
            <a:ext cx="384048" cy="384048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389120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Insider attack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4828032"/>
            <a:ext cx="4663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Policy-based server checks and cryptographic validation reduce unauthorized access.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09360" y="4434840"/>
            <a:ext cx="384048" cy="384048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76288" y="4389120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DDoS + traceability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76288" y="4828032"/>
            <a:ext cx="4663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Formal/informal analysis targets availability and user non-traceability.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5840" y="5989320"/>
            <a:ext cx="10149840" cy="393192"/>
          </a:xfrm>
          <a:prstGeom prst="rect">
            <a:avLst/>
          </a:prstGeom>
          <a:solidFill>
            <a:srgbClr val="B23B24"/>
          </a:solidFill>
          <a:ln>
            <a:solidFill>
              <a:srgbClr val="B23B2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message: multi-factor credentials + timestamp checks + hash-based protection strengthen access control in IoMT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certificate_bg_light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5486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certified at OCBM 2020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1371600"/>
            <a:ext cx="53492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 International Conference on “Opportunities and Challenges in Business Management”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Manipal Academy of Higher Education, Dubai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58368" y="2313432"/>
            <a:ext cx="5340096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/mnt/data/ppt_assets/certificate_enhanc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08" y="2331720"/>
            <a:ext cx="5250415" cy="3611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0840" y="1325880"/>
            <a:ext cx="3291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B23B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</a:t>
            </a:r>
            <a:endParaRPr lang="en-US" sz="2500" dirty="0"/>
          </a:p>
        </p:txBody>
      </p:sp>
      <p:sp>
        <p:nvSpPr>
          <p:cNvPr id="8" name="Text 4"/>
          <p:cNvSpPr/>
          <p:nvPr/>
        </p:nvSpPr>
        <p:spPr>
          <a:xfrm>
            <a:off x="6720840" y="2057400"/>
            <a:ext cx="443484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healthcare requires stronger identity and access governance.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Edge-enabled IoMT systems must balance latency, privacy, and energy limits.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transfer is a critical feature for clinical continuity.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Multi-factor authentication improves resilience against practical threats.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720840" y="4983480"/>
            <a:ext cx="18288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Multi-Factor Access Control and Ownership Transfer Framework for Future Generation Healthcare Systems</dc:title>
  <dc:subject>Multi-Factor Access Control and Ownership Transfer Framework for Healthcare Systems</dc:subject>
  <dc:creator>OpenAI</dc:creator>
  <cp:lastModifiedBy>OpenAI</cp:lastModifiedBy>
  <cp:revision>1</cp:revision>
  <dcterms:created xsi:type="dcterms:W3CDTF">2026-05-14T15:15:14Z</dcterms:created>
  <dcterms:modified xsi:type="dcterms:W3CDTF">2026-05-14T15:15:14Z</dcterms:modified>
</cp:coreProperties>
</file>